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88825" cy="6858000"/>
  <p:notesSz cx="6858000" cy="1218882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5" d="100"/>
          <a:sy n="75" d="100"/>
        </p:scale>
        <p:origin x="303" y="2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Correlation (r)</c:v>
                </c:pt>
              </c:strCache>
            </c:strRef>
          </c:tx>
          <c:spPr>
            <a:solidFill>
              <a:srgbClr val="2C5F2D"/>
            </a:solidFill>
            <a:effectLst/>
          </c:spPr>
          <c:invertIfNegative val="0"/>
          <c:dLbls>
            <c:numFmt formatCode="0.00" sourceLinked="0"/>
            <c:spPr>
              <a:noFill/>
              <a:ln>
                <a:noFill/>
              </a:ln>
              <a:effectLst/>
            </c:spPr>
            <c:txPr>
              <a:bodyPr/>
              <a:lstStyle/>
              <a:p>
                <a:pPr>
                  <a:defRPr sz="1100" b="0" i="0" u="none" strike="noStrike">
                    <a:solidFill>
                      <a:srgbClr val="2E2E2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Median income ↔ Median home value</c:v>
                </c:pt>
                <c:pt idx="1">
                  <c:v>Poverty % ↔ SNAP households %</c:v>
                </c:pt>
                <c:pt idx="2">
                  <c:v>Bachelor's+ % ↔ Median home value</c:v>
                </c:pt>
                <c:pt idx="3">
                  <c:v>Foreign-born % ↔ Hispanic/Latino %</c:v>
                </c:pt>
                <c:pt idx="4">
                  <c:v>Bachelor's+ % ↔ Median income</c:v>
                </c:pt>
                <c:pt idx="5">
                  <c:v>No-vehicle % ↔ SNAP households %</c:v>
                </c:pt>
                <c:pt idx="6">
                  <c:v>Median income ↔ Median gross rent</c:v>
                </c:pt>
                <c:pt idx="7">
                  <c:v>Poverty % ↔ No-vehicle households %</c:v>
                </c:pt>
              </c:strCache>
            </c:strRef>
          </c:cat>
          <c:val>
            <c:numRef>
              <c:f>Sheet1!$B$2:$B$9</c:f>
              <c:numCache>
                <c:formatCode>General</c:formatCode>
                <c:ptCount val="8"/>
                <c:pt idx="0">
                  <c:v>0.88</c:v>
                </c:pt>
                <c:pt idx="1">
                  <c:v>0.86</c:v>
                </c:pt>
                <c:pt idx="2">
                  <c:v>0.85</c:v>
                </c:pt>
                <c:pt idx="3">
                  <c:v>0.81</c:v>
                </c:pt>
                <c:pt idx="4">
                  <c:v>0.78</c:v>
                </c:pt>
                <c:pt idx="5">
                  <c:v>0.78</c:v>
                </c:pt>
                <c:pt idx="6">
                  <c:v>0.76</c:v>
                </c:pt>
                <c:pt idx="7">
                  <c:v>0.75</c:v>
                </c:pt>
              </c:numCache>
            </c:numRef>
          </c:val>
          <c:extLst>
            <c:ext xmlns:c16="http://schemas.microsoft.com/office/drawing/2014/chart" uri="{C3380CC4-5D6E-409C-BE32-E72D297353CC}">
              <c16:uniqueId val="{00000000-CC62-4EE3-A7DF-082B667C3AC4}"/>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2E2E2E"/>
                </a:solidFill>
                <a:latin typeface="Calibri"/>
              </a:defRPr>
            </a:pPr>
            <a:endParaRPr lang="en-US"/>
          </a:p>
        </c:txPr>
        <c:crossAx val="2094734552"/>
        <c:crosses val="autoZero"/>
        <c:auto val="1"/>
        <c:lblAlgn val="ctr"/>
        <c:lblOffset val="100"/>
        <c:noMultiLvlLbl val="1"/>
      </c:catAx>
      <c:valAx>
        <c:axId val="2094734552"/>
        <c:scaling>
          <c:orientation val="minMax"/>
          <c:max val="1"/>
          <c:min val="0"/>
        </c:scaling>
        <c:delete val="0"/>
        <c:axPos val="t"/>
        <c:majorGridlines>
          <c:spPr>
            <a:ln w="6350" cap="flat">
              <a:solidFill>
                <a:srgbClr val="E5E5E5"/>
              </a:solidFill>
              <a:prstDash val="solid"/>
              <a:round/>
            </a:ln>
          </c:spPr>
        </c:majorGridlines>
        <c:title>
          <c:tx>
            <c:rich>
              <a:bodyPr/>
              <a:lstStyle/>
              <a:p>
                <a:pPr>
                  <a:defRPr sz="1100" b="0" i="0" u="none" strike="noStrike">
                    <a:solidFill>
                      <a:srgbClr val="6B6B6B"/>
                    </a:solidFill>
                    <a:latin typeface="Arial"/>
                  </a:defRPr>
                </a:pPr>
                <a:r>
                  <a:rPr lang="en-US" sz="1100" b="0" i="0" u="none" strike="noStrike">
                    <a:solidFill>
                      <a:srgbClr val="6B6B6B"/>
                    </a:solidFill>
                    <a:latin typeface="Arial"/>
                  </a:rPr>
                  <a:t>Correlation coefficient</a:t>
                </a:r>
              </a:p>
            </c:rich>
          </c:tx>
          <c:overlay val="0"/>
        </c:title>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B6B6B"/>
                </a:solidFill>
                <a:latin typeface="Arial"/>
              </a:defRPr>
            </a:pPr>
            <a:endParaRPr lang="en-US"/>
          </a:p>
        </c:txPr>
        <c:crossAx val="2094734554"/>
        <c:crosses val="autoZero"/>
        <c:crossBetween val="between"/>
        <c:majorUnit val="0.2"/>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906426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This is my weekly progress update on the Urban Food Production Decision Dashboard. This week I collected Census ACS data for the 516 KC metro tracts, merged it with the health data, and did first exploratory analysis.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week I filtered the data to the KC metro and confirmed the three health variables. The commitment for this week was to find, collect, and add the ACS variables to the health dataset. Those three are done. I also cleaned the data and did first exploratory and correlation analysis. What's still in progress is confirming the final variable set — what I have now is a candidate set.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reminder of the study area: 14 counties, 516 census tracts. Health data come from CDC PLACES, three indicators, all fully populated for the 516 tracts. I want to be careful about what these mean: they are preliminary indicators of community health need, not direct measures of food insecurity. The averages shown are simple tract averages, not population-weighted. I don't have a map yet because I haven't obtained the tract boundary files; that's in next week's plan.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covers the ACS side. I identified 13 candidate variables across economic need, transportation and housing, population, and education. This is a candidate set — I haven't confirmed the final selection. The important finding was a geography issue: with the 2023 ACS five-year data only 430 of my 516 tract IDs matched. The likely cause is tract boundary vintage, because tracts were redrawn after the 2020 Census. The 2019 five-year data matched all 516, so I used it for the working dataset. The trade-off is that ACS 2015–2019 and the PLACES release don't cover exactly the same period, and I'll document that as a limitation.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integration workflow. I combined the PLACES health data with the 2019 ACS candidate data, cleaned them, and merged on census tract ID. Cleaning meant converting the Census negative sentinel values in median income, rent, and home value to missing rather than treating them as real numbers, and standardizing the tract ID. Validation: 516 records, 516 unique tracts, 516 matches, zero unmatched — a clean one-to-one merge. On missing values: one tract has zero denominators so its percentages stay missing; median rent is missing for 17 tracts and home value for 4. I haven't imputed or dropped anything yet, because that depends on which variables end up in the final model.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histograms show how each health indicator is distributed across the 516 tracts. Obesity is mostly in the mid-30s to about 40 percent. Diabetes is lower overall and right-skewed — most tracts are under about 15 percent and a few are much higher. High blood pressure clusters around 30 to 37 percent with a modest tail. These are descriptive views across tracts, not population-weighted averages, and I haven't mapped them yet.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socioeconomic indicators share a similar shape: right-skewed. Many tracts have low percentages and a smaller number have much higher values — up to roughly 63 percent for poverty and 64 percent for SNAP. Means are 12.7 percent for poverty, 7.2 percent for no-vehicle households, and 9.6 percent for SNAP. One tract has no value because of zero denominators. Again, descriptive across tracts, not geographic patterns yet.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computed correlations among the 13 candidate ACS variables to see which ones overlap. The strongest are median income with home value at 0.88, poverty with SNAP at 0.86, bachelor's degree with home value at 0.85, and foreign-born with Hispanic or Latino at 0.81. Poverty and no-vehicle households are at 0.75. The point is variable selection: if two measures move together, using both could double-count the same pattern in a weighted model. But high correlation doesn't automatically mean I drop one — I'll review each. Poverty, no-vehicle households, SNAP, and the three health indicators are the key candidates I want to look at next. Final criteria and weights are not decided. The population-group variables are context variables; I'm not treating demographic identity as inherently indicating disadvantage.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week: finalize the variable set, get tract boundary files and make a first map, and start identifying food-access and parcel or land-use data. Still ahead after that: AHP weighting, MCDA suitability scoring, and the dashboard. None of those have been started and I'm not presenting them as done.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go here if asked how I got the numbers. Walk through: pull ACS tract data for the 14 counties, convert sentinel values to missing, compute percentages from counts and denominators, standardize the tract ID, then merge one-to-one with the health file and validate.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2286000"/>
            <a:ext cx="10725912" cy="822960"/>
          </a:xfrm>
          <a:prstGeom prst="rect">
            <a:avLst/>
          </a:prstGeom>
          <a:noFill/>
          <a:ln/>
        </p:spPr>
        <p:txBody>
          <a:bodyPr wrap="square" rtlCol="0" anchor="ctr"/>
          <a:lstStyle/>
          <a:p>
            <a:pPr marL="0" indent="0" algn="ctr">
              <a:buNone/>
            </a:pPr>
            <a:r>
              <a:rPr lang="en-US" sz="3400" b="1" dirty="0">
                <a:solidFill>
                  <a:srgbClr val="2E2E2E"/>
                </a:solidFill>
                <a:latin typeface="Cambria" pitchFamily="34" charset="0"/>
                <a:ea typeface="Cambria" pitchFamily="34" charset="-122"/>
                <a:cs typeface="Cambria" pitchFamily="34" charset="-120"/>
              </a:rPr>
              <a:t>Decision Dashboard for Urban Food Production</a:t>
            </a:r>
            <a:endParaRPr lang="en-US" sz="3400" dirty="0"/>
          </a:p>
        </p:txBody>
      </p:sp>
      <p:sp>
        <p:nvSpPr>
          <p:cNvPr id="3" name="Text 1"/>
          <p:cNvSpPr/>
          <p:nvPr/>
        </p:nvSpPr>
        <p:spPr>
          <a:xfrm>
            <a:off x="731520" y="3017520"/>
            <a:ext cx="10725912" cy="640080"/>
          </a:xfrm>
          <a:prstGeom prst="rect">
            <a:avLst/>
          </a:prstGeom>
          <a:noFill/>
          <a:ln/>
        </p:spPr>
        <p:txBody>
          <a:bodyPr wrap="square" rtlCol="0" anchor="ctr"/>
          <a:lstStyle/>
          <a:p>
            <a:pPr marL="0" indent="0" algn="ctr">
              <a:buNone/>
            </a:pPr>
            <a:r>
              <a:rPr lang="en-US" sz="2800" b="1" dirty="0">
                <a:solidFill>
                  <a:srgbClr val="2E2E2E"/>
                </a:solidFill>
                <a:latin typeface="Cambria" pitchFamily="34" charset="0"/>
                <a:ea typeface="Cambria" pitchFamily="34" charset="-122"/>
                <a:cs typeface="Cambria" pitchFamily="34" charset="-120"/>
              </a:rPr>
              <a:t>Weekly Progress Update</a:t>
            </a:r>
            <a:endParaRPr lang="en-US" sz="2800" dirty="0"/>
          </a:p>
        </p:txBody>
      </p:sp>
      <p:sp>
        <p:nvSpPr>
          <p:cNvPr id="4" name="Text 2"/>
          <p:cNvSpPr/>
          <p:nvPr/>
        </p:nvSpPr>
        <p:spPr>
          <a:xfrm>
            <a:off x="731520" y="3840480"/>
            <a:ext cx="10725912" cy="365760"/>
          </a:xfrm>
          <a:prstGeom prst="rect">
            <a:avLst/>
          </a:prstGeom>
          <a:noFill/>
          <a:ln/>
        </p:spPr>
        <p:txBody>
          <a:bodyPr wrap="square" rtlCol="0" anchor="ctr"/>
          <a:lstStyle/>
          <a:p>
            <a:pPr marL="0" indent="0" algn="ctr">
              <a:buNone/>
            </a:pPr>
            <a:r>
              <a:rPr lang="en-US" sz="1600" dirty="0">
                <a:solidFill>
                  <a:srgbClr val="2E2E2E"/>
                </a:solidFill>
                <a:latin typeface="Calibri" pitchFamily="34" charset="0"/>
                <a:ea typeface="Calibri" pitchFamily="34" charset="-122"/>
                <a:cs typeface="Calibri" pitchFamily="34" charset="-120"/>
              </a:rPr>
              <a:t>Chiranjeevi Venkata Shiva Ruthvik Savaram, Y247K345, 10/7/2026</a:t>
            </a:r>
            <a:endParaRPr lang="en-US" sz="1600" dirty="0"/>
          </a:p>
        </p:txBody>
      </p:sp>
      <p:sp>
        <p:nvSpPr>
          <p:cNvPr id="5" name="Text 3"/>
          <p:cNvSpPr/>
          <p:nvPr/>
        </p:nvSpPr>
        <p:spPr>
          <a:xfrm>
            <a:off x="731520" y="4251960"/>
            <a:ext cx="10725912" cy="365760"/>
          </a:xfrm>
          <a:prstGeom prst="rect">
            <a:avLst/>
          </a:prstGeom>
          <a:noFill/>
          <a:ln/>
        </p:spPr>
        <p:txBody>
          <a:bodyPr wrap="square" rtlCol="0" anchor="ctr"/>
          <a:lstStyle/>
          <a:p>
            <a:pPr marL="0" indent="0" algn="ctr">
              <a:buNone/>
            </a:pPr>
            <a:r>
              <a:rPr lang="en-US" sz="1400" dirty="0">
                <a:solidFill>
                  <a:srgbClr val="6B6B6B"/>
                </a:solidFill>
                <a:latin typeface="Calibri" pitchFamily="34" charset="0"/>
                <a:ea typeface="Calibri" pitchFamily="34" charset="-122"/>
                <a:cs typeface="Calibri" pitchFamily="34" charset="-120"/>
              </a:rPr>
              <a:t>Wichita State University — MS in Data Science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5486400" cy="640080"/>
          </a:xfrm>
          <a:prstGeom prst="rect">
            <a:avLst/>
          </a:prstGeom>
          <a:noFill/>
          <a:ln/>
        </p:spPr>
        <p:txBody>
          <a:bodyPr wrap="square" rtlCol="0" anchor="ctr"/>
          <a:lstStyle/>
          <a:p>
            <a:pPr marL="0" indent="0">
              <a:buNone/>
            </a:pPr>
            <a:r>
              <a:rPr lang="en-US" sz="3000" dirty="0">
                <a:solidFill>
                  <a:srgbClr val="2E2E2E"/>
                </a:solidFill>
                <a:latin typeface="Cambria" pitchFamily="34" charset="0"/>
                <a:ea typeface="Cambria" pitchFamily="34" charset="-122"/>
                <a:cs typeface="Cambria" pitchFamily="34" charset="-120"/>
              </a:rPr>
              <a:t>Tasks</a:t>
            </a:r>
            <a:endParaRPr lang="en-US" sz="3000" dirty="0"/>
          </a:p>
        </p:txBody>
      </p:sp>
      <p:sp>
        <p:nvSpPr>
          <p:cNvPr id="3" name="Text 1"/>
          <p:cNvSpPr/>
          <p:nvPr/>
        </p:nvSpPr>
        <p:spPr>
          <a:xfrm>
            <a:off x="457200" y="1143000"/>
            <a:ext cx="5303520" cy="365760"/>
          </a:xfrm>
          <a:prstGeom prst="rect">
            <a:avLst/>
          </a:prstGeom>
          <a:noFill/>
          <a:ln/>
        </p:spPr>
        <p:txBody>
          <a:bodyPr wrap="square" rtlCol="0" anchor="ctr"/>
          <a:lstStyle/>
          <a:p>
            <a:pPr marL="0" indent="0">
              <a:buNone/>
            </a:pPr>
            <a:r>
              <a:rPr lang="en-US" sz="1800" dirty="0">
                <a:solidFill>
                  <a:srgbClr val="2E2E2E"/>
                </a:solidFill>
                <a:latin typeface="Calibri" pitchFamily="34" charset="0"/>
                <a:ea typeface="Calibri" pitchFamily="34" charset="-122"/>
                <a:cs typeface="Calibri" pitchFamily="34" charset="-120"/>
              </a:rPr>
              <a:t>Previous Week</a:t>
            </a:r>
            <a:endParaRPr lang="en-US" sz="1800" dirty="0"/>
          </a:p>
        </p:txBody>
      </p:sp>
      <p:sp>
        <p:nvSpPr>
          <p:cNvPr id="4" name="Text 2"/>
          <p:cNvSpPr/>
          <p:nvPr/>
        </p:nvSpPr>
        <p:spPr>
          <a:xfrm>
            <a:off x="502920" y="1600200"/>
            <a:ext cx="5212080" cy="4114800"/>
          </a:xfrm>
          <a:prstGeom prst="rect">
            <a:avLst/>
          </a:prstGeom>
          <a:noFill/>
          <a:ln/>
        </p:spPr>
        <p:txBody>
          <a:bodyPr wrap="square" rtlCol="0" anchor="t"/>
          <a:lstStyle/>
          <a:p>
            <a:pPr marL="342900" indent="-342900">
              <a:spcAft>
                <a:spcPts val="1400"/>
              </a:spcAft>
              <a:buSzPct val="100000"/>
              <a:buChar char="•"/>
            </a:pPr>
            <a:r>
              <a:rPr lang="en-US" sz="1400" dirty="0">
                <a:solidFill>
                  <a:srgbClr val="2E2E2E"/>
                </a:solidFill>
                <a:latin typeface="Calibri" pitchFamily="34" charset="0"/>
                <a:ea typeface="Calibri" pitchFamily="34" charset="-122"/>
                <a:cs typeface="Calibri" pitchFamily="34" charset="-120"/>
              </a:rPr>
              <a:t>Applied the Kansas City metro filter (14 counties, per OMB Bulletin No. 23-01) to the dataset — Completed</a:t>
            </a:r>
            <a:endParaRPr lang="en-US" sz="1400" dirty="0"/>
          </a:p>
          <a:p>
            <a:pPr marL="342900" indent="-342900">
              <a:spcAft>
                <a:spcPts val="1400"/>
              </a:spcAft>
              <a:buSzPct val="100000"/>
              <a:buChar char="•"/>
            </a:pPr>
            <a:r>
              <a:rPr lang="en-US" sz="1400" dirty="0">
                <a:solidFill>
                  <a:srgbClr val="2E2E2E"/>
                </a:solidFill>
                <a:latin typeface="Calibri" pitchFamily="34" charset="0"/>
                <a:ea typeface="Calibri" pitchFamily="34" charset="-122"/>
                <a:cs typeface="Calibri" pitchFamily="34" charset="-120"/>
              </a:rPr>
              <a:t>Confirmed the health variable shortlist against the reference document: Obesity, Diabetes, High Blood Pressure — Completed</a:t>
            </a:r>
            <a:endParaRPr lang="en-US" sz="1400" dirty="0"/>
          </a:p>
          <a:p>
            <a:pPr marL="342900" indent="-342900">
              <a:spcAft>
                <a:spcPts val="1400"/>
              </a:spcAft>
              <a:buSzPct val="100000"/>
              <a:buChar char="•"/>
            </a:pPr>
            <a:r>
              <a:rPr lang="en-US" sz="1400" dirty="0">
                <a:solidFill>
                  <a:srgbClr val="2E2E2E"/>
                </a:solidFill>
                <a:latin typeface="Calibri" pitchFamily="34" charset="0"/>
                <a:ea typeface="Calibri" pitchFamily="34" charset="-122"/>
                <a:cs typeface="Calibri" pitchFamily="34" charset="-120"/>
              </a:rPr>
              <a:t>Identified Demographic &amp; Socioeconomic data (Census ACS) as the next category to pursue — Completed</a:t>
            </a:r>
            <a:endParaRPr lang="en-US" sz="1400" dirty="0"/>
          </a:p>
        </p:txBody>
      </p:sp>
      <p:sp>
        <p:nvSpPr>
          <p:cNvPr id="5" name="Text 3"/>
          <p:cNvSpPr/>
          <p:nvPr/>
        </p:nvSpPr>
        <p:spPr>
          <a:xfrm>
            <a:off x="6309360" y="1143000"/>
            <a:ext cx="5303520" cy="365760"/>
          </a:xfrm>
          <a:prstGeom prst="rect">
            <a:avLst/>
          </a:prstGeom>
          <a:noFill/>
          <a:ln/>
        </p:spPr>
        <p:txBody>
          <a:bodyPr wrap="square" rtlCol="0" anchor="ctr"/>
          <a:lstStyle/>
          <a:p>
            <a:pPr marL="0" indent="0">
              <a:buNone/>
            </a:pPr>
            <a:r>
              <a:rPr lang="en-US" sz="1800" dirty="0">
                <a:solidFill>
                  <a:srgbClr val="2E2E2E"/>
                </a:solidFill>
                <a:latin typeface="Calibri" pitchFamily="34" charset="0"/>
                <a:ea typeface="Calibri" pitchFamily="34" charset="-122"/>
                <a:cs typeface="Calibri" pitchFamily="34" charset="-120"/>
              </a:rPr>
              <a:t>This Week</a:t>
            </a:r>
            <a:endParaRPr lang="en-US" sz="1800" dirty="0"/>
          </a:p>
        </p:txBody>
      </p:sp>
      <p:sp>
        <p:nvSpPr>
          <p:cNvPr id="6" name="Text 4"/>
          <p:cNvSpPr/>
          <p:nvPr/>
        </p:nvSpPr>
        <p:spPr>
          <a:xfrm>
            <a:off x="6355080" y="1600200"/>
            <a:ext cx="5212080" cy="4480560"/>
          </a:xfrm>
          <a:prstGeom prst="rect">
            <a:avLst/>
          </a:prstGeom>
          <a:noFill/>
          <a:ln/>
        </p:spPr>
        <p:txBody>
          <a:bodyPr wrap="square" rtlCol="0" anchor="t"/>
          <a:lstStyle/>
          <a:p>
            <a:pPr marL="342900" indent="-342900">
              <a:spcAft>
                <a:spcPts val="1200"/>
              </a:spcAft>
              <a:buSzPct val="100000"/>
              <a:buChar char="•"/>
            </a:pPr>
            <a:r>
              <a:rPr lang="en-US" sz="1400" dirty="0">
                <a:solidFill>
                  <a:srgbClr val="2E2E2E"/>
                </a:solidFill>
                <a:latin typeface="Calibri" pitchFamily="34" charset="0"/>
                <a:ea typeface="Calibri" pitchFamily="34" charset="-122"/>
                <a:cs typeface="Calibri" pitchFamily="34" charset="-120"/>
              </a:rPr>
              <a:t>Found the Census ACS data for demographic and socioeconomic variables (13 candidate variables) — Completed</a:t>
            </a:r>
            <a:endParaRPr lang="en-US" sz="1400" dirty="0"/>
          </a:p>
          <a:p>
            <a:pPr marL="342900" indent="-342900">
              <a:spcAft>
                <a:spcPts val="1200"/>
              </a:spcAft>
              <a:buSzPct val="100000"/>
              <a:buChar char="•"/>
            </a:pPr>
            <a:r>
              <a:rPr lang="en-US" sz="1400" dirty="0">
                <a:solidFill>
                  <a:srgbClr val="2E2E2E"/>
                </a:solidFill>
                <a:latin typeface="Calibri" pitchFamily="34" charset="0"/>
                <a:ea typeface="Calibri" pitchFamily="34" charset="-122"/>
                <a:cs typeface="Calibri" pitchFamily="34" charset="-120"/>
              </a:rPr>
              <a:t>Collected the ACS variables for all 516 KC metro tracts (2019 5-year estimates) — Completed</a:t>
            </a:r>
            <a:endParaRPr lang="en-US" sz="1400" dirty="0"/>
          </a:p>
          <a:p>
            <a:pPr marL="342900" indent="-342900">
              <a:spcAft>
                <a:spcPts val="1200"/>
              </a:spcAft>
              <a:buSzPct val="100000"/>
              <a:buChar char="•"/>
            </a:pPr>
            <a:r>
              <a:rPr lang="en-US" sz="1400" dirty="0">
                <a:solidFill>
                  <a:srgbClr val="2E2E2E"/>
                </a:solidFill>
                <a:latin typeface="Calibri" pitchFamily="34" charset="0"/>
                <a:ea typeface="Calibri" pitchFamily="34" charset="-122"/>
                <a:cs typeface="Calibri" pitchFamily="34" charset="-120"/>
              </a:rPr>
              <a:t>Added the ACS data to the health dataset; one-to-one merge validated (516 of 516 matched) — Completed</a:t>
            </a:r>
            <a:endParaRPr lang="en-US" sz="1400" dirty="0"/>
          </a:p>
          <a:p>
            <a:pPr marL="342900" indent="-342900">
              <a:spcAft>
                <a:spcPts val="1200"/>
              </a:spcAft>
              <a:buSzPct val="100000"/>
              <a:buChar char="•"/>
            </a:pPr>
            <a:r>
              <a:rPr lang="en-US" sz="1400" dirty="0">
                <a:solidFill>
                  <a:srgbClr val="2E2E2E"/>
                </a:solidFill>
                <a:latin typeface="Calibri" pitchFamily="34" charset="0"/>
                <a:ea typeface="Calibri" pitchFamily="34" charset="-122"/>
                <a:cs typeface="Calibri" pitchFamily="34" charset="-120"/>
              </a:rPr>
              <a:t>Cleaned the data and ran initial exploratory and correlation analysis — Completed</a:t>
            </a:r>
            <a:endParaRPr lang="en-US" sz="1400" dirty="0"/>
          </a:p>
          <a:p>
            <a:pPr marL="342900" indent="-342900">
              <a:spcAft>
                <a:spcPts val="1200"/>
              </a:spcAft>
              <a:buSzPct val="100000"/>
              <a:buChar char="•"/>
            </a:pPr>
            <a:r>
              <a:rPr lang="en-US" sz="1400" dirty="0">
                <a:solidFill>
                  <a:srgbClr val="2E2E2E"/>
                </a:solidFill>
                <a:latin typeface="Calibri" pitchFamily="34" charset="0"/>
                <a:ea typeface="Calibri" pitchFamily="34" charset="-122"/>
                <a:cs typeface="Calibri" pitchFamily="34" charset="-120"/>
              </a:rPr>
              <a:t>Confirm the final variable set from the candidates — In Progress</a:t>
            </a:r>
            <a:endParaRPr lang="en-US" sz="1400" dirty="0"/>
          </a:p>
        </p:txBody>
      </p:sp>
      <p:sp>
        <p:nvSpPr>
          <p:cNvPr id="7" name="Text 5"/>
          <p:cNvSpPr/>
          <p:nvPr/>
        </p:nvSpPr>
        <p:spPr>
          <a:xfrm>
            <a:off x="365760" y="6537960"/>
            <a:ext cx="7315200" cy="274320"/>
          </a:xfrm>
          <a:prstGeom prst="rect">
            <a:avLst/>
          </a:prstGeom>
          <a:noFill/>
          <a:ln/>
        </p:spPr>
        <p:txBody>
          <a:bodyPr wrap="square" rtlCol="0" anchor="ctr"/>
          <a:lstStyle/>
          <a:p>
            <a:pPr marL="0" indent="0">
              <a:buNone/>
            </a:pPr>
            <a:r>
              <a:rPr lang="en-US" sz="1000" i="1" dirty="0">
                <a:solidFill>
                  <a:srgbClr val="6B6B6B"/>
                </a:solidFill>
                <a:latin typeface="Calibri" pitchFamily="34" charset="0"/>
                <a:ea typeface="Calibri" pitchFamily="34" charset="-122"/>
                <a:cs typeface="Calibri" pitchFamily="34" charset="-120"/>
              </a:rPr>
              <a:t>Decision Dashboard for Urban Food Production — Weekly Progress</a:t>
            </a:r>
            <a:endParaRPr lang="en-US" sz="1000" dirty="0"/>
          </a:p>
        </p:txBody>
      </p:sp>
      <p:sp>
        <p:nvSpPr>
          <p:cNvPr id="8" name="Text 6"/>
          <p:cNvSpPr/>
          <p:nvPr/>
        </p:nvSpPr>
        <p:spPr>
          <a:xfrm>
            <a:off x="11521440" y="6537960"/>
            <a:ext cx="36576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0"/>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2C5F2D"/>
          </a:solidFill>
          <a:ln/>
        </p:spPr>
        <p:txBody>
          <a:bodyPr/>
          <a:lstStyle/>
          <a:p>
            <a:endParaRPr lang="en-US"/>
          </a:p>
        </p:txBody>
      </p:sp>
      <p:sp>
        <p:nvSpPr>
          <p:cNvPr id="3" name="Text 1"/>
          <p:cNvSpPr/>
          <p:nvPr/>
        </p:nvSpPr>
        <p:spPr>
          <a:xfrm>
            <a:off x="457200" y="256032"/>
            <a:ext cx="1124712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Study Area and Health Indicators</a:t>
            </a:r>
            <a:endParaRPr lang="en-US" sz="2800" dirty="0"/>
          </a:p>
        </p:txBody>
      </p:sp>
      <p:sp>
        <p:nvSpPr>
          <p:cNvPr id="4" name="Shape 2"/>
          <p:cNvSpPr/>
          <p:nvPr/>
        </p:nvSpPr>
        <p:spPr>
          <a:xfrm>
            <a:off x="457200" y="1417320"/>
            <a:ext cx="3291840" cy="1920240"/>
          </a:xfrm>
          <a:prstGeom prst="rect">
            <a:avLst/>
          </a:prstGeom>
          <a:solidFill>
            <a:srgbClr val="2C5F2D"/>
          </a:solidFill>
          <a:ln/>
        </p:spPr>
        <p:txBody>
          <a:bodyPr/>
          <a:lstStyle/>
          <a:p>
            <a:endParaRPr lang="en-US"/>
          </a:p>
        </p:txBody>
      </p:sp>
      <p:sp>
        <p:nvSpPr>
          <p:cNvPr id="5" name="Text 3"/>
          <p:cNvSpPr/>
          <p:nvPr/>
        </p:nvSpPr>
        <p:spPr>
          <a:xfrm>
            <a:off x="457200" y="1463040"/>
            <a:ext cx="3291840" cy="1097280"/>
          </a:xfrm>
          <a:prstGeom prst="rect">
            <a:avLst/>
          </a:prstGeom>
          <a:noFill/>
          <a:ln/>
        </p:spPr>
        <p:txBody>
          <a:bodyPr wrap="square" rtlCol="0" anchor="ctr"/>
          <a:lstStyle/>
          <a:p>
            <a:pPr marL="0" indent="0" algn="ctr">
              <a:buNone/>
            </a:pPr>
            <a:r>
              <a:rPr lang="en-US" sz="5400" b="1" dirty="0">
                <a:solidFill>
                  <a:srgbClr val="FFFFFF"/>
                </a:solidFill>
                <a:latin typeface="Cambria" pitchFamily="34" charset="0"/>
                <a:ea typeface="Cambria" pitchFamily="34" charset="-122"/>
                <a:cs typeface="Cambria" pitchFamily="34" charset="-120"/>
              </a:rPr>
              <a:t>14</a:t>
            </a:r>
            <a:endParaRPr lang="en-US" sz="5400" dirty="0"/>
          </a:p>
        </p:txBody>
      </p:sp>
      <p:sp>
        <p:nvSpPr>
          <p:cNvPr id="6" name="Text 4"/>
          <p:cNvSpPr/>
          <p:nvPr/>
        </p:nvSpPr>
        <p:spPr>
          <a:xfrm>
            <a:off x="457200" y="2606040"/>
            <a:ext cx="3291840" cy="457200"/>
          </a:xfrm>
          <a:prstGeom prst="rect">
            <a:avLst/>
          </a:prstGeom>
          <a:noFill/>
          <a:ln/>
        </p:spPr>
        <p:txBody>
          <a:bodyPr wrap="square" rtlCol="0" anchor="ctr"/>
          <a:lstStyle/>
          <a:p>
            <a:pPr marL="0" indent="0" algn="ctr">
              <a:buNone/>
            </a:pPr>
            <a:r>
              <a:rPr lang="en-US" sz="1500" dirty="0">
                <a:solidFill>
                  <a:srgbClr val="FFFFFF"/>
                </a:solidFill>
                <a:latin typeface="Calibri" pitchFamily="34" charset="0"/>
                <a:ea typeface="Calibri" pitchFamily="34" charset="-122"/>
                <a:cs typeface="Calibri" pitchFamily="34" charset="-120"/>
              </a:rPr>
              <a:t>counties (9 MO, 5 KS)</a:t>
            </a:r>
            <a:endParaRPr lang="en-US" sz="1500" dirty="0"/>
          </a:p>
        </p:txBody>
      </p:sp>
      <p:sp>
        <p:nvSpPr>
          <p:cNvPr id="7" name="Shape 5"/>
          <p:cNvSpPr/>
          <p:nvPr/>
        </p:nvSpPr>
        <p:spPr>
          <a:xfrm>
            <a:off x="457200" y="3520440"/>
            <a:ext cx="3291840" cy="1920240"/>
          </a:xfrm>
          <a:prstGeom prst="rect">
            <a:avLst/>
          </a:prstGeom>
          <a:solidFill>
            <a:srgbClr val="2C5F2D"/>
          </a:solidFill>
          <a:ln/>
        </p:spPr>
        <p:txBody>
          <a:bodyPr/>
          <a:lstStyle/>
          <a:p>
            <a:endParaRPr lang="en-US"/>
          </a:p>
        </p:txBody>
      </p:sp>
      <p:sp>
        <p:nvSpPr>
          <p:cNvPr id="8" name="Text 6"/>
          <p:cNvSpPr/>
          <p:nvPr/>
        </p:nvSpPr>
        <p:spPr>
          <a:xfrm>
            <a:off x="457200" y="3566160"/>
            <a:ext cx="3291840" cy="1097280"/>
          </a:xfrm>
          <a:prstGeom prst="rect">
            <a:avLst/>
          </a:prstGeom>
          <a:noFill/>
          <a:ln/>
        </p:spPr>
        <p:txBody>
          <a:bodyPr wrap="square" rtlCol="0" anchor="ctr"/>
          <a:lstStyle/>
          <a:p>
            <a:pPr marL="0" indent="0" algn="ctr">
              <a:buNone/>
            </a:pPr>
            <a:r>
              <a:rPr lang="en-US" sz="5400" b="1" dirty="0">
                <a:solidFill>
                  <a:srgbClr val="FFFFFF"/>
                </a:solidFill>
                <a:latin typeface="Cambria" pitchFamily="34" charset="0"/>
                <a:ea typeface="Cambria" pitchFamily="34" charset="-122"/>
                <a:cs typeface="Cambria" pitchFamily="34" charset="-120"/>
              </a:rPr>
              <a:t>516</a:t>
            </a:r>
            <a:endParaRPr lang="en-US" sz="5400" dirty="0"/>
          </a:p>
        </p:txBody>
      </p:sp>
      <p:sp>
        <p:nvSpPr>
          <p:cNvPr id="9" name="Text 7"/>
          <p:cNvSpPr/>
          <p:nvPr/>
        </p:nvSpPr>
        <p:spPr>
          <a:xfrm>
            <a:off x="457200" y="4709160"/>
            <a:ext cx="3291840" cy="457200"/>
          </a:xfrm>
          <a:prstGeom prst="rect">
            <a:avLst/>
          </a:prstGeom>
          <a:noFill/>
          <a:ln/>
        </p:spPr>
        <p:txBody>
          <a:bodyPr wrap="square" rtlCol="0" anchor="ctr"/>
          <a:lstStyle/>
          <a:p>
            <a:pPr marL="0" indent="0" algn="ctr">
              <a:buNone/>
            </a:pPr>
            <a:r>
              <a:rPr lang="en-US" sz="1500" dirty="0">
                <a:solidFill>
                  <a:srgbClr val="FFFFFF"/>
                </a:solidFill>
                <a:latin typeface="Calibri" pitchFamily="34" charset="0"/>
                <a:ea typeface="Calibri" pitchFamily="34" charset="-122"/>
                <a:cs typeface="Calibri" pitchFamily="34" charset="-120"/>
              </a:rPr>
              <a:t>census tracts</a:t>
            </a:r>
            <a:endParaRPr lang="en-US" sz="1500" dirty="0"/>
          </a:p>
        </p:txBody>
      </p:sp>
      <p:sp>
        <p:nvSpPr>
          <p:cNvPr id="10" name="Text 8"/>
          <p:cNvSpPr/>
          <p:nvPr/>
        </p:nvSpPr>
        <p:spPr>
          <a:xfrm>
            <a:off x="4114800" y="1371600"/>
            <a:ext cx="7589520" cy="365760"/>
          </a:xfrm>
          <a:prstGeom prst="rect">
            <a:avLst/>
          </a:prstGeom>
          <a:noFill/>
          <a:ln/>
        </p:spPr>
        <p:txBody>
          <a:bodyPr wrap="square" rtlCol="0" anchor="ctr"/>
          <a:lstStyle/>
          <a:p>
            <a:pPr marL="0" indent="0">
              <a:buNone/>
            </a:pPr>
            <a:r>
              <a:rPr lang="en-US" sz="1400" b="1" dirty="0">
                <a:solidFill>
                  <a:srgbClr val="2C5F2D"/>
                </a:solidFill>
                <a:latin typeface="Calibri" pitchFamily="34" charset="0"/>
                <a:ea typeface="Calibri" pitchFamily="34" charset="-122"/>
                <a:cs typeface="Calibri" pitchFamily="34" charset="-120"/>
              </a:rPr>
              <a:t>CDC PLACES 2023 release — crude prevalence, adults (% of adults)</a:t>
            </a:r>
            <a:endParaRPr lang="en-US" sz="1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114800" y="1783080"/>
          <a:ext cx="7589520" cy="2011680"/>
        </p:xfrm>
        <a:graphic>
          <a:graphicData uri="http://schemas.openxmlformats.org/drawingml/2006/table">
            <a:tbl>
              <a:tblPr/>
              <a:tblGrid>
                <a:gridCol w="219456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tblGrid>
              <a:tr h="502920">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Indicator</a:t>
                      </a:r>
                      <a:endParaRPr lang="en-US" sz="13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2C5F2D"/>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What it measures</a:t>
                      </a:r>
                      <a:endParaRPr lang="en-US" sz="13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2C5F2D"/>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Mean</a:t>
                      </a:r>
                      <a:endParaRPr lang="en-US" sz="13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2C5F2D"/>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Min</a:t>
                      </a:r>
                      <a:endParaRPr lang="en-US" sz="13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2C5F2D"/>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Max</a:t>
                      </a:r>
                      <a:endParaRPr lang="en-US" sz="13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2C5F2D"/>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Missing</a:t>
                      </a:r>
                      <a:endParaRPr lang="en-US" sz="13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2C5F2D"/>
                    </a:solidFill>
                  </a:tcPr>
                </a:tc>
                <a:extLst>
                  <a:ext uri="{0D108BD9-81ED-4DB2-BD59-A6C34878D82A}">
                    <a16:rowId xmlns:a16="http://schemas.microsoft.com/office/drawing/2014/main" val="10000"/>
                  </a:ext>
                </a:extLst>
              </a:tr>
              <a:tr h="502920">
                <a:tc>
                  <a:txBody>
                    <a:bodyPr/>
                    <a:lstStyle/>
                    <a:p>
                      <a:pPr marL="0" indent="0">
                        <a:buNone/>
                      </a:pPr>
                      <a:r>
                        <a:rPr lang="en-US" sz="1300" dirty="0">
                          <a:solidFill>
                            <a:srgbClr val="2E2E2E"/>
                          </a:solidFill>
                          <a:latin typeface="Calibri" pitchFamily="34" charset="0"/>
                          <a:ea typeface="Calibri" pitchFamily="34" charset="-122"/>
                          <a:cs typeface="Calibri" pitchFamily="34" charset="-120"/>
                        </a:rPr>
                        <a:t>OBESITY_CrudePrev</a:t>
                      </a:r>
                      <a:endParaRPr lang="en-US" sz="13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300" dirty="0">
                          <a:solidFill>
                            <a:srgbClr val="2E2E2E"/>
                          </a:solidFill>
                          <a:latin typeface="Calibri" pitchFamily="34" charset="0"/>
                          <a:ea typeface="Calibri" pitchFamily="34" charset="-122"/>
                          <a:cs typeface="Calibri" pitchFamily="34" charset="-120"/>
                        </a:rPr>
                        <a:t>Adult obesity</a:t>
                      </a:r>
                      <a:endParaRPr lang="en-US" sz="13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E2E2E"/>
                          </a:solidFill>
                          <a:latin typeface="Calibri" pitchFamily="34" charset="0"/>
                          <a:ea typeface="Calibri" pitchFamily="34" charset="-122"/>
                          <a:cs typeface="Calibri" pitchFamily="34" charset="-120"/>
                        </a:rPr>
                        <a:t>37.9</a:t>
                      </a:r>
                      <a:endParaRPr lang="en-US" sz="13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E2E2E"/>
                          </a:solidFill>
                          <a:latin typeface="Calibri" pitchFamily="34" charset="0"/>
                          <a:ea typeface="Calibri" pitchFamily="34" charset="-122"/>
                          <a:cs typeface="Calibri" pitchFamily="34" charset="-120"/>
                        </a:rPr>
                        <a:t>25.5</a:t>
                      </a:r>
                      <a:endParaRPr lang="en-US" sz="13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E2E2E"/>
                          </a:solidFill>
                          <a:latin typeface="Calibri" pitchFamily="34" charset="0"/>
                          <a:ea typeface="Calibri" pitchFamily="34" charset="-122"/>
                          <a:cs typeface="Calibri" pitchFamily="34" charset="-120"/>
                        </a:rPr>
                        <a:t>57.1</a:t>
                      </a:r>
                      <a:endParaRPr lang="en-US" sz="13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E2E2E"/>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300" dirty="0">
                          <a:solidFill>
                            <a:srgbClr val="2E2E2E"/>
                          </a:solidFill>
                          <a:latin typeface="Calibri" pitchFamily="34" charset="0"/>
                          <a:ea typeface="Calibri" pitchFamily="34" charset="-122"/>
                          <a:cs typeface="Calibri" pitchFamily="34" charset="-120"/>
                        </a:rPr>
                        <a:t>DIABETES_CrudePrev</a:t>
                      </a:r>
                      <a:endParaRPr lang="en-US" sz="13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300" dirty="0">
                          <a:solidFill>
                            <a:srgbClr val="2E2E2E"/>
                          </a:solidFill>
                          <a:latin typeface="Calibri" pitchFamily="34" charset="0"/>
                          <a:ea typeface="Calibri" pitchFamily="34" charset="-122"/>
                          <a:cs typeface="Calibri" pitchFamily="34" charset="-120"/>
                        </a:rPr>
                        <a:t>Adult diabetes</a:t>
                      </a:r>
                      <a:endParaRPr lang="en-US" sz="13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E2E2E"/>
                          </a:solidFill>
                          <a:latin typeface="Calibri" pitchFamily="34" charset="0"/>
                          <a:ea typeface="Calibri" pitchFamily="34" charset="-122"/>
                          <a:cs typeface="Calibri" pitchFamily="34" charset="-120"/>
                        </a:rPr>
                        <a:t>11.1</a:t>
                      </a:r>
                      <a:endParaRPr lang="en-US" sz="13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E2E2E"/>
                          </a:solidFill>
                          <a:latin typeface="Calibri" pitchFamily="34" charset="0"/>
                          <a:ea typeface="Calibri" pitchFamily="34" charset="-122"/>
                          <a:cs typeface="Calibri" pitchFamily="34" charset="-120"/>
                        </a:rPr>
                        <a:t>3.7</a:t>
                      </a:r>
                      <a:endParaRPr lang="en-US" sz="13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E2E2E"/>
                          </a:solidFill>
                          <a:latin typeface="Calibri" pitchFamily="34" charset="0"/>
                          <a:ea typeface="Calibri" pitchFamily="34" charset="-122"/>
                          <a:cs typeface="Calibri" pitchFamily="34" charset="-120"/>
                        </a:rPr>
                        <a:t>32.3</a:t>
                      </a:r>
                      <a:endParaRPr lang="en-US" sz="13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E2E2E"/>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buNone/>
                      </a:pPr>
                      <a:r>
                        <a:rPr lang="en-US" sz="1300" dirty="0">
                          <a:solidFill>
                            <a:srgbClr val="2E2E2E"/>
                          </a:solidFill>
                          <a:latin typeface="Calibri" pitchFamily="34" charset="0"/>
                          <a:ea typeface="Calibri" pitchFamily="34" charset="-122"/>
                          <a:cs typeface="Calibri" pitchFamily="34" charset="-120"/>
                        </a:rPr>
                        <a:t>BPHIGH_CrudePrev</a:t>
                      </a:r>
                      <a:endParaRPr lang="en-US" sz="13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300" dirty="0">
                          <a:solidFill>
                            <a:srgbClr val="2E2E2E"/>
                          </a:solidFill>
                          <a:latin typeface="Calibri" pitchFamily="34" charset="0"/>
                          <a:ea typeface="Calibri" pitchFamily="34" charset="-122"/>
                          <a:cs typeface="Calibri" pitchFamily="34" charset="-120"/>
                        </a:rPr>
                        <a:t>Adult high blood pressure</a:t>
                      </a:r>
                      <a:endParaRPr lang="en-US" sz="13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E2E2E"/>
                          </a:solidFill>
                          <a:latin typeface="Calibri" pitchFamily="34" charset="0"/>
                          <a:ea typeface="Calibri" pitchFamily="34" charset="-122"/>
                          <a:cs typeface="Calibri" pitchFamily="34" charset="-120"/>
                        </a:rPr>
                        <a:t>33.6</a:t>
                      </a:r>
                      <a:endParaRPr lang="en-US" sz="13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E2E2E"/>
                          </a:solidFill>
                          <a:latin typeface="Calibri" pitchFamily="34" charset="0"/>
                          <a:ea typeface="Calibri" pitchFamily="34" charset="-122"/>
                          <a:cs typeface="Calibri" pitchFamily="34" charset="-120"/>
                        </a:rPr>
                        <a:t>17.5</a:t>
                      </a:r>
                      <a:endParaRPr lang="en-US" sz="13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E2E2E"/>
                          </a:solidFill>
                          <a:latin typeface="Calibri" pitchFamily="34" charset="0"/>
                          <a:ea typeface="Calibri" pitchFamily="34" charset="-122"/>
                          <a:cs typeface="Calibri" pitchFamily="34" charset="-120"/>
                        </a:rPr>
                        <a:t>59.8</a:t>
                      </a:r>
                      <a:endParaRPr lang="en-US" sz="13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E2E2E"/>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2" name="Shape 9"/>
          <p:cNvSpPr/>
          <p:nvPr/>
        </p:nvSpPr>
        <p:spPr>
          <a:xfrm>
            <a:off x="4114800" y="4023360"/>
            <a:ext cx="7589520" cy="1417320"/>
          </a:xfrm>
          <a:prstGeom prst="rect">
            <a:avLst/>
          </a:prstGeom>
          <a:solidFill>
            <a:srgbClr val="FFFFFF"/>
          </a:solidFill>
          <a:ln w="19050">
            <a:solidFill>
              <a:srgbClr val="97BC62"/>
            </a:solidFill>
            <a:prstDash val="solid"/>
          </a:ln>
        </p:spPr>
        <p:txBody>
          <a:bodyPr/>
          <a:lstStyle/>
          <a:p>
            <a:endParaRPr lang="en-US"/>
          </a:p>
        </p:txBody>
      </p:sp>
      <p:sp>
        <p:nvSpPr>
          <p:cNvPr id="13" name="Text 10"/>
          <p:cNvSpPr/>
          <p:nvPr/>
        </p:nvSpPr>
        <p:spPr>
          <a:xfrm>
            <a:off x="4297680" y="4114800"/>
            <a:ext cx="7223760" cy="1234440"/>
          </a:xfrm>
          <a:prstGeom prst="rect">
            <a:avLst/>
          </a:prstGeom>
          <a:noFill/>
          <a:ln/>
        </p:spPr>
        <p:txBody>
          <a:bodyPr wrap="square" rtlCol="0" anchor="ctr"/>
          <a:lstStyle/>
          <a:p>
            <a:pPr marL="0" indent="0">
              <a:buNone/>
            </a:pPr>
            <a:r>
              <a:rPr lang="en-US" sz="1350" b="1" dirty="0">
                <a:solidFill>
                  <a:srgbClr val="2E2E2E"/>
                </a:solidFill>
                <a:latin typeface="Calibri" pitchFamily="34" charset="0"/>
                <a:ea typeface="Calibri" pitchFamily="34" charset="-122"/>
                <a:cs typeface="Calibri" pitchFamily="34" charset="-120"/>
              </a:rPr>
              <a:t>How to read these: </a:t>
            </a:r>
            <a:r>
              <a:rPr lang="en-US" sz="1350" dirty="0">
                <a:solidFill>
                  <a:srgbClr val="2E2E2E"/>
                </a:solidFill>
                <a:latin typeface="Calibri" pitchFamily="34" charset="0"/>
                <a:ea typeface="Calibri" pitchFamily="34" charset="-122"/>
                <a:cs typeface="Calibri" pitchFamily="34" charset="-120"/>
              </a:rPr>
              <a:t>preliminary indicators of community health need across tracts. They are not direct measures of food insecurity. Means are simple averages of tract values (not population-weighted).</a:t>
            </a:r>
            <a:endParaRPr lang="en-US" sz="1350" dirty="0"/>
          </a:p>
        </p:txBody>
      </p:sp>
      <p:sp>
        <p:nvSpPr>
          <p:cNvPr id="14" name="Text 11"/>
          <p:cNvSpPr/>
          <p:nvPr/>
        </p:nvSpPr>
        <p:spPr>
          <a:xfrm>
            <a:off x="457200" y="5760720"/>
            <a:ext cx="11247120" cy="365760"/>
          </a:xfrm>
          <a:prstGeom prst="rect">
            <a:avLst/>
          </a:prstGeom>
          <a:noFill/>
          <a:ln/>
        </p:spPr>
        <p:txBody>
          <a:bodyPr wrap="square" rtlCol="0" anchor="ctr"/>
          <a:lstStyle/>
          <a:p>
            <a:pPr marL="0" indent="0">
              <a:buNone/>
            </a:pPr>
            <a:r>
              <a:rPr lang="en-US" sz="1200" i="1" dirty="0">
                <a:solidFill>
                  <a:srgbClr val="6B6B6B"/>
                </a:solidFill>
                <a:latin typeface="Calibri" pitchFamily="34" charset="0"/>
                <a:ea typeface="Calibri" pitchFamily="34" charset="-122"/>
                <a:cs typeface="Calibri" pitchFamily="34" charset="-120"/>
              </a:rPr>
              <a:t>No map yet — tract boundary files have not been obtained (planned next).</a:t>
            </a:r>
            <a:endParaRPr lang="en-US" sz="1200" dirty="0"/>
          </a:p>
        </p:txBody>
      </p:sp>
      <p:sp>
        <p:nvSpPr>
          <p:cNvPr id="15" name="Text 12"/>
          <p:cNvSpPr/>
          <p:nvPr/>
        </p:nvSpPr>
        <p:spPr>
          <a:xfrm>
            <a:off x="365760" y="6537960"/>
            <a:ext cx="7315200" cy="274320"/>
          </a:xfrm>
          <a:prstGeom prst="rect">
            <a:avLst/>
          </a:prstGeom>
          <a:noFill/>
          <a:ln/>
        </p:spPr>
        <p:txBody>
          <a:bodyPr wrap="square" rtlCol="0" anchor="ctr"/>
          <a:lstStyle/>
          <a:p>
            <a:pPr marL="0" indent="0">
              <a:buNone/>
            </a:pPr>
            <a:r>
              <a:rPr lang="en-US" sz="1000" i="1" dirty="0">
                <a:solidFill>
                  <a:srgbClr val="6B6B6B"/>
                </a:solidFill>
                <a:latin typeface="Calibri" pitchFamily="34" charset="0"/>
                <a:ea typeface="Calibri" pitchFamily="34" charset="-122"/>
                <a:cs typeface="Calibri" pitchFamily="34" charset="-120"/>
              </a:rPr>
              <a:t>Decision Dashboard for Urban Food Production — Weekly Progress</a:t>
            </a:r>
            <a:endParaRPr lang="en-US" sz="1000" dirty="0"/>
          </a:p>
        </p:txBody>
      </p:sp>
      <p:sp>
        <p:nvSpPr>
          <p:cNvPr id="16" name="Text 13"/>
          <p:cNvSpPr/>
          <p:nvPr/>
        </p:nvSpPr>
        <p:spPr>
          <a:xfrm>
            <a:off x="11521440" y="6537960"/>
            <a:ext cx="36576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2800" dirty="0">
                <a:solidFill>
                  <a:srgbClr val="2E2E2E"/>
                </a:solidFill>
                <a:latin typeface="Cambria" pitchFamily="34" charset="0"/>
                <a:ea typeface="Cambria" pitchFamily="34" charset="-122"/>
                <a:cs typeface="Cambria" pitchFamily="34" charset="-120"/>
              </a:rPr>
              <a:t>ACS Data: Candidate Variables and Geography Match</a:t>
            </a:r>
            <a:endParaRPr lang="en-US" sz="2800" dirty="0"/>
          </a:p>
        </p:txBody>
      </p:sp>
      <p:sp>
        <p:nvSpPr>
          <p:cNvPr id="3" name="Text 1"/>
          <p:cNvSpPr/>
          <p:nvPr/>
        </p:nvSpPr>
        <p:spPr>
          <a:xfrm>
            <a:off x="457200" y="914400"/>
            <a:ext cx="11247120" cy="365760"/>
          </a:xfrm>
          <a:prstGeom prst="rect">
            <a:avLst/>
          </a:prstGeom>
          <a:noFill/>
          <a:ln/>
        </p:spPr>
        <p:txBody>
          <a:bodyPr wrap="square" rtlCol="0" anchor="ctr"/>
          <a:lstStyle/>
          <a:p>
            <a:pPr marL="0" indent="0">
              <a:buNone/>
            </a:pPr>
            <a:r>
              <a:rPr lang="en-US" sz="1400" i="1" dirty="0">
                <a:solidFill>
                  <a:srgbClr val="6B6B6B"/>
                </a:solidFill>
                <a:latin typeface="Calibri" pitchFamily="34" charset="0"/>
                <a:ea typeface="Calibri" pitchFamily="34" charset="-122"/>
                <a:cs typeface="Calibri" pitchFamily="34" charset="-120"/>
              </a:rPr>
              <a:t>American Community Survey 5-year estimates at the census tract level</a:t>
            </a:r>
            <a:endParaRPr lang="en-US" sz="1400" dirty="0"/>
          </a:p>
        </p:txBody>
      </p:sp>
      <p:sp>
        <p:nvSpPr>
          <p:cNvPr id="4" name="Text 2"/>
          <p:cNvSpPr/>
          <p:nvPr/>
        </p:nvSpPr>
        <p:spPr>
          <a:xfrm>
            <a:off x="457200" y="1417320"/>
            <a:ext cx="5669280" cy="365760"/>
          </a:xfrm>
          <a:prstGeom prst="rect">
            <a:avLst/>
          </a:prstGeom>
          <a:noFill/>
          <a:ln/>
        </p:spPr>
        <p:txBody>
          <a:bodyPr wrap="square" rtlCol="0" anchor="ctr"/>
          <a:lstStyle/>
          <a:p>
            <a:pPr marL="0" indent="0">
              <a:buNone/>
            </a:pPr>
            <a:r>
              <a:rPr lang="en-US" sz="1500" b="1" dirty="0">
                <a:solidFill>
                  <a:srgbClr val="2C5F2D"/>
                </a:solidFill>
                <a:latin typeface="Calibri" pitchFamily="34" charset="0"/>
                <a:ea typeface="Calibri" pitchFamily="34" charset="-122"/>
                <a:cs typeface="Calibri" pitchFamily="34" charset="-120"/>
              </a:rPr>
              <a:t>13 candidate variables (not yet final)</a:t>
            </a:r>
            <a:endParaRPr lang="en-US" sz="1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828800"/>
          <a:ext cx="5760720" cy="3063240"/>
        </p:xfrm>
        <a:graphic>
          <a:graphicData uri="http://schemas.openxmlformats.org/drawingml/2006/table">
            <a:tbl>
              <a:tblPr/>
              <a:tblGrid>
                <a:gridCol w="155448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tblGrid>
              <a:tr h="365760">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Group</a:t>
                      </a:r>
                      <a:endParaRPr lang="en-US" sz="12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2C5F2D"/>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Variables</a:t>
                      </a:r>
                      <a:endParaRPr lang="en-US" sz="12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2C5F2D"/>
                    </a:solidFill>
                  </a:tcPr>
                </a:tc>
                <a:extLst>
                  <a:ext uri="{0D108BD9-81ED-4DB2-BD59-A6C34878D82A}">
                    <a16:rowId xmlns:a16="http://schemas.microsoft.com/office/drawing/2014/main" val="10000"/>
                  </a:ext>
                </a:extLst>
              </a:tr>
              <a:tr h="868680">
                <a:tc>
                  <a:txBody>
                    <a:bodyPr/>
                    <a:lstStyle/>
                    <a:p>
                      <a:pPr marL="0" indent="0">
                        <a:buNone/>
                      </a:pPr>
                      <a:r>
                        <a:rPr lang="en-US" sz="1200" b="1" dirty="0">
                          <a:solidFill>
                            <a:srgbClr val="2E2E2E"/>
                          </a:solidFill>
                          <a:latin typeface="Calibri" pitchFamily="34" charset="0"/>
                          <a:ea typeface="Calibri" pitchFamily="34" charset="-122"/>
                          <a:cs typeface="Calibri" pitchFamily="34" charset="-120"/>
                        </a:rPr>
                        <a:t>Economic need</a:t>
                      </a:r>
                      <a:endParaRPr lang="en-US" sz="12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2E2E2E"/>
                          </a:solidFill>
                          <a:latin typeface="Calibri" pitchFamily="34" charset="0"/>
                          <a:ea typeface="Calibri" pitchFamily="34" charset="-122"/>
                          <a:cs typeface="Calibri" pitchFamily="34" charset="-120"/>
                        </a:rPr>
                        <a:t>Poverty %; SNAP households %; Median household income; Median gross rent; Median home value</a:t>
                      </a:r>
                      <a:endParaRPr lang="en-US" sz="12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85800">
                <a:tc>
                  <a:txBody>
                    <a:bodyPr/>
                    <a:lstStyle/>
                    <a:p>
                      <a:pPr marL="0" indent="0">
                        <a:buNone/>
                      </a:pPr>
                      <a:r>
                        <a:rPr lang="en-US" sz="1200" b="1" dirty="0">
                          <a:solidFill>
                            <a:srgbClr val="2E2E2E"/>
                          </a:solidFill>
                          <a:latin typeface="Calibri" pitchFamily="34" charset="0"/>
                          <a:ea typeface="Calibri" pitchFamily="34" charset="-122"/>
                          <a:cs typeface="Calibri" pitchFamily="34" charset="-120"/>
                        </a:rPr>
                        <a:t>Transport &amp; housing</a:t>
                      </a:r>
                      <a:endParaRPr lang="en-US" sz="12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2E2E2E"/>
                          </a:solidFill>
                          <a:latin typeface="Calibri" pitchFamily="34" charset="0"/>
                          <a:ea typeface="Calibri" pitchFamily="34" charset="-122"/>
                          <a:cs typeface="Calibri" pitchFamily="34" charset="-120"/>
                        </a:rPr>
                        <a:t>No-vehicle households %; Renter-occupied %; Households with children %</a:t>
                      </a:r>
                      <a:endParaRPr lang="en-US" sz="12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85800">
                <a:tc>
                  <a:txBody>
                    <a:bodyPr/>
                    <a:lstStyle/>
                    <a:p>
                      <a:pPr marL="0" indent="0">
                        <a:buNone/>
                      </a:pPr>
                      <a:r>
                        <a:rPr lang="en-US" sz="1200" b="1" dirty="0">
                          <a:solidFill>
                            <a:srgbClr val="2E2E2E"/>
                          </a:solidFill>
                          <a:latin typeface="Calibri" pitchFamily="34" charset="0"/>
                          <a:ea typeface="Calibri" pitchFamily="34" charset="-122"/>
                          <a:cs typeface="Calibri" pitchFamily="34" charset="-120"/>
                        </a:rPr>
                        <a:t>Population</a:t>
                      </a:r>
                      <a:endParaRPr lang="en-US" sz="12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2E2E2E"/>
                          </a:solidFill>
                          <a:latin typeface="Calibri" pitchFamily="34" charset="0"/>
                          <a:ea typeface="Calibri" pitchFamily="34" charset="-122"/>
                          <a:cs typeface="Calibri" pitchFamily="34" charset="-120"/>
                        </a:rPr>
                        <a:t>Age 65+ %; Foreign-born %; Hispanic/Latino %; Non-Hispanic Black %</a:t>
                      </a:r>
                      <a:endParaRPr lang="en-US" sz="12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200" b="1" dirty="0">
                          <a:solidFill>
                            <a:srgbClr val="2E2E2E"/>
                          </a:solidFill>
                          <a:latin typeface="Calibri" pitchFamily="34" charset="0"/>
                          <a:ea typeface="Calibri" pitchFamily="34" charset="-122"/>
                          <a:cs typeface="Calibri" pitchFamily="34" charset="-120"/>
                        </a:rPr>
                        <a:t>Education</a:t>
                      </a:r>
                      <a:endParaRPr lang="en-US" sz="12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2E2E2E"/>
                          </a:solidFill>
                          <a:latin typeface="Calibri" pitchFamily="34" charset="0"/>
                          <a:ea typeface="Calibri" pitchFamily="34" charset="-122"/>
                          <a:cs typeface="Calibri" pitchFamily="34" charset="-120"/>
                        </a:rPr>
                        <a:t>Bachelor's degree or higher %</a:t>
                      </a:r>
                      <a:endParaRPr lang="en-US" sz="120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Text 3"/>
          <p:cNvSpPr/>
          <p:nvPr/>
        </p:nvSpPr>
        <p:spPr>
          <a:xfrm>
            <a:off x="6583680" y="1417320"/>
            <a:ext cx="5120640" cy="365760"/>
          </a:xfrm>
          <a:prstGeom prst="rect">
            <a:avLst/>
          </a:prstGeom>
          <a:noFill/>
          <a:ln/>
        </p:spPr>
        <p:txBody>
          <a:bodyPr wrap="square" rtlCol="0" anchor="ctr"/>
          <a:lstStyle/>
          <a:p>
            <a:pPr marL="0" indent="0">
              <a:buNone/>
            </a:pPr>
            <a:r>
              <a:rPr lang="en-US" sz="1500" b="1" dirty="0">
                <a:solidFill>
                  <a:srgbClr val="2C5F2D"/>
                </a:solidFill>
                <a:latin typeface="Calibri" pitchFamily="34" charset="0"/>
                <a:ea typeface="Calibri" pitchFamily="34" charset="-122"/>
                <a:cs typeface="Calibri" pitchFamily="34" charset="-120"/>
              </a:rPr>
              <a:t>Matching ACS to the PLACES tracts</a:t>
            </a:r>
            <a:endParaRPr lang="en-US" sz="1500" dirty="0"/>
          </a:p>
        </p:txBody>
      </p:sp>
      <p:sp>
        <p:nvSpPr>
          <p:cNvPr id="7" name="Shape 4"/>
          <p:cNvSpPr/>
          <p:nvPr/>
        </p:nvSpPr>
        <p:spPr>
          <a:xfrm>
            <a:off x="6583680" y="1828800"/>
            <a:ext cx="2468880" cy="1554480"/>
          </a:xfrm>
          <a:prstGeom prst="rect">
            <a:avLst/>
          </a:prstGeom>
          <a:solidFill>
            <a:srgbClr val="C98A2B"/>
          </a:solidFill>
          <a:ln/>
        </p:spPr>
        <p:txBody>
          <a:bodyPr/>
          <a:lstStyle/>
          <a:p>
            <a:endParaRPr lang="en-US"/>
          </a:p>
        </p:txBody>
      </p:sp>
      <p:sp>
        <p:nvSpPr>
          <p:cNvPr id="8" name="Text 5"/>
          <p:cNvSpPr/>
          <p:nvPr/>
        </p:nvSpPr>
        <p:spPr>
          <a:xfrm>
            <a:off x="6583680" y="1920240"/>
            <a:ext cx="2468880" cy="731520"/>
          </a:xfrm>
          <a:prstGeom prst="rect">
            <a:avLst/>
          </a:prstGeom>
          <a:noFill/>
          <a:ln/>
        </p:spPr>
        <p:txBody>
          <a:bodyPr wrap="square"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430 / 516</a:t>
            </a:r>
            <a:endParaRPr lang="en-US" sz="3000" dirty="0"/>
          </a:p>
        </p:txBody>
      </p:sp>
      <p:sp>
        <p:nvSpPr>
          <p:cNvPr id="9" name="Text 6"/>
          <p:cNvSpPr/>
          <p:nvPr/>
        </p:nvSpPr>
        <p:spPr>
          <a:xfrm>
            <a:off x="6583680" y="2651760"/>
            <a:ext cx="2468880" cy="640080"/>
          </a:xfrm>
          <a:prstGeom prst="rect">
            <a:avLst/>
          </a:prstGeom>
          <a:noFill/>
          <a:ln/>
        </p:spPr>
        <p:txBody>
          <a:bodyPr wrap="square"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tracts matched</a:t>
            </a:r>
            <a:endParaRPr lang="en-US" sz="1300" dirty="0"/>
          </a:p>
          <a:p>
            <a:pPr marL="0" indent="0" algn="ctr">
              <a:buNone/>
            </a:pPr>
            <a:r>
              <a:rPr lang="en-US" sz="1300" dirty="0">
                <a:solidFill>
                  <a:srgbClr val="FFFFFF"/>
                </a:solidFill>
                <a:latin typeface="Calibri" pitchFamily="34" charset="0"/>
                <a:ea typeface="Calibri" pitchFamily="34" charset="-122"/>
                <a:cs typeface="Calibri" pitchFamily="34" charset="-120"/>
              </a:rPr>
              <a:t>ACS 2023 5-year</a:t>
            </a:r>
            <a:endParaRPr lang="en-US" sz="1300" dirty="0"/>
          </a:p>
        </p:txBody>
      </p:sp>
      <p:sp>
        <p:nvSpPr>
          <p:cNvPr id="10" name="Shape 7"/>
          <p:cNvSpPr/>
          <p:nvPr/>
        </p:nvSpPr>
        <p:spPr>
          <a:xfrm>
            <a:off x="9235440" y="1828800"/>
            <a:ext cx="2468880" cy="1554480"/>
          </a:xfrm>
          <a:prstGeom prst="rect">
            <a:avLst/>
          </a:prstGeom>
          <a:solidFill>
            <a:srgbClr val="2C5F2D"/>
          </a:solidFill>
          <a:ln/>
        </p:spPr>
        <p:txBody>
          <a:bodyPr/>
          <a:lstStyle/>
          <a:p>
            <a:endParaRPr lang="en-US"/>
          </a:p>
        </p:txBody>
      </p:sp>
      <p:sp>
        <p:nvSpPr>
          <p:cNvPr id="11" name="Text 8"/>
          <p:cNvSpPr/>
          <p:nvPr/>
        </p:nvSpPr>
        <p:spPr>
          <a:xfrm>
            <a:off x="9235440" y="1920240"/>
            <a:ext cx="2468880" cy="731520"/>
          </a:xfrm>
          <a:prstGeom prst="rect">
            <a:avLst/>
          </a:prstGeom>
          <a:noFill/>
          <a:ln/>
        </p:spPr>
        <p:txBody>
          <a:bodyPr wrap="square"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516 / 516</a:t>
            </a:r>
            <a:endParaRPr lang="en-US" sz="3000" dirty="0"/>
          </a:p>
        </p:txBody>
      </p:sp>
      <p:sp>
        <p:nvSpPr>
          <p:cNvPr id="12" name="Text 9"/>
          <p:cNvSpPr/>
          <p:nvPr/>
        </p:nvSpPr>
        <p:spPr>
          <a:xfrm>
            <a:off x="9235440" y="2651760"/>
            <a:ext cx="2468880" cy="640080"/>
          </a:xfrm>
          <a:prstGeom prst="rect">
            <a:avLst/>
          </a:prstGeom>
          <a:noFill/>
          <a:ln/>
        </p:spPr>
        <p:txBody>
          <a:bodyPr wrap="square"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tracts matched</a:t>
            </a:r>
            <a:endParaRPr lang="en-US" sz="1300" dirty="0"/>
          </a:p>
          <a:p>
            <a:pPr marL="0" indent="0" algn="ctr">
              <a:buNone/>
            </a:pPr>
            <a:r>
              <a:rPr lang="en-US" sz="1300" dirty="0">
                <a:solidFill>
                  <a:srgbClr val="FFFFFF"/>
                </a:solidFill>
                <a:latin typeface="Calibri" pitchFamily="34" charset="0"/>
                <a:ea typeface="Calibri" pitchFamily="34" charset="-122"/>
                <a:cs typeface="Calibri" pitchFamily="34" charset="-120"/>
              </a:rPr>
              <a:t>ACS 2019 5-year</a:t>
            </a:r>
            <a:endParaRPr lang="en-US" sz="1300" dirty="0"/>
          </a:p>
        </p:txBody>
      </p:sp>
      <p:sp>
        <p:nvSpPr>
          <p:cNvPr id="13" name="Text 10"/>
          <p:cNvSpPr/>
          <p:nvPr/>
        </p:nvSpPr>
        <p:spPr>
          <a:xfrm>
            <a:off x="6583680" y="3611880"/>
            <a:ext cx="5120640" cy="2468880"/>
          </a:xfrm>
          <a:prstGeom prst="rect">
            <a:avLst/>
          </a:prstGeom>
          <a:noFill/>
          <a:ln/>
        </p:spPr>
        <p:txBody>
          <a:bodyPr wrap="square" rtlCol="0" anchor="t"/>
          <a:lstStyle/>
          <a:p>
            <a:pPr marL="342900" indent="-342900">
              <a:spcAft>
                <a:spcPts val="800"/>
              </a:spcAft>
              <a:buSzPct val="100000"/>
              <a:buChar char="•"/>
            </a:pPr>
            <a:r>
              <a:rPr lang="en-US" sz="1300" dirty="0">
                <a:solidFill>
                  <a:srgbClr val="2E2E2E"/>
                </a:solidFill>
                <a:latin typeface="Calibri" pitchFamily="34" charset="0"/>
                <a:ea typeface="Calibri" pitchFamily="34" charset="-122"/>
                <a:cs typeface="Calibri" pitchFamily="34" charset="-120"/>
              </a:rPr>
              <a:t>Likely cause of the mismatch: census tract boundary vintage — the newer ACS release uses different tract IDs than the PLACES file.</a:t>
            </a:r>
            <a:endParaRPr lang="en-US" sz="1300" dirty="0"/>
          </a:p>
          <a:p>
            <a:pPr marL="342900" indent="-342900">
              <a:spcAft>
                <a:spcPts val="800"/>
              </a:spcAft>
              <a:buSzPct val="100000"/>
              <a:buChar char="•"/>
            </a:pPr>
            <a:r>
              <a:rPr lang="en-US" sz="1300" dirty="0">
                <a:solidFill>
                  <a:srgbClr val="2E2E2E"/>
                </a:solidFill>
                <a:latin typeface="Calibri" pitchFamily="34" charset="0"/>
                <a:ea typeface="Calibri" pitchFamily="34" charset="-122"/>
                <a:cs typeface="Calibri" pitchFamily="34" charset="-120"/>
              </a:rPr>
              <a:t>Decision: use 2019 ACS (2015–2019) for the working dataset, since it matches every PLACES tract.</a:t>
            </a:r>
            <a:endParaRPr lang="en-US" sz="1300" dirty="0"/>
          </a:p>
          <a:p>
            <a:pPr marL="342900" indent="-342900">
              <a:spcAft>
                <a:spcPts val="800"/>
              </a:spcAft>
              <a:buSzPct val="100000"/>
              <a:buChar char="•"/>
            </a:pPr>
            <a:r>
              <a:rPr lang="en-US" sz="1300" dirty="0">
                <a:solidFill>
                  <a:srgbClr val="2E2E2E"/>
                </a:solidFill>
                <a:latin typeface="Calibri" pitchFamily="34" charset="0"/>
                <a:ea typeface="Calibri" pitchFamily="34" charset="-122"/>
                <a:cs typeface="Calibri" pitchFamily="34" charset="-120"/>
              </a:rPr>
              <a:t>Limitation to document: ACS and PLACES do not cover exactly the same reference period.</a:t>
            </a:r>
            <a:endParaRPr lang="en-US" sz="1300" dirty="0"/>
          </a:p>
        </p:txBody>
      </p:sp>
      <p:sp>
        <p:nvSpPr>
          <p:cNvPr id="14" name="Text 11"/>
          <p:cNvSpPr/>
          <p:nvPr/>
        </p:nvSpPr>
        <p:spPr>
          <a:xfrm>
            <a:off x="365760" y="6537960"/>
            <a:ext cx="7315200" cy="274320"/>
          </a:xfrm>
          <a:prstGeom prst="rect">
            <a:avLst/>
          </a:prstGeom>
          <a:noFill/>
          <a:ln/>
        </p:spPr>
        <p:txBody>
          <a:bodyPr wrap="square" rtlCol="0" anchor="ctr"/>
          <a:lstStyle/>
          <a:p>
            <a:pPr marL="0" indent="0">
              <a:buNone/>
            </a:pPr>
            <a:r>
              <a:rPr lang="en-US" sz="1000" i="1" dirty="0">
                <a:solidFill>
                  <a:srgbClr val="6B6B6B"/>
                </a:solidFill>
                <a:latin typeface="Calibri" pitchFamily="34" charset="0"/>
                <a:ea typeface="Calibri" pitchFamily="34" charset="-122"/>
                <a:cs typeface="Calibri" pitchFamily="34" charset="-120"/>
              </a:rPr>
              <a:t>Decision Dashboard for Urban Food Production — Weekly Progress</a:t>
            </a:r>
            <a:endParaRPr lang="en-US" sz="1000" dirty="0"/>
          </a:p>
        </p:txBody>
      </p:sp>
      <p:sp>
        <p:nvSpPr>
          <p:cNvPr id="15" name="Text 12"/>
          <p:cNvSpPr/>
          <p:nvPr/>
        </p:nvSpPr>
        <p:spPr>
          <a:xfrm>
            <a:off x="11521440" y="6537960"/>
            <a:ext cx="36576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2800" dirty="0">
                <a:solidFill>
                  <a:srgbClr val="2E2E2E"/>
                </a:solidFill>
                <a:latin typeface="Cambria" pitchFamily="34" charset="0"/>
                <a:ea typeface="Cambria" pitchFamily="34" charset="-122"/>
                <a:cs typeface="Cambria" pitchFamily="34" charset="-120"/>
              </a:rPr>
              <a:t>Data Cleaning and Integration</a:t>
            </a:r>
            <a:endParaRPr lang="en-US" sz="2800" dirty="0"/>
          </a:p>
        </p:txBody>
      </p:sp>
      <p:sp>
        <p:nvSpPr>
          <p:cNvPr id="3" name="Text 1"/>
          <p:cNvSpPr/>
          <p:nvPr/>
        </p:nvSpPr>
        <p:spPr>
          <a:xfrm>
            <a:off x="457200" y="914400"/>
            <a:ext cx="11247120" cy="365760"/>
          </a:xfrm>
          <a:prstGeom prst="rect">
            <a:avLst/>
          </a:prstGeom>
          <a:noFill/>
          <a:ln/>
        </p:spPr>
        <p:txBody>
          <a:bodyPr wrap="square" rtlCol="0" anchor="ctr"/>
          <a:lstStyle/>
          <a:p>
            <a:pPr marL="0" indent="0">
              <a:buNone/>
            </a:pPr>
            <a:r>
              <a:rPr lang="en-US" sz="1400" i="1" dirty="0">
                <a:solidFill>
                  <a:srgbClr val="6B6B6B"/>
                </a:solidFill>
                <a:latin typeface="Calibri" pitchFamily="34" charset="0"/>
                <a:ea typeface="Calibri" pitchFamily="34" charset="-122"/>
                <a:cs typeface="Calibri" pitchFamily="34" charset="-120"/>
              </a:rPr>
              <a:t>From two sources to one validated 516-tract dataset</a:t>
            </a:r>
            <a:endParaRPr lang="en-US" sz="1400" dirty="0"/>
          </a:p>
        </p:txBody>
      </p:sp>
      <p:sp>
        <p:nvSpPr>
          <p:cNvPr id="4" name="Shape 2"/>
          <p:cNvSpPr/>
          <p:nvPr/>
        </p:nvSpPr>
        <p:spPr>
          <a:xfrm>
            <a:off x="457200" y="1463040"/>
            <a:ext cx="2560320" cy="1920240"/>
          </a:xfrm>
          <a:prstGeom prst="rect">
            <a:avLst/>
          </a:prstGeom>
          <a:solidFill>
            <a:srgbClr val="2C5F2D"/>
          </a:solidFill>
          <a:ln/>
        </p:spPr>
        <p:txBody>
          <a:bodyPr/>
          <a:lstStyle/>
          <a:p>
            <a:endParaRPr lang="en-US"/>
          </a:p>
        </p:txBody>
      </p:sp>
      <p:sp>
        <p:nvSpPr>
          <p:cNvPr id="5" name="Text 3"/>
          <p:cNvSpPr/>
          <p:nvPr/>
        </p:nvSpPr>
        <p:spPr>
          <a:xfrm>
            <a:off x="548640" y="1508760"/>
            <a:ext cx="237744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CDC PLACES health data</a:t>
            </a:r>
            <a:endParaRPr lang="en-US" sz="1400" dirty="0"/>
          </a:p>
        </p:txBody>
      </p:sp>
      <p:sp>
        <p:nvSpPr>
          <p:cNvPr id="6" name="Text 4"/>
          <p:cNvSpPr/>
          <p:nvPr/>
        </p:nvSpPr>
        <p:spPr>
          <a:xfrm>
            <a:off x="548640" y="2011680"/>
            <a:ext cx="2377440" cy="1280160"/>
          </a:xfrm>
          <a:prstGeom prst="rect">
            <a:avLst/>
          </a:prstGeom>
          <a:noFill/>
          <a:ln/>
        </p:spPr>
        <p:txBody>
          <a:bodyPr wrap="square"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516 tracts, 3 indicators</a:t>
            </a:r>
            <a:endParaRPr lang="en-US" sz="1200" dirty="0"/>
          </a:p>
          <a:p>
            <a:pPr marL="0" indent="0" algn="ctr">
              <a:buNone/>
            </a:pPr>
            <a:r>
              <a:rPr lang="en-US" sz="1200" dirty="0">
                <a:solidFill>
                  <a:srgbClr val="FFFFFF"/>
                </a:solidFill>
                <a:latin typeface="Calibri" pitchFamily="34" charset="0"/>
                <a:ea typeface="Calibri" pitchFamily="34" charset="-122"/>
                <a:cs typeface="Calibri" pitchFamily="34" charset="-120"/>
              </a:rPr>
              <a:t>+</a:t>
            </a:r>
            <a:endParaRPr lang="en-US" sz="1200" dirty="0"/>
          </a:p>
          <a:p>
            <a:pPr marL="0" indent="0" algn="ctr">
              <a:buNone/>
            </a:pPr>
            <a:r>
              <a:rPr lang="en-US" sz="1200" dirty="0">
                <a:solidFill>
                  <a:srgbClr val="FFFFFF"/>
                </a:solidFill>
                <a:latin typeface="Calibri" pitchFamily="34" charset="0"/>
                <a:ea typeface="Calibri" pitchFamily="34" charset="-122"/>
                <a:cs typeface="Calibri" pitchFamily="34" charset="-120"/>
              </a:rPr>
              <a:t>ACS 2019 candidate data</a:t>
            </a:r>
            <a:endParaRPr lang="en-US" sz="1200" dirty="0"/>
          </a:p>
          <a:p>
            <a:pPr marL="0" indent="0" algn="ctr">
              <a:buNone/>
            </a:pPr>
            <a:r>
              <a:rPr lang="en-US" sz="1200" dirty="0">
                <a:solidFill>
                  <a:srgbClr val="FFFFFF"/>
                </a:solidFill>
                <a:latin typeface="Calibri" pitchFamily="34" charset="0"/>
                <a:ea typeface="Calibri" pitchFamily="34" charset="-122"/>
                <a:cs typeface="Calibri" pitchFamily="34" charset="-120"/>
              </a:rPr>
              <a:t>13 variables</a:t>
            </a:r>
            <a:endParaRPr lang="en-US" sz="1200" dirty="0"/>
          </a:p>
        </p:txBody>
      </p:sp>
      <p:sp>
        <p:nvSpPr>
          <p:cNvPr id="7" name="Shape 5"/>
          <p:cNvSpPr/>
          <p:nvPr/>
        </p:nvSpPr>
        <p:spPr>
          <a:xfrm>
            <a:off x="3044952" y="2194560"/>
            <a:ext cx="256032" cy="365760"/>
          </a:xfrm>
          <a:prstGeom prst="rightArrow">
            <a:avLst/>
          </a:prstGeom>
          <a:solidFill>
            <a:srgbClr val="97BC62"/>
          </a:solidFill>
          <a:ln/>
        </p:spPr>
        <p:txBody>
          <a:bodyPr/>
          <a:lstStyle/>
          <a:p>
            <a:endParaRPr lang="en-US"/>
          </a:p>
        </p:txBody>
      </p:sp>
      <p:sp>
        <p:nvSpPr>
          <p:cNvPr id="8" name="Shape 6"/>
          <p:cNvSpPr/>
          <p:nvPr/>
        </p:nvSpPr>
        <p:spPr>
          <a:xfrm>
            <a:off x="3337560" y="1463040"/>
            <a:ext cx="2560320" cy="1920240"/>
          </a:xfrm>
          <a:prstGeom prst="rect">
            <a:avLst/>
          </a:prstGeom>
          <a:solidFill>
            <a:srgbClr val="2C5F2D"/>
          </a:solidFill>
          <a:ln/>
        </p:spPr>
        <p:txBody>
          <a:bodyPr/>
          <a:lstStyle/>
          <a:p>
            <a:endParaRPr lang="en-US"/>
          </a:p>
        </p:txBody>
      </p:sp>
      <p:sp>
        <p:nvSpPr>
          <p:cNvPr id="9" name="Text 7"/>
          <p:cNvSpPr/>
          <p:nvPr/>
        </p:nvSpPr>
        <p:spPr>
          <a:xfrm>
            <a:off x="3429000" y="1508760"/>
            <a:ext cx="237744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Clean and standardize</a:t>
            </a:r>
            <a:endParaRPr lang="en-US" sz="1400" dirty="0"/>
          </a:p>
        </p:txBody>
      </p:sp>
      <p:sp>
        <p:nvSpPr>
          <p:cNvPr id="10" name="Text 8"/>
          <p:cNvSpPr/>
          <p:nvPr/>
        </p:nvSpPr>
        <p:spPr>
          <a:xfrm>
            <a:off x="3429000" y="2011680"/>
            <a:ext cx="2377440" cy="1280160"/>
          </a:xfrm>
          <a:prstGeom prst="rect">
            <a:avLst/>
          </a:prstGeom>
          <a:noFill/>
          <a:ln/>
        </p:spPr>
        <p:txBody>
          <a:bodyPr wrap="square"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Negative sentinel values (income, rent, home value) set to missing; tract ID standardized</a:t>
            </a:r>
            <a:endParaRPr lang="en-US" sz="1200" dirty="0"/>
          </a:p>
        </p:txBody>
      </p:sp>
      <p:sp>
        <p:nvSpPr>
          <p:cNvPr id="11" name="Shape 9"/>
          <p:cNvSpPr/>
          <p:nvPr/>
        </p:nvSpPr>
        <p:spPr>
          <a:xfrm>
            <a:off x="5925312" y="2194560"/>
            <a:ext cx="256032" cy="365760"/>
          </a:xfrm>
          <a:prstGeom prst="rightArrow">
            <a:avLst/>
          </a:prstGeom>
          <a:solidFill>
            <a:srgbClr val="97BC62"/>
          </a:solidFill>
          <a:ln/>
        </p:spPr>
        <p:txBody>
          <a:bodyPr/>
          <a:lstStyle/>
          <a:p>
            <a:endParaRPr lang="en-US"/>
          </a:p>
        </p:txBody>
      </p:sp>
      <p:sp>
        <p:nvSpPr>
          <p:cNvPr id="12" name="Shape 10"/>
          <p:cNvSpPr/>
          <p:nvPr/>
        </p:nvSpPr>
        <p:spPr>
          <a:xfrm>
            <a:off x="6217920" y="1463040"/>
            <a:ext cx="2560320" cy="1920240"/>
          </a:xfrm>
          <a:prstGeom prst="rect">
            <a:avLst/>
          </a:prstGeom>
          <a:solidFill>
            <a:srgbClr val="2C5F2D"/>
          </a:solidFill>
          <a:ln/>
        </p:spPr>
        <p:txBody>
          <a:bodyPr/>
          <a:lstStyle/>
          <a:p>
            <a:endParaRPr lang="en-US"/>
          </a:p>
        </p:txBody>
      </p:sp>
      <p:sp>
        <p:nvSpPr>
          <p:cNvPr id="13" name="Text 11"/>
          <p:cNvSpPr/>
          <p:nvPr/>
        </p:nvSpPr>
        <p:spPr>
          <a:xfrm>
            <a:off x="6309360" y="1508760"/>
            <a:ext cx="237744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Merge and validate</a:t>
            </a:r>
            <a:endParaRPr lang="en-US" sz="1400" dirty="0"/>
          </a:p>
        </p:txBody>
      </p:sp>
      <p:sp>
        <p:nvSpPr>
          <p:cNvPr id="14" name="Text 12"/>
          <p:cNvSpPr/>
          <p:nvPr/>
        </p:nvSpPr>
        <p:spPr>
          <a:xfrm>
            <a:off x="6309360" y="2011680"/>
            <a:ext cx="2377440" cy="1280160"/>
          </a:xfrm>
          <a:prstGeom prst="rect">
            <a:avLst/>
          </a:prstGeom>
          <a:noFill/>
          <a:ln/>
        </p:spPr>
        <p:txBody>
          <a:bodyPr wrap="square"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One-to-one merge on census tract ID</a:t>
            </a:r>
            <a:endParaRPr lang="en-US" sz="1200" dirty="0"/>
          </a:p>
        </p:txBody>
      </p:sp>
      <p:sp>
        <p:nvSpPr>
          <p:cNvPr id="15" name="Shape 13"/>
          <p:cNvSpPr/>
          <p:nvPr/>
        </p:nvSpPr>
        <p:spPr>
          <a:xfrm>
            <a:off x="8805672" y="2194560"/>
            <a:ext cx="256032" cy="365760"/>
          </a:xfrm>
          <a:prstGeom prst="rightArrow">
            <a:avLst/>
          </a:prstGeom>
          <a:solidFill>
            <a:srgbClr val="97BC62"/>
          </a:solidFill>
          <a:ln/>
        </p:spPr>
        <p:txBody>
          <a:bodyPr/>
          <a:lstStyle/>
          <a:p>
            <a:endParaRPr lang="en-US"/>
          </a:p>
        </p:txBody>
      </p:sp>
      <p:sp>
        <p:nvSpPr>
          <p:cNvPr id="16" name="Shape 14"/>
          <p:cNvSpPr/>
          <p:nvPr/>
        </p:nvSpPr>
        <p:spPr>
          <a:xfrm>
            <a:off x="9098280" y="1463040"/>
            <a:ext cx="2560320" cy="1920240"/>
          </a:xfrm>
          <a:prstGeom prst="rect">
            <a:avLst/>
          </a:prstGeom>
          <a:solidFill>
            <a:srgbClr val="C98A2B"/>
          </a:solidFill>
          <a:ln/>
        </p:spPr>
        <p:txBody>
          <a:bodyPr/>
          <a:lstStyle/>
          <a:p>
            <a:endParaRPr lang="en-US"/>
          </a:p>
        </p:txBody>
      </p:sp>
      <p:sp>
        <p:nvSpPr>
          <p:cNvPr id="17" name="Text 15"/>
          <p:cNvSpPr/>
          <p:nvPr/>
        </p:nvSpPr>
        <p:spPr>
          <a:xfrm>
            <a:off x="9189720" y="1508760"/>
            <a:ext cx="237744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Combined dataset</a:t>
            </a:r>
            <a:endParaRPr lang="en-US" sz="1400" dirty="0"/>
          </a:p>
        </p:txBody>
      </p:sp>
      <p:sp>
        <p:nvSpPr>
          <p:cNvPr id="18" name="Text 16"/>
          <p:cNvSpPr/>
          <p:nvPr/>
        </p:nvSpPr>
        <p:spPr>
          <a:xfrm>
            <a:off x="9189720" y="2011680"/>
            <a:ext cx="2377440" cy="1280160"/>
          </a:xfrm>
          <a:prstGeom prst="rect">
            <a:avLst/>
          </a:prstGeom>
          <a:noFill/>
          <a:ln/>
        </p:spPr>
        <p:txBody>
          <a:bodyPr wrap="square"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516 tracts</a:t>
            </a:r>
            <a:endParaRPr lang="en-US" sz="1200" dirty="0"/>
          </a:p>
          <a:p>
            <a:pPr marL="0" indent="0" algn="ctr">
              <a:buNone/>
            </a:pPr>
            <a:r>
              <a:rPr lang="en-US" sz="1200" dirty="0">
                <a:solidFill>
                  <a:srgbClr val="FFFFFF"/>
                </a:solidFill>
                <a:latin typeface="Calibri" pitchFamily="34" charset="0"/>
                <a:ea typeface="Calibri" pitchFamily="34" charset="-122"/>
                <a:cs typeface="Calibri" pitchFamily="34" charset="-120"/>
              </a:rPr>
              <a:t>kc_metro_combined_</a:t>
            </a:r>
            <a:endParaRPr lang="en-US" sz="1200" dirty="0"/>
          </a:p>
          <a:p>
            <a:pPr marL="0" indent="0" algn="ctr">
              <a:buNone/>
            </a:pPr>
            <a:r>
              <a:rPr lang="en-US" sz="1200" dirty="0">
                <a:solidFill>
                  <a:srgbClr val="FFFFFF"/>
                </a:solidFill>
                <a:latin typeface="Calibri" pitchFamily="34" charset="0"/>
                <a:ea typeface="Calibri" pitchFamily="34" charset="-122"/>
                <a:cs typeface="Calibri" pitchFamily="34" charset="-120"/>
              </a:rPr>
              <a:t>health_socioeconomic.csv</a:t>
            </a:r>
            <a:endParaRPr lang="en-US" sz="1200" dirty="0"/>
          </a:p>
        </p:txBody>
      </p:sp>
      <p:sp>
        <p:nvSpPr>
          <p:cNvPr id="19" name="Text 17"/>
          <p:cNvSpPr/>
          <p:nvPr/>
        </p:nvSpPr>
        <p:spPr>
          <a:xfrm>
            <a:off x="457200" y="3657600"/>
            <a:ext cx="4572000" cy="365760"/>
          </a:xfrm>
          <a:prstGeom prst="rect">
            <a:avLst/>
          </a:prstGeom>
          <a:noFill/>
          <a:ln/>
        </p:spPr>
        <p:txBody>
          <a:bodyPr wrap="square" rtlCol="0" anchor="ctr"/>
          <a:lstStyle/>
          <a:p>
            <a:pPr marL="0" indent="0">
              <a:buNone/>
            </a:pPr>
            <a:r>
              <a:rPr lang="en-US" sz="1600" b="1" dirty="0">
                <a:solidFill>
                  <a:srgbClr val="2C5F2D"/>
                </a:solidFill>
                <a:latin typeface="Calibri" pitchFamily="34" charset="0"/>
                <a:ea typeface="Calibri" pitchFamily="34" charset="-122"/>
                <a:cs typeface="Calibri" pitchFamily="34" charset="-120"/>
              </a:rPr>
              <a:t>Merge validation</a:t>
            </a:r>
            <a:endParaRPr lang="en-US" sz="1600" dirty="0"/>
          </a:p>
        </p:txBody>
      </p:sp>
      <p:sp>
        <p:nvSpPr>
          <p:cNvPr id="20" name="Shape 18"/>
          <p:cNvSpPr/>
          <p:nvPr/>
        </p:nvSpPr>
        <p:spPr>
          <a:xfrm>
            <a:off x="457200" y="4114800"/>
            <a:ext cx="1280160" cy="1371600"/>
          </a:xfrm>
          <a:prstGeom prst="rect">
            <a:avLst/>
          </a:prstGeom>
          <a:solidFill>
            <a:srgbClr val="F6F5F0"/>
          </a:solidFill>
          <a:ln w="15875">
            <a:solidFill>
              <a:srgbClr val="97BC62"/>
            </a:solidFill>
            <a:prstDash val="solid"/>
          </a:ln>
        </p:spPr>
        <p:txBody>
          <a:bodyPr/>
          <a:lstStyle/>
          <a:p>
            <a:endParaRPr lang="en-US"/>
          </a:p>
        </p:txBody>
      </p:sp>
      <p:sp>
        <p:nvSpPr>
          <p:cNvPr id="21" name="Text 19"/>
          <p:cNvSpPr/>
          <p:nvPr/>
        </p:nvSpPr>
        <p:spPr>
          <a:xfrm>
            <a:off x="457200" y="4206240"/>
            <a:ext cx="1280160" cy="640080"/>
          </a:xfrm>
          <a:prstGeom prst="rect">
            <a:avLst/>
          </a:prstGeom>
          <a:noFill/>
          <a:ln/>
        </p:spPr>
        <p:txBody>
          <a:bodyPr wrap="square" rtlCol="0" anchor="ctr"/>
          <a:lstStyle/>
          <a:p>
            <a:pPr marL="0" indent="0" algn="ctr">
              <a:buNone/>
            </a:pPr>
            <a:r>
              <a:rPr lang="en-US" sz="2800" b="1" dirty="0">
                <a:solidFill>
                  <a:srgbClr val="2C5F2D"/>
                </a:solidFill>
                <a:latin typeface="Cambria" pitchFamily="34" charset="0"/>
                <a:ea typeface="Cambria" pitchFamily="34" charset="-122"/>
                <a:cs typeface="Cambria" pitchFamily="34" charset="-120"/>
              </a:rPr>
              <a:t>516</a:t>
            </a:r>
            <a:endParaRPr lang="en-US" sz="2800" dirty="0"/>
          </a:p>
        </p:txBody>
      </p:sp>
      <p:sp>
        <p:nvSpPr>
          <p:cNvPr id="22" name="Text 20"/>
          <p:cNvSpPr/>
          <p:nvPr/>
        </p:nvSpPr>
        <p:spPr>
          <a:xfrm>
            <a:off x="457200" y="4846320"/>
            <a:ext cx="1280160" cy="457200"/>
          </a:xfrm>
          <a:prstGeom prst="rect">
            <a:avLst/>
          </a:prstGeom>
          <a:noFill/>
          <a:ln/>
        </p:spPr>
        <p:txBody>
          <a:bodyPr wrap="square" rtlCol="0" anchor="ctr"/>
          <a:lstStyle/>
          <a:p>
            <a:pPr marL="0" indent="0" algn="ctr">
              <a:buNone/>
            </a:pPr>
            <a:r>
              <a:rPr lang="en-US" sz="1200" dirty="0">
                <a:solidFill>
                  <a:srgbClr val="2E2E2E"/>
                </a:solidFill>
                <a:latin typeface="Calibri" pitchFamily="34" charset="0"/>
                <a:ea typeface="Calibri" pitchFamily="34" charset="-122"/>
                <a:cs typeface="Calibri" pitchFamily="34" charset="-120"/>
              </a:rPr>
              <a:t>records</a:t>
            </a:r>
            <a:endParaRPr lang="en-US" sz="1200" dirty="0"/>
          </a:p>
        </p:txBody>
      </p:sp>
      <p:sp>
        <p:nvSpPr>
          <p:cNvPr id="23" name="Shape 21"/>
          <p:cNvSpPr/>
          <p:nvPr/>
        </p:nvSpPr>
        <p:spPr>
          <a:xfrm>
            <a:off x="1874520" y="4114800"/>
            <a:ext cx="1280160" cy="1371600"/>
          </a:xfrm>
          <a:prstGeom prst="rect">
            <a:avLst/>
          </a:prstGeom>
          <a:solidFill>
            <a:srgbClr val="F6F5F0"/>
          </a:solidFill>
          <a:ln w="15875">
            <a:solidFill>
              <a:srgbClr val="97BC62"/>
            </a:solidFill>
            <a:prstDash val="solid"/>
          </a:ln>
        </p:spPr>
        <p:txBody>
          <a:bodyPr/>
          <a:lstStyle/>
          <a:p>
            <a:endParaRPr lang="en-US"/>
          </a:p>
        </p:txBody>
      </p:sp>
      <p:sp>
        <p:nvSpPr>
          <p:cNvPr id="24" name="Text 22"/>
          <p:cNvSpPr/>
          <p:nvPr/>
        </p:nvSpPr>
        <p:spPr>
          <a:xfrm>
            <a:off x="1874520" y="4206240"/>
            <a:ext cx="1280160" cy="640080"/>
          </a:xfrm>
          <a:prstGeom prst="rect">
            <a:avLst/>
          </a:prstGeom>
          <a:noFill/>
          <a:ln/>
        </p:spPr>
        <p:txBody>
          <a:bodyPr wrap="square" rtlCol="0" anchor="ctr"/>
          <a:lstStyle/>
          <a:p>
            <a:pPr marL="0" indent="0" algn="ctr">
              <a:buNone/>
            </a:pPr>
            <a:r>
              <a:rPr lang="en-US" sz="2800" b="1" dirty="0">
                <a:solidFill>
                  <a:srgbClr val="2C5F2D"/>
                </a:solidFill>
                <a:latin typeface="Cambria" pitchFamily="34" charset="0"/>
                <a:ea typeface="Cambria" pitchFamily="34" charset="-122"/>
                <a:cs typeface="Cambria" pitchFamily="34" charset="-120"/>
              </a:rPr>
              <a:t>516</a:t>
            </a:r>
            <a:endParaRPr lang="en-US" sz="2800" dirty="0"/>
          </a:p>
        </p:txBody>
      </p:sp>
      <p:sp>
        <p:nvSpPr>
          <p:cNvPr id="25" name="Text 23"/>
          <p:cNvSpPr/>
          <p:nvPr/>
        </p:nvSpPr>
        <p:spPr>
          <a:xfrm>
            <a:off x="1874520" y="4846320"/>
            <a:ext cx="1280160" cy="457200"/>
          </a:xfrm>
          <a:prstGeom prst="rect">
            <a:avLst/>
          </a:prstGeom>
          <a:noFill/>
          <a:ln/>
        </p:spPr>
        <p:txBody>
          <a:bodyPr wrap="square" rtlCol="0" anchor="ctr"/>
          <a:lstStyle/>
          <a:p>
            <a:pPr marL="0" indent="0" algn="ctr">
              <a:buNone/>
            </a:pPr>
            <a:r>
              <a:rPr lang="en-US" sz="1200" dirty="0">
                <a:solidFill>
                  <a:srgbClr val="2E2E2E"/>
                </a:solidFill>
                <a:latin typeface="Calibri" pitchFamily="34" charset="0"/>
                <a:ea typeface="Calibri" pitchFamily="34" charset="-122"/>
                <a:cs typeface="Calibri" pitchFamily="34" charset="-120"/>
              </a:rPr>
              <a:t>unique tracts</a:t>
            </a:r>
            <a:endParaRPr lang="en-US" sz="1200" dirty="0"/>
          </a:p>
        </p:txBody>
      </p:sp>
      <p:sp>
        <p:nvSpPr>
          <p:cNvPr id="26" name="Shape 24"/>
          <p:cNvSpPr/>
          <p:nvPr/>
        </p:nvSpPr>
        <p:spPr>
          <a:xfrm>
            <a:off x="3291840" y="4114800"/>
            <a:ext cx="1280160" cy="1371600"/>
          </a:xfrm>
          <a:prstGeom prst="rect">
            <a:avLst/>
          </a:prstGeom>
          <a:solidFill>
            <a:srgbClr val="F6F5F0"/>
          </a:solidFill>
          <a:ln w="15875">
            <a:solidFill>
              <a:srgbClr val="97BC62"/>
            </a:solidFill>
            <a:prstDash val="solid"/>
          </a:ln>
        </p:spPr>
        <p:txBody>
          <a:bodyPr/>
          <a:lstStyle/>
          <a:p>
            <a:endParaRPr lang="en-US"/>
          </a:p>
        </p:txBody>
      </p:sp>
      <p:sp>
        <p:nvSpPr>
          <p:cNvPr id="27" name="Text 25"/>
          <p:cNvSpPr/>
          <p:nvPr/>
        </p:nvSpPr>
        <p:spPr>
          <a:xfrm>
            <a:off x="3291840" y="4206240"/>
            <a:ext cx="1280160" cy="640080"/>
          </a:xfrm>
          <a:prstGeom prst="rect">
            <a:avLst/>
          </a:prstGeom>
          <a:noFill/>
          <a:ln/>
        </p:spPr>
        <p:txBody>
          <a:bodyPr wrap="square" rtlCol="0" anchor="ctr"/>
          <a:lstStyle/>
          <a:p>
            <a:pPr marL="0" indent="0" algn="ctr">
              <a:buNone/>
            </a:pPr>
            <a:r>
              <a:rPr lang="en-US" sz="2800" b="1" dirty="0">
                <a:solidFill>
                  <a:srgbClr val="2C5F2D"/>
                </a:solidFill>
                <a:latin typeface="Cambria" pitchFamily="34" charset="0"/>
                <a:ea typeface="Cambria" pitchFamily="34" charset="-122"/>
                <a:cs typeface="Cambria" pitchFamily="34" charset="-120"/>
              </a:rPr>
              <a:t>516</a:t>
            </a:r>
            <a:endParaRPr lang="en-US" sz="2800" dirty="0"/>
          </a:p>
        </p:txBody>
      </p:sp>
      <p:sp>
        <p:nvSpPr>
          <p:cNvPr id="28" name="Text 26"/>
          <p:cNvSpPr/>
          <p:nvPr/>
        </p:nvSpPr>
        <p:spPr>
          <a:xfrm>
            <a:off x="3291840" y="4846320"/>
            <a:ext cx="1280160" cy="457200"/>
          </a:xfrm>
          <a:prstGeom prst="rect">
            <a:avLst/>
          </a:prstGeom>
          <a:noFill/>
          <a:ln/>
        </p:spPr>
        <p:txBody>
          <a:bodyPr wrap="square" rtlCol="0" anchor="ctr"/>
          <a:lstStyle/>
          <a:p>
            <a:pPr marL="0" indent="0" algn="ctr">
              <a:buNone/>
            </a:pPr>
            <a:r>
              <a:rPr lang="en-US" sz="1200" dirty="0">
                <a:solidFill>
                  <a:srgbClr val="2E2E2E"/>
                </a:solidFill>
                <a:latin typeface="Calibri" pitchFamily="34" charset="0"/>
                <a:ea typeface="Calibri" pitchFamily="34" charset="-122"/>
                <a:cs typeface="Calibri" pitchFamily="34" charset="-120"/>
              </a:rPr>
              <a:t>matched</a:t>
            </a:r>
            <a:endParaRPr lang="en-US" sz="1200" dirty="0"/>
          </a:p>
        </p:txBody>
      </p:sp>
      <p:sp>
        <p:nvSpPr>
          <p:cNvPr id="29" name="Shape 27"/>
          <p:cNvSpPr/>
          <p:nvPr/>
        </p:nvSpPr>
        <p:spPr>
          <a:xfrm>
            <a:off x="4709160" y="4114800"/>
            <a:ext cx="1280160" cy="1371600"/>
          </a:xfrm>
          <a:prstGeom prst="rect">
            <a:avLst/>
          </a:prstGeom>
          <a:solidFill>
            <a:srgbClr val="F6F5F0"/>
          </a:solidFill>
          <a:ln w="15875">
            <a:solidFill>
              <a:srgbClr val="97BC62"/>
            </a:solidFill>
            <a:prstDash val="solid"/>
          </a:ln>
        </p:spPr>
        <p:txBody>
          <a:bodyPr/>
          <a:lstStyle/>
          <a:p>
            <a:endParaRPr lang="en-US"/>
          </a:p>
        </p:txBody>
      </p:sp>
      <p:sp>
        <p:nvSpPr>
          <p:cNvPr id="30" name="Text 28"/>
          <p:cNvSpPr/>
          <p:nvPr/>
        </p:nvSpPr>
        <p:spPr>
          <a:xfrm>
            <a:off x="4709160" y="4206240"/>
            <a:ext cx="1280160" cy="640080"/>
          </a:xfrm>
          <a:prstGeom prst="rect">
            <a:avLst/>
          </a:prstGeom>
          <a:noFill/>
          <a:ln/>
        </p:spPr>
        <p:txBody>
          <a:bodyPr wrap="square" rtlCol="0" anchor="ctr"/>
          <a:lstStyle/>
          <a:p>
            <a:pPr marL="0" indent="0" algn="ctr">
              <a:buNone/>
            </a:pPr>
            <a:r>
              <a:rPr lang="en-US" sz="2800" b="1" dirty="0">
                <a:solidFill>
                  <a:srgbClr val="2C5F2D"/>
                </a:solidFill>
                <a:latin typeface="Cambria" pitchFamily="34" charset="0"/>
                <a:ea typeface="Cambria" pitchFamily="34" charset="-122"/>
                <a:cs typeface="Cambria" pitchFamily="34" charset="-120"/>
              </a:rPr>
              <a:t>0</a:t>
            </a:r>
            <a:endParaRPr lang="en-US" sz="2800" dirty="0"/>
          </a:p>
        </p:txBody>
      </p:sp>
      <p:sp>
        <p:nvSpPr>
          <p:cNvPr id="31" name="Text 29"/>
          <p:cNvSpPr/>
          <p:nvPr/>
        </p:nvSpPr>
        <p:spPr>
          <a:xfrm>
            <a:off x="4709160" y="4846320"/>
            <a:ext cx="1280160" cy="457200"/>
          </a:xfrm>
          <a:prstGeom prst="rect">
            <a:avLst/>
          </a:prstGeom>
          <a:noFill/>
          <a:ln/>
        </p:spPr>
        <p:txBody>
          <a:bodyPr wrap="square" rtlCol="0" anchor="ctr"/>
          <a:lstStyle/>
          <a:p>
            <a:pPr marL="0" indent="0" algn="ctr">
              <a:buNone/>
            </a:pPr>
            <a:r>
              <a:rPr lang="en-US" sz="1200" dirty="0">
                <a:solidFill>
                  <a:srgbClr val="2E2E2E"/>
                </a:solidFill>
                <a:latin typeface="Calibri" pitchFamily="34" charset="0"/>
                <a:ea typeface="Calibri" pitchFamily="34" charset="-122"/>
                <a:cs typeface="Calibri" pitchFamily="34" charset="-120"/>
              </a:rPr>
              <a:t>unmatched</a:t>
            </a:r>
            <a:endParaRPr lang="en-US" sz="1200" dirty="0"/>
          </a:p>
        </p:txBody>
      </p:sp>
      <p:sp>
        <p:nvSpPr>
          <p:cNvPr id="32" name="Text 30"/>
          <p:cNvSpPr/>
          <p:nvPr/>
        </p:nvSpPr>
        <p:spPr>
          <a:xfrm>
            <a:off x="6309360" y="3657600"/>
            <a:ext cx="5394960" cy="365760"/>
          </a:xfrm>
          <a:prstGeom prst="rect">
            <a:avLst/>
          </a:prstGeom>
          <a:noFill/>
          <a:ln/>
        </p:spPr>
        <p:txBody>
          <a:bodyPr wrap="square" rtlCol="0" anchor="ctr"/>
          <a:lstStyle/>
          <a:p>
            <a:pPr marL="0" indent="0">
              <a:buNone/>
            </a:pPr>
            <a:r>
              <a:rPr lang="en-US" sz="1400" b="1" dirty="0">
                <a:solidFill>
                  <a:srgbClr val="2C5F2D"/>
                </a:solidFill>
                <a:latin typeface="Calibri" pitchFamily="34" charset="0"/>
                <a:ea typeface="Calibri" pitchFamily="34" charset="-122"/>
                <a:cs typeface="Calibri" pitchFamily="34" charset="-120"/>
              </a:rPr>
              <a:t>Missing values were investigated, not assumed to be zero:</a:t>
            </a:r>
            <a:endParaRPr lang="en-US" sz="1400" dirty="0"/>
          </a:p>
        </p:txBody>
      </p:sp>
      <p:sp>
        <p:nvSpPr>
          <p:cNvPr id="33" name="Text 31"/>
          <p:cNvSpPr/>
          <p:nvPr/>
        </p:nvSpPr>
        <p:spPr>
          <a:xfrm>
            <a:off x="6309360" y="4069080"/>
            <a:ext cx="5394960" cy="2103120"/>
          </a:xfrm>
          <a:prstGeom prst="rect">
            <a:avLst/>
          </a:prstGeom>
          <a:noFill/>
          <a:ln/>
        </p:spPr>
        <p:txBody>
          <a:bodyPr wrap="square" rtlCol="0" anchor="t"/>
          <a:lstStyle/>
          <a:p>
            <a:pPr marL="342900" indent="-342900">
              <a:spcAft>
                <a:spcPts val="600"/>
              </a:spcAft>
              <a:buSzPct val="100000"/>
              <a:buChar char="•"/>
            </a:pPr>
            <a:r>
              <a:rPr lang="en-US" sz="1300" dirty="0">
                <a:solidFill>
                  <a:srgbClr val="2E2E2E"/>
                </a:solidFill>
                <a:latin typeface="Calibri" pitchFamily="34" charset="0"/>
                <a:ea typeface="Calibri" pitchFamily="34" charset="-122"/>
                <a:cs typeface="Calibri" pitchFamily="34" charset="-120"/>
              </a:rPr>
              <a:t>1 tract has zero denominators — its percentage variables and median income stay missing</a:t>
            </a:r>
            <a:endParaRPr lang="en-US" sz="1300" dirty="0"/>
          </a:p>
          <a:p>
            <a:pPr marL="342900" indent="-342900">
              <a:spcAft>
                <a:spcPts val="600"/>
              </a:spcAft>
              <a:buSzPct val="100000"/>
              <a:buChar char="•"/>
            </a:pPr>
            <a:r>
              <a:rPr lang="en-US" sz="1300" dirty="0">
                <a:solidFill>
                  <a:srgbClr val="2E2E2E"/>
                </a:solidFill>
                <a:latin typeface="Calibri" pitchFamily="34" charset="0"/>
                <a:ea typeface="Calibri" pitchFamily="34" charset="-122"/>
                <a:cs typeface="Calibri" pitchFamily="34" charset="-120"/>
              </a:rPr>
              <a:t>Median gross rent: 17 tracts missing; median home value: 4 tracts missing</a:t>
            </a:r>
            <a:endParaRPr lang="en-US" sz="1300" dirty="0"/>
          </a:p>
          <a:p>
            <a:pPr marL="342900" indent="-342900">
              <a:spcAft>
                <a:spcPts val="600"/>
              </a:spcAft>
              <a:buSzPct val="100000"/>
              <a:buChar char="•"/>
            </a:pPr>
            <a:r>
              <a:rPr lang="en-US" sz="1300" dirty="0">
                <a:solidFill>
                  <a:srgbClr val="2E2E2E"/>
                </a:solidFill>
                <a:latin typeface="Calibri" pitchFamily="34" charset="0"/>
                <a:ea typeface="Calibri" pitchFamily="34" charset="-122"/>
                <a:cs typeface="Calibri" pitchFamily="34" charset="-120"/>
              </a:rPr>
              <a:t>No imputation or removal yet — handling decided once the final variables are chosen</a:t>
            </a:r>
            <a:endParaRPr lang="en-US" sz="1300" dirty="0"/>
          </a:p>
        </p:txBody>
      </p:sp>
      <p:sp>
        <p:nvSpPr>
          <p:cNvPr id="34" name="Text 32"/>
          <p:cNvSpPr/>
          <p:nvPr/>
        </p:nvSpPr>
        <p:spPr>
          <a:xfrm>
            <a:off x="365760" y="6537960"/>
            <a:ext cx="7315200" cy="274320"/>
          </a:xfrm>
          <a:prstGeom prst="rect">
            <a:avLst/>
          </a:prstGeom>
          <a:noFill/>
          <a:ln/>
        </p:spPr>
        <p:txBody>
          <a:bodyPr wrap="square" rtlCol="0" anchor="ctr"/>
          <a:lstStyle/>
          <a:p>
            <a:pPr marL="0" indent="0">
              <a:buNone/>
            </a:pPr>
            <a:r>
              <a:rPr lang="en-US" sz="1000" i="1" dirty="0">
                <a:solidFill>
                  <a:srgbClr val="6B6B6B"/>
                </a:solidFill>
                <a:latin typeface="Calibri" pitchFamily="34" charset="0"/>
                <a:ea typeface="Calibri" pitchFamily="34" charset="-122"/>
                <a:cs typeface="Calibri" pitchFamily="34" charset="-120"/>
              </a:rPr>
              <a:t>Decision Dashboard for Urban Food Production — Weekly Progress</a:t>
            </a:r>
            <a:endParaRPr lang="en-US" sz="1000" dirty="0"/>
          </a:p>
        </p:txBody>
      </p:sp>
      <p:sp>
        <p:nvSpPr>
          <p:cNvPr id="35" name="Text 33"/>
          <p:cNvSpPr/>
          <p:nvPr/>
        </p:nvSpPr>
        <p:spPr>
          <a:xfrm>
            <a:off x="11521440" y="6537960"/>
            <a:ext cx="36576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2800" dirty="0">
                <a:solidFill>
                  <a:srgbClr val="2E2E2E"/>
                </a:solidFill>
                <a:latin typeface="Cambria" pitchFamily="34" charset="0"/>
                <a:ea typeface="Cambria" pitchFamily="34" charset="-122"/>
                <a:cs typeface="Cambria" pitchFamily="34" charset="-120"/>
              </a:rPr>
              <a:t>Exploratory Analysis — Health Indicators</a:t>
            </a:r>
            <a:endParaRPr lang="en-US" sz="2800" dirty="0"/>
          </a:p>
        </p:txBody>
      </p:sp>
      <p:pic>
        <p:nvPicPr>
          <p:cNvPr id="3" name="Image 0" descr="/home/claude/pptx_wk4/obesity.png"/>
          <p:cNvPicPr>
            <a:picLocks noChangeAspect="1"/>
          </p:cNvPicPr>
          <p:nvPr/>
        </p:nvPicPr>
        <p:blipFill>
          <a:blip r:embed="rId3"/>
          <a:stretch>
            <a:fillRect/>
          </a:stretch>
        </p:blipFill>
        <p:spPr>
          <a:xfrm>
            <a:off x="457200" y="1188720"/>
            <a:ext cx="3657600" cy="2743200"/>
          </a:xfrm>
          <a:prstGeom prst="rect">
            <a:avLst/>
          </a:prstGeom>
        </p:spPr>
      </p:pic>
      <p:sp>
        <p:nvSpPr>
          <p:cNvPr id="4" name="Text 1"/>
          <p:cNvSpPr/>
          <p:nvPr/>
        </p:nvSpPr>
        <p:spPr>
          <a:xfrm>
            <a:off x="457200" y="4023360"/>
            <a:ext cx="3657600" cy="1005840"/>
          </a:xfrm>
          <a:prstGeom prst="rect">
            <a:avLst/>
          </a:prstGeom>
          <a:noFill/>
          <a:ln/>
        </p:spPr>
        <p:txBody>
          <a:bodyPr wrap="square" rtlCol="0" anchor="t"/>
          <a:lstStyle/>
          <a:p>
            <a:pPr marL="0" indent="0">
              <a:buNone/>
            </a:pPr>
            <a:r>
              <a:rPr lang="en-US" sz="1250" dirty="0">
                <a:solidFill>
                  <a:srgbClr val="2E2E2E"/>
                </a:solidFill>
                <a:latin typeface="Calibri" pitchFamily="34" charset="0"/>
                <a:ea typeface="Calibri" pitchFamily="34" charset="-122"/>
                <a:cs typeface="Calibri" pitchFamily="34" charset="-120"/>
              </a:rPr>
              <a:t>Obesity: mean 37.9% (range 25.5–57.1). Most tracts fall between the mid-30s and about 40%.</a:t>
            </a:r>
            <a:endParaRPr lang="en-US" sz="1250" dirty="0"/>
          </a:p>
        </p:txBody>
      </p:sp>
      <p:pic>
        <p:nvPicPr>
          <p:cNvPr id="5" name="Image 1" descr="/home/claude/pptx_wk4/diabetes.png"/>
          <p:cNvPicPr>
            <a:picLocks noChangeAspect="1"/>
          </p:cNvPicPr>
          <p:nvPr/>
        </p:nvPicPr>
        <p:blipFill>
          <a:blip r:embed="rId4"/>
          <a:stretch>
            <a:fillRect/>
          </a:stretch>
        </p:blipFill>
        <p:spPr>
          <a:xfrm>
            <a:off x="4270248" y="1188720"/>
            <a:ext cx="3657600" cy="2743200"/>
          </a:xfrm>
          <a:prstGeom prst="rect">
            <a:avLst/>
          </a:prstGeom>
        </p:spPr>
      </p:pic>
      <p:sp>
        <p:nvSpPr>
          <p:cNvPr id="6" name="Text 2"/>
          <p:cNvSpPr/>
          <p:nvPr/>
        </p:nvSpPr>
        <p:spPr>
          <a:xfrm>
            <a:off x="4270248" y="4023360"/>
            <a:ext cx="3657600" cy="1005840"/>
          </a:xfrm>
          <a:prstGeom prst="rect">
            <a:avLst/>
          </a:prstGeom>
          <a:noFill/>
          <a:ln/>
        </p:spPr>
        <p:txBody>
          <a:bodyPr wrap="square" rtlCol="0" anchor="t"/>
          <a:lstStyle/>
          <a:p>
            <a:pPr marL="0" indent="0">
              <a:buNone/>
            </a:pPr>
            <a:r>
              <a:rPr lang="en-US" sz="1250" dirty="0">
                <a:solidFill>
                  <a:srgbClr val="2E2E2E"/>
                </a:solidFill>
                <a:latin typeface="Calibri" pitchFamily="34" charset="0"/>
                <a:ea typeface="Calibri" pitchFamily="34" charset="-122"/>
                <a:cs typeface="Calibri" pitchFamily="34" charset="-120"/>
              </a:rPr>
              <a:t>Diabetes: mean 11.1% (range 3.7–32.3). Right-skewed — most tracts below about 15%, a few much higher.</a:t>
            </a:r>
            <a:endParaRPr lang="en-US" sz="1250" dirty="0"/>
          </a:p>
        </p:txBody>
      </p:sp>
      <p:pic>
        <p:nvPicPr>
          <p:cNvPr id="7" name="Image 2" descr="/home/claude/pptx_wk4/bphigh.png"/>
          <p:cNvPicPr>
            <a:picLocks noChangeAspect="1"/>
          </p:cNvPicPr>
          <p:nvPr/>
        </p:nvPicPr>
        <p:blipFill>
          <a:blip r:embed="rId5"/>
          <a:stretch>
            <a:fillRect/>
          </a:stretch>
        </p:blipFill>
        <p:spPr>
          <a:xfrm>
            <a:off x="8083296" y="1188720"/>
            <a:ext cx="3657600" cy="2743200"/>
          </a:xfrm>
          <a:prstGeom prst="rect">
            <a:avLst/>
          </a:prstGeom>
        </p:spPr>
      </p:pic>
      <p:sp>
        <p:nvSpPr>
          <p:cNvPr id="8" name="Text 3"/>
          <p:cNvSpPr/>
          <p:nvPr/>
        </p:nvSpPr>
        <p:spPr>
          <a:xfrm>
            <a:off x="8083296" y="4023360"/>
            <a:ext cx="3657600" cy="1005840"/>
          </a:xfrm>
          <a:prstGeom prst="rect">
            <a:avLst/>
          </a:prstGeom>
          <a:noFill/>
          <a:ln/>
        </p:spPr>
        <p:txBody>
          <a:bodyPr wrap="square" rtlCol="0" anchor="t"/>
          <a:lstStyle/>
          <a:p>
            <a:pPr marL="0" indent="0">
              <a:buNone/>
            </a:pPr>
            <a:r>
              <a:rPr lang="en-US" sz="1250" dirty="0">
                <a:solidFill>
                  <a:srgbClr val="2E2E2E"/>
                </a:solidFill>
                <a:latin typeface="Calibri" pitchFamily="34" charset="0"/>
                <a:ea typeface="Calibri" pitchFamily="34" charset="-122"/>
                <a:cs typeface="Calibri" pitchFamily="34" charset="-120"/>
              </a:rPr>
              <a:t>High blood pressure: mean 33.6% (range 17.5–59.8). Concentrated around 30–37%, with a modest tail to higher values.</a:t>
            </a:r>
            <a:endParaRPr lang="en-US" sz="1250" dirty="0"/>
          </a:p>
        </p:txBody>
      </p:sp>
      <p:sp>
        <p:nvSpPr>
          <p:cNvPr id="9" name="Text 4"/>
          <p:cNvSpPr/>
          <p:nvPr/>
        </p:nvSpPr>
        <p:spPr>
          <a:xfrm>
            <a:off x="457200" y="5760720"/>
            <a:ext cx="11247120" cy="594360"/>
          </a:xfrm>
          <a:prstGeom prst="rect">
            <a:avLst/>
          </a:prstGeom>
          <a:noFill/>
          <a:ln/>
        </p:spPr>
        <p:txBody>
          <a:bodyPr wrap="square" rtlCol="0" anchor="ctr"/>
          <a:lstStyle/>
          <a:p>
            <a:pPr marL="0" indent="0">
              <a:buNone/>
            </a:pPr>
            <a:r>
              <a:rPr lang="en-US" sz="1200" i="1" dirty="0">
                <a:solidFill>
                  <a:srgbClr val="6B6B6B"/>
                </a:solidFill>
                <a:latin typeface="Calibri" pitchFamily="34" charset="0"/>
                <a:ea typeface="Calibri" pitchFamily="34" charset="-122"/>
                <a:cs typeface="Calibri" pitchFamily="34" charset="-120"/>
              </a:rPr>
              <a:t>Distributions across the 516 census tracts (unweighted). Descriptive only — not population-weighted metro averages and not yet mapped.</a:t>
            </a:r>
            <a:endParaRPr lang="en-US" sz="1200" dirty="0"/>
          </a:p>
        </p:txBody>
      </p:sp>
      <p:sp>
        <p:nvSpPr>
          <p:cNvPr id="10" name="Text 5"/>
          <p:cNvSpPr/>
          <p:nvPr/>
        </p:nvSpPr>
        <p:spPr>
          <a:xfrm>
            <a:off x="365760" y="6537960"/>
            <a:ext cx="7315200" cy="274320"/>
          </a:xfrm>
          <a:prstGeom prst="rect">
            <a:avLst/>
          </a:prstGeom>
          <a:noFill/>
          <a:ln/>
        </p:spPr>
        <p:txBody>
          <a:bodyPr wrap="square" rtlCol="0" anchor="ctr"/>
          <a:lstStyle/>
          <a:p>
            <a:pPr marL="0" indent="0">
              <a:buNone/>
            </a:pPr>
            <a:r>
              <a:rPr lang="en-US" sz="1000" i="1" dirty="0">
                <a:solidFill>
                  <a:srgbClr val="6B6B6B"/>
                </a:solidFill>
                <a:latin typeface="Calibri" pitchFamily="34" charset="0"/>
                <a:ea typeface="Calibri" pitchFamily="34" charset="-122"/>
                <a:cs typeface="Calibri" pitchFamily="34" charset="-120"/>
              </a:rPr>
              <a:t>Decision Dashboard for Urban Food Production — Weekly Progress</a:t>
            </a:r>
            <a:endParaRPr lang="en-US" sz="1000" dirty="0"/>
          </a:p>
        </p:txBody>
      </p:sp>
      <p:sp>
        <p:nvSpPr>
          <p:cNvPr id="11" name="Text 6"/>
          <p:cNvSpPr/>
          <p:nvPr/>
        </p:nvSpPr>
        <p:spPr>
          <a:xfrm>
            <a:off x="11521440" y="6537960"/>
            <a:ext cx="36576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2800" dirty="0">
                <a:solidFill>
                  <a:srgbClr val="2E2E2E"/>
                </a:solidFill>
                <a:latin typeface="Cambria" pitchFamily="34" charset="0"/>
                <a:ea typeface="Cambria" pitchFamily="34" charset="-122"/>
                <a:cs typeface="Cambria" pitchFamily="34" charset="-120"/>
              </a:rPr>
              <a:t>Exploratory Analysis — Socioeconomic Indicators</a:t>
            </a:r>
            <a:endParaRPr lang="en-US" sz="2800" dirty="0"/>
          </a:p>
        </p:txBody>
      </p:sp>
      <p:pic>
        <p:nvPicPr>
          <p:cNvPr id="3" name="Image 0" descr="/home/claude/pptx_wk4/poverty.png"/>
          <p:cNvPicPr>
            <a:picLocks noChangeAspect="1"/>
          </p:cNvPicPr>
          <p:nvPr/>
        </p:nvPicPr>
        <p:blipFill>
          <a:blip r:embed="rId3"/>
          <a:stretch>
            <a:fillRect/>
          </a:stretch>
        </p:blipFill>
        <p:spPr>
          <a:xfrm>
            <a:off x="457200" y="1325880"/>
            <a:ext cx="3657600" cy="2286000"/>
          </a:xfrm>
          <a:prstGeom prst="rect">
            <a:avLst/>
          </a:prstGeom>
        </p:spPr>
      </p:pic>
      <p:sp>
        <p:nvSpPr>
          <p:cNvPr id="4" name="Text 1"/>
          <p:cNvSpPr/>
          <p:nvPr/>
        </p:nvSpPr>
        <p:spPr>
          <a:xfrm>
            <a:off x="457200" y="3703320"/>
            <a:ext cx="3657600" cy="1005840"/>
          </a:xfrm>
          <a:prstGeom prst="rect">
            <a:avLst/>
          </a:prstGeom>
          <a:noFill/>
          <a:ln/>
        </p:spPr>
        <p:txBody>
          <a:bodyPr wrap="square" rtlCol="0" anchor="t"/>
          <a:lstStyle/>
          <a:p>
            <a:pPr marL="0" indent="0">
              <a:buNone/>
            </a:pPr>
            <a:r>
              <a:rPr lang="en-US" sz="1250" dirty="0">
                <a:solidFill>
                  <a:srgbClr val="2E2E2E"/>
                </a:solidFill>
                <a:latin typeface="Calibri" pitchFamily="34" charset="0"/>
                <a:ea typeface="Calibri" pitchFamily="34" charset="-122"/>
                <a:cs typeface="Calibri" pitchFamily="34" charset="-120"/>
              </a:rPr>
              <a:t>Poverty: mean 12.7% (range 0–63.4). Right-skewed — many low-poverty tracts, a small number above 40%.</a:t>
            </a:r>
            <a:endParaRPr lang="en-US" sz="1250" dirty="0"/>
          </a:p>
        </p:txBody>
      </p:sp>
      <p:pic>
        <p:nvPicPr>
          <p:cNvPr id="5" name="Image 1" descr="/home/claude/pptx_wk4/novehicle.png"/>
          <p:cNvPicPr>
            <a:picLocks noChangeAspect="1"/>
          </p:cNvPicPr>
          <p:nvPr/>
        </p:nvPicPr>
        <p:blipFill>
          <a:blip r:embed="rId4"/>
          <a:stretch>
            <a:fillRect/>
          </a:stretch>
        </p:blipFill>
        <p:spPr>
          <a:xfrm>
            <a:off x="4270248" y="1325880"/>
            <a:ext cx="3657600" cy="2286000"/>
          </a:xfrm>
          <a:prstGeom prst="rect">
            <a:avLst/>
          </a:prstGeom>
        </p:spPr>
      </p:pic>
      <p:sp>
        <p:nvSpPr>
          <p:cNvPr id="6" name="Text 2"/>
          <p:cNvSpPr/>
          <p:nvPr/>
        </p:nvSpPr>
        <p:spPr>
          <a:xfrm>
            <a:off x="4270248" y="3703320"/>
            <a:ext cx="3657600" cy="1005840"/>
          </a:xfrm>
          <a:prstGeom prst="rect">
            <a:avLst/>
          </a:prstGeom>
          <a:noFill/>
          <a:ln/>
        </p:spPr>
        <p:txBody>
          <a:bodyPr wrap="square" rtlCol="0" anchor="t"/>
          <a:lstStyle/>
          <a:p>
            <a:pPr marL="0" indent="0">
              <a:buNone/>
            </a:pPr>
            <a:r>
              <a:rPr lang="en-US" sz="1250" dirty="0">
                <a:solidFill>
                  <a:srgbClr val="2E2E2E"/>
                </a:solidFill>
                <a:latin typeface="Calibri" pitchFamily="34" charset="0"/>
                <a:ea typeface="Calibri" pitchFamily="34" charset="-122"/>
                <a:cs typeface="Calibri" pitchFamily="34" charset="-120"/>
              </a:rPr>
              <a:t>Households without a vehicle: mean 7.2% (range 0–54.0). Most tracts are under 10%; a small number exceed 30%.</a:t>
            </a:r>
            <a:endParaRPr lang="en-US" sz="1250" dirty="0"/>
          </a:p>
        </p:txBody>
      </p:sp>
      <p:pic>
        <p:nvPicPr>
          <p:cNvPr id="7" name="Image 2" descr="/home/claude/pptx_wk4/snap.png"/>
          <p:cNvPicPr>
            <a:picLocks noChangeAspect="1"/>
          </p:cNvPicPr>
          <p:nvPr/>
        </p:nvPicPr>
        <p:blipFill>
          <a:blip r:embed="rId5"/>
          <a:stretch>
            <a:fillRect/>
          </a:stretch>
        </p:blipFill>
        <p:spPr>
          <a:xfrm>
            <a:off x="8083296" y="1325880"/>
            <a:ext cx="3657600" cy="2286000"/>
          </a:xfrm>
          <a:prstGeom prst="rect">
            <a:avLst/>
          </a:prstGeom>
        </p:spPr>
      </p:pic>
      <p:sp>
        <p:nvSpPr>
          <p:cNvPr id="8" name="Text 3"/>
          <p:cNvSpPr/>
          <p:nvPr/>
        </p:nvSpPr>
        <p:spPr>
          <a:xfrm>
            <a:off x="8083296" y="3703320"/>
            <a:ext cx="3657600" cy="1005840"/>
          </a:xfrm>
          <a:prstGeom prst="rect">
            <a:avLst/>
          </a:prstGeom>
          <a:noFill/>
          <a:ln/>
        </p:spPr>
        <p:txBody>
          <a:bodyPr wrap="square" rtlCol="0" anchor="t"/>
          <a:lstStyle/>
          <a:p>
            <a:pPr marL="0" indent="0">
              <a:buNone/>
            </a:pPr>
            <a:r>
              <a:rPr lang="en-US" sz="1250" dirty="0">
                <a:solidFill>
                  <a:srgbClr val="2E2E2E"/>
                </a:solidFill>
                <a:latin typeface="Calibri" pitchFamily="34" charset="0"/>
                <a:ea typeface="Calibri" pitchFamily="34" charset="-122"/>
                <a:cs typeface="Calibri" pitchFamily="34" charset="-120"/>
              </a:rPr>
              <a:t>SNAP households: mean 9.6% (range 0–64.4). Same right-skewed shape, with many tracts near the low end.</a:t>
            </a:r>
            <a:endParaRPr lang="en-US" sz="1250" dirty="0"/>
          </a:p>
        </p:txBody>
      </p:sp>
      <p:sp>
        <p:nvSpPr>
          <p:cNvPr id="9" name="Text 4"/>
          <p:cNvSpPr/>
          <p:nvPr/>
        </p:nvSpPr>
        <p:spPr>
          <a:xfrm>
            <a:off x="457200" y="5760720"/>
            <a:ext cx="11247120" cy="594360"/>
          </a:xfrm>
          <a:prstGeom prst="rect">
            <a:avLst/>
          </a:prstGeom>
          <a:noFill/>
          <a:ln/>
        </p:spPr>
        <p:txBody>
          <a:bodyPr wrap="square" rtlCol="0" anchor="ctr"/>
          <a:lstStyle/>
          <a:p>
            <a:pPr marL="0" indent="0">
              <a:buNone/>
            </a:pPr>
            <a:r>
              <a:rPr lang="en-US" sz="1200" i="1" dirty="0">
                <a:solidFill>
                  <a:srgbClr val="6B6B6B"/>
                </a:solidFill>
                <a:latin typeface="Calibri" pitchFamily="34" charset="0"/>
                <a:ea typeface="Calibri" pitchFamily="34" charset="-122"/>
                <a:cs typeface="Calibri" pitchFamily="34" charset="-120"/>
              </a:rPr>
              <a:t>515 of 516 tracts have values (1 tract missing due to zero denominators). Descriptive across tracts, not population-weighted.</a:t>
            </a:r>
            <a:endParaRPr lang="en-US" sz="1200" dirty="0"/>
          </a:p>
        </p:txBody>
      </p:sp>
      <p:sp>
        <p:nvSpPr>
          <p:cNvPr id="10" name="Text 5"/>
          <p:cNvSpPr/>
          <p:nvPr/>
        </p:nvSpPr>
        <p:spPr>
          <a:xfrm>
            <a:off x="365760" y="6537960"/>
            <a:ext cx="7315200" cy="274320"/>
          </a:xfrm>
          <a:prstGeom prst="rect">
            <a:avLst/>
          </a:prstGeom>
          <a:noFill/>
          <a:ln/>
        </p:spPr>
        <p:txBody>
          <a:bodyPr wrap="square" rtlCol="0" anchor="ctr"/>
          <a:lstStyle/>
          <a:p>
            <a:pPr marL="0" indent="0">
              <a:buNone/>
            </a:pPr>
            <a:r>
              <a:rPr lang="en-US" sz="1000" i="1" dirty="0">
                <a:solidFill>
                  <a:srgbClr val="6B6B6B"/>
                </a:solidFill>
                <a:latin typeface="Calibri" pitchFamily="34" charset="0"/>
                <a:ea typeface="Calibri" pitchFamily="34" charset="-122"/>
                <a:cs typeface="Calibri" pitchFamily="34" charset="-120"/>
              </a:rPr>
              <a:t>Decision Dashboard for Urban Food Production — Weekly Progress</a:t>
            </a:r>
            <a:endParaRPr lang="en-US" sz="1000" dirty="0"/>
          </a:p>
        </p:txBody>
      </p:sp>
      <p:sp>
        <p:nvSpPr>
          <p:cNvPr id="11" name="Text 6"/>
          <p:cNvSpPr/>
          <p:nvPr/>
        </p:nvSpPr>
        <p:spPr>
          <a:xfrm>
            <a:off x="11521440" y="6537960"/>
            <a:ext cx="36576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2800" dirty="0">
                <a:solidFill>
                  <a:srgbClr val="2E2E2E"/>
                </a:solidFill>
                <a:latin typeface="Cambria" pitchFamily="34" charset="0"/>
                <a:ea typeface="Cambria" pitchFamily="34" charset="-122"/>
                <a:cs typeface="Cambria" pitchFamily="34" charset="-120"/>
              </a:rPr>
              <a:t>Correlation Analysis — Overlapping Candidate Variables</a:t>
            </a:r>
            <a:endParaRPr lang="en-US" sz="2800" dirty="0"/>
          </a:p>
        </p:txBody>
      </p:sp>
      <p:sp>
        <p:nvSpPr>
          <p:cNvPr id="3" name="Text 1"/>
          <p:cNvSpPr/>
          <p:nvPr/>
        </p:nvSpPr>
        <p:spPr>
          <a:xfrm>
            <a:off x="457200" y="914400"/>
            <a:ext cx="11247120" cy="365760"/>
          </a:xfrm>
          <a:prstGeom prst="rect">
            <a:avLst/>
          </a:prstGeom>
          <a:noFill/>
          <a:ln/>
        </p:spPr>
        <p:txBody>
          <a:bodyPr wrap="square" rtlCol="0" anchor="ctr"/>
          <a:lstStyle/>
          <a:p>
            <a:pPr marL="0" indent="0">
              <a:buNone/>
            </a:pPr>
            <a:r>
              <a:rPr lang="en-US" sz="1400" i="1" dirty="0">
                <a:solidFill>
                  <a:srgbClr val="6B6B6B"/>
                </a:solidFill>
                <a:latin typeface="Calibri" pitchFamily="34" charset="0"/>
                <a:ea typeface="Calibri" pitchFamily="34" charset="-122"/>
                <a:cs typeface="Calibri" pitchFamily="34" charset="-120"/>
              </a:rPr>
              <a:t>The 8 strongest pairs (of 78) among the 13 candidate ACS variables</a:t>
            </a:r>
            <a:endParaRPr lang="en-US" sz="1400" dirty="0"/>
          </a:p>
        </p:txBody>
      </p:sp>
      <p:graphicFrame>
        <p:nvGraphicFramePr>
          <p:cNvPr id="4" name="Chart 0"/>
          <p:cNvGraphicFramePr/>
          <p:nvPr/>
        </p:nvGraphicFramePr>
        <p:xfrm>
          <a:off x="365760" y="1371600"/>
          <a:ext cx="7040880" cy="475488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680960" y="1417320"/>
            <a:ext cx="4069080" cy="4663440"/>
          </a:xfrm>
          <a:prstGeom prst="rect">
            <a:avLst/>
          </a:prstGeom>
          <a:solidFill>
            <a:srgbClr val="F6F5F0"/>
          </a:solidFill>
          <a:ln w="15875">
            <a:solidFill>
              <a:srgbClr val="97BC62"/>
            </a:solidFill>
            <a:prstDash val="solid"/>
          </a:ln>
        </p:spPr>
        <p:txBody>
          <a:bodyPr/>
          <a:lstStyle/>
          <a:p>
            <a:endParaRPr lang="en-US"/>
          </a:p>
        </p:txBody>
      </p:sp>
      <p:sp>
        <p:nvSpPr>
          <p:cNvPr id="6" name="Text 3"/>
          <p:cNvSpPr/>
          <p:nvPr/>
        </p:nvSpPr>
        <p:spPr>
          <a:xfrm>
            <a:off x="7863840" y="1508760"/>
            <a:ext cx="3749040" cy="365760"/>
          </a:xfrm>
          <a:prstGeom prst="rect">
            <a:avLst/>
          </a:prstGeom>
          <a:noFill/>
          <a:ln/>
        </p:spPr>
        <p:txBody>
          <a:bodyPr wrap="square" rtlCol="0" anchor="ctr"/>
          <a:lstStyle/>
          <a:p>
            <a:pPr marL="0" indent="0">
              <a:buNone/>
            </a:pPr>
            <a:r>
              <a:rPr lang="en-US" sz="1600" b="1" dirty="0">
                <a:solidFill>
                  <a:srgbClr val="2C5F2D"/>
                </a:solidFill>
                <a:latin typeface="Calibri" pitchFamily="34" charset="0"/>
                <a:ea typeface="Calibri" pitchFamily="34" charset="-122"/>
                <a:cs typeface="Calibri" pitchFamily="34" charset="-120"/>
              </a:rPr>
              <a:t>What this tells us</a:t>
            </a:r>
            <a:endParaRPr lang="en-US" sz="1600" dirty="0"/>
          </a:p>
        </p:txBody>
      </p:sp>
      <p:sp>
        <p:nvSpPr>
          <p:cNvPr id="7" name="Text 4"/>
          <p:cNvSpPr/>
          <p:nvPr/>
        </p:nvSpPr>
        <p:spPr>
          <a:xfrm>
            <a:off x="7863840" y="1920240"/>
            <a:ext cx="3749040" cy="4114800"/>
          </a:xfrm>
          <a:prstGeom prst="rect">
            <a:avLst/>
          </a:prstGeom>
          <a:noFill/>
          <a:ln/>
        </p:spPr>
        <p:txBody>
          <a:bodyPr wrap="square" rtlCol="0" anchor="t"/>
          <a:lstStyle/>
          <a:p>
            <a:pPr marL="342900" indent="-342900">
              <a:spcAft>
                <a:spcPts val="900"/>
              </a:spcAft>
              <a:buSzPct val="100000"/>
              <a:buChar char="•"/>
            </a:pPr>
            <a:r>
              <a:rPr lang="en-US" sz="1250" dirty="0">
                <a:solidFill>
                  <a:srgbClr val="2E2E2E"/>
                </a:solidFill>
                <a:latin typeface="Calibri" pitchFamily="34" charset="0"/>
                <a:ea typeface="Calibri" pitchFamily="34" charset="-122"/>
                <a:cs typeface="Calibri" pitchFamily="34" charset="-120"/>
              </a:rPr>
              <a:t>Several candidates overlap (poverty and SNAP; income, home value, and education) — using all of them could double-count the same pattern.</a:t>
            </a:r>
            <a:endParaRPr lang="en-US" sz="1250" dirty="0"/>
          </a:p>
          <a:p>
            <a:pPr marL="342900" indent="-342900">
              <a:spcAft>
                <a:spcPts val="900"/>
              </a:spcAft>
              <a:buSzPct val="100000"/>
              <a:buChar char="•"/>
            </a:pPr>
            <a:r>
              <a:rPr lang="en-US" sz="1250" dirty="0">
                <a:solidFill>
                  <a:srgbClr val="2E2E2E"/>
                </a:solidFill>
                <a:latin typeface="Calibri" pitchFamily="34" charset="0"/>
                <a:ea typeface="Calibri" pitchFamily="34" charset="-122"/>
                <a:cs typeface="Calibri" pitchFamily="34" charset="-120"/>
              </a:rPr>
              <a:t>A strong correlation does not automatically mean a variable is dropped; each choice will be reviewed.</a:t>
            </a:r>
            <a:endParaRPr lang="en-US" sz="1250" dirty="0"/>
          </a:p>
          <a:p>
            <a:pPr marL="342900" indent="-342900">
              <a:spcAft>
                <a:spcPts val="900"/>
              </a:spcAft>
              <a:buSzPct val="100000"/>
              <a:buChar char="•"/>
            </a:pPr>
            <a:r>
              <a:rPr lang="en-US" sz="1250" dirty="0">
                <a:solidFill>
                  <a:srgbClr val="2E2E2E"/>
                </a:solidFill>
                <a:latin typeface="Calibri" pitchFamily="34" charset="0"/>
                <a:ea typeface="Calibri" pitchFamily="34" charset="-122"/>
                <a:cs typeface="Calibri" pitchFamily="34" charset="-120"/>
              </a:rPr>
              <a:t>Poverty, no-vehicle households, SNAP, and the three health indicators are key candidates for further review.</a:t>
            </a:r>
            <a:endParaRPr lang="en-US" sz="1250" dirty="0"/>
          </a:p>
          <a:p>
            <a:pPr marL="342900" indent="-342900">
              <a:spcAft>
                <a:spcPts val="900"/>
              </a:spcAft>
              <a:buSzPct val="100000"/>
              <a:buChar char="•"/>
            </a:pPr>
            <a:r>
              <a:rPr lang="en-US" sz="1250" dirty="0">
                <a:solidFill>
                  <a:srgbClr val="2E2E2E"/>
                </a:solidFill>
                <a:latin typeface="Calibri" pitchFamily="34" charset="0"/>
                <a:ea typeface="Calibri" pitchFamily="34" charset="-122"/>
                <a:cs typeface="Calibri" pitchFamily="34" charset="-120"/>
              </a:rPr>
              <a:t>Final criteria and weights are not yet decided.</a:t>
            </a:r>
            <a:endParaRPr lang="en-US" sz="1250" dirty="0"/>
          </a:p>
        </p:txBody>
      </p:sp>
      <p:sp>
        <p:nvSpPr>
          <p:cNvPr id="8" name="Text 5"/>
          <p:cNvSpPr/>
          <p:nvPr/>
        </p:nvSpPr>
        <p:spPr>
          <a:xfrm>
            <a:off x="365760" y="6537960"/>
            <a:ext cx="7315200" cy="274320"/>
          </a:xfrm>
          <a:prstGeom prst="rect">
            <a:avLst/>
          </a:prstGeom>
          <a:noFill/>
          <a:ln/>
        </p:spPr>
        <p:txBody>
          <a:bodyPr wrap="square" rtlCol="0" anchor="ctr"/>
          <a:lstStyle/>
          <a:p>
            <a:pPr marL="0" indent="0">
              <a:buNone/>
            </a:pPr>
            <a:r>
              <a:rPr lang="en-US" sz="1000" i="1" dirty="0">
                <a:solidFill>
                  <a:srgbClr val="6B6B6B"/>
                </a:solidFill>
                <a:latin typeface="Calibri" pitchFamily="34" charset="0"/>
                <a:ea typeface="Calibri" pitchFamily="34" charset="-122"/>
                <a:cs typeface="Calibri" pitchFamily="34" charset="-120"/>
              </a:rPr>
              <a:t>Decision Dashboard for Urban Food Production — Weekly Progress</a:t>
            </a:r>
            <a:endParaRPr lang="en-US" sz="1000" dirty="0"/>
          </a:p>
        </p:txBody>
      </p:sp>
      <p:sp>
        <p:nvSpPr>
          <p:cNvPr id="9" name="Text 6"/>
          <p:cNvSpPr/>
          <p:nvPr/>
        </p:nvSpPr>
        <p:spPr>
          <a:xfrm>
            <a:off x="11521440" y="6537960"/>
            <a:ext cx="36576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9144000" cy="640080"/>
          </a:xfrm>
          <a:prstGeom prst="rect">
            <a:avLst/>
          </a:prstGeom>
          <a:noFill/>
          <a:ln/>
        </p:spPr>
        <p:txBody>
          <a:bodyPr wrap="square" rtlCol="0" anchor="ctr"/>
          <a:lstStyle/>
          <a:p>
            <a:pPr marL="0" indent="0">
              <a:buNone/>
            </a:pPr>
            <a:r>
              <a:rPr lang="en-US" sz="3000" dirty="0">
                <a:solidFill>
                  <a:srgbClr val="2E2E2E"/>
                </a:solidFill>
                <a:latin typeface="Cambria" pitchFamily="34" charset="0"/>
                <a:ea typeface="Cambria" pitchFamily="34" charset="-122"/>
                <a:cs typeface="Cambria" pitchFamily="34" charset="-120"/>
              </a:rPr>
              <a:t>Next Week Plans (10/14/2026)</a:t>
            </a:r>
            <a:endParaRPr lang="en-US" sz="3000" dirty="0"/>
          </a:p>
        </p:txBody>
      </p:sp>
      <p:sp>
        <p:nvSpPr>
          <p:cNvPr id="3" name="Text 1"/>
          <p:cNvSpPr/>
          <p:nvPr/>
        </p:nvSpPr>
        <p:spPr>
          <a:xfrm>
            <a:off x="457200" y="1097280"/>
            <a:ext cx="9144000" cy="365760"/>
          </a:xfrm>
          <a:prstGeom prst="rect">
            <a:avLst/>
          </a:prstGeom>
          <a:noFill/>
          <a:ln/>
        </p:spPr>
        <p:txBody>
          <a:bodyPr wrap="square" rtlCol="0" anchor="ctr"/>
          <a:lstStyle/>
          <a:p>
            <a:pPr marL="0" indent="0">
              <a:buNone/>
            </a:pPr>
            <a:r>
              <a:rPr lang="en-US" sz="1800" dirty="0">
                <a:solidFill>
                  <a:srgbClr val="2E2E2E"/>
                </a:solidFill>
                <a:latin typeface="Calibri" pitchFamily="34" charset="0"/>
                <a:ea typeface="Calibri" pitchFamily="34" charset="-122"/>
                <a:cs typeface="Calibri" pitchFamily="34" charset="-120"/>
              </a:rPr>
              <a:t>Activities/Tasks</a:t>
            </a:r>
            <a:endParaRPr lang="en-US" sz="1800" dirty="0"/>
          </a:p>
        </p:txBody>
      </p:sp>
      <p:sp>
        <p:nvSpPr>
          <p:cNvPr id="4" name="Text 2"/>
          <p:cNvSpPr/>
          <p:nvPr/>
        </p:nvSpPr>
        <p:spPr>
          <a:xfrm>
            <a:off x="502920" y="1508760"/>
            <a:ext cx="11155680" cy="1371600"/>
          </a:xfrm>
          <a:prstGeom prst="rect">
            <a:avLst/>
          </a:prstGeom>
          <a:noFill/>
          <a:ln/>
        </p:spPr>
        <p:txBody>
          <a:bodyPr wrap="square" rtlCol="0" anchor="t"/>
          <a:lstStyle/>
          <a:p>
            <a:pPr marL="342900" indent="-342900">
              <a:spcAft>
                <a:spcPts val="800"/>
              </a:spcAft>
              <a:buSzPct val="100000"/>
              <a:buChar char="•"/>
            </a:pPr>
            <a:r>
              <a:rPr lang="en-US" sz="1400" dirty="0">
                <a:solidFill>
                  <a:srgbClr val="2E2E2E"/>
                </a:solidFill>
                <a:latin typeface="Calibri" pitchFamily="34" charset="0"/>
                <a:ea typeface="Calibri" pitchFamily="34" charset="-122"/>
                <a:cs typeface="Calibri" pitchFamily="34" charset="-120"/>
              </a:rPr>
              <a:t>Finalize the demographic and socioeconomic variable set from the 13 candidates (review correlated pairs)</a:t>
            </a:r>
            <a:endParaRPr lang="en-US" sz="1400" dirty="0"/>
          </a:p>
          <a:p>
            <a:pPr marL="342900" indent="-342900">
              <a:spcAft>
                <a:spcPts val="800"/>
              </a:spcAft>
              <a:buSzPct val="100000"/>
              <a:buChar char="•"/>
            </a:pPr>
            <a:r>
              <a:rPr lang="en-US" sz="1400" dirty="0">
                <a:solidFill>
                  <a:srgbClr val="2E2E2E"/>
                </a:solidFill>
                <a:latin typeface="Calibri" pitchFamily="34" charset="0"/>
                <a:ea typeface="Calibri" pitchFamily="34" charset="-122"/>
                <a:cs typeface="Calibri" pitchFamily="34" charset="-120"/>
              </a:rPr>
              <a:t>Obtain census tract boundary (polygon) data and create a preliminary map of the 516 tracts</a:t>
            </a:r>
            <a:endParaRPr lang="en-US" sz="1400" dirty="0"/>
          </a:p>
          <a:p>
            <a:pPr marL="342900" indent="-342900">
              <a:spcAft>
                <a:spcPts val="800"/>
              </a:spcAft>
              <a:buSzPct val="100000"/>
              <a:buChar char="•"/>
            </a:pPr>
            <a:r>
              <a:rPr lang="en-US" sz="1400" dirty="0">
                <a:solidFill>
                  <a:srgbClr val="2E2E2E"/>
                </a:solidFill>
                <a:latin typeface="Calibri" pitchFamily="34" charset="0"/>
                <a:ea typeface="Calibri" pitchFamily="34" charset="-122"/>
                <a:cs typeface="Calibri" pitchFamily="34" charset="-120"/>
              </a:rPr>
              <a:t>Identify suitable food-access datasets and measures</a:t>
            </a:r>
            <a:endParaRPr lang="en-US" sz="1400" dirty="0"/>
          </a:p>
          <a:p>
            <a:pPr marL="342900" indent="-342900">
              <a:spcAft>
                <a:spcPts val="800"/>
              </a:spcAft>
              <a:buSzPct val="100000"/>
              <a:buChar char="•"/>
            </a:pPr>
            <a:r>
              <a:rPr lang="en-US" sz="1400" dirty="0">
                <a:solidFill>
                  <a:srgbClr val="2E2E2E"/>
                </a:solidFill>
                <a:latin typeface="Calibri" pitchFamily="34" charset="0"/>
                <a:ea typeface="Calibri" pitchFamily="34" charset="-122"/>
                <a:cs typeface="Calibri" pitchFamily="34" charset="-120"/>
              </a:rPr>
              <a:t>Look for parcel, vacant-land, zoning, or land-use information (ORKA / KCMO)</a:t>
            </a:r>
            <a:endParaRPr lang="en-US" sz="1400" dirty="0"/>
          </a:p>
        </p:txBody>
      </p:sp>
      <p:sp>
        <p:nvSpPr>
          <p:cNvPr id="5" name="Text 3"/>
          <p:cNvSpPr/>
          <p:nvPr/>
        </p:nvSpPr>
        <p:spPr>
          <a:xfrm>
            <a:off x="457200" y="2926080"/>
            <a:ext cx="9144000" cy="365760"/>
          </a:xfrm>
          <a:prstGeom prst="rect">
            <a:avLst/>
          </a:prstGeom>
          <a:noFill/>
          <a:ln/>
        </p:spPr>
        <p:txBody>
          <a:bodyPr wrap="square" rtlCol="0" anchor="ctr"/>
          <a:lstStyle/>
          <a:p>
            <a:pPr marL="0" indent="0">
              <a:buNone/>
            </a:pPr>
            <a:r>
              <a:rPr lang="en-US" sz="1800" dirty="0">
                <a:solidFill>
                  <a:srgbClr val="2E2E2E"/>
                </a:solidFill>
                <a:latin typeface="Calibri" pitchFamily="34" charset="0"/>
                <a:ea typeface="Calibri" pitchFamily="34" charset="-122"/>
                <a:cs typeface="Calibri" pitchFamily="34" charset="-120"/>
              </a:rPr>
              <a:t>Expected Outcomes</a:t>
            </a:r>
            <a:endParaRPr lang="en-US" sz="1800" dirty="0"/>
          </a:p>
        </p:txBody>
      </p:sp>
      <p:sp>
        <p:nvSpPr>
          <p:cNvPr id="6" name="Text 4"/>
          <p:cNvSpPr/>
          <p:nvPr/>
        </p:nvSpPr>
        <p:spPr>
          <a:xfrm>
            <a:off x="457200" y="3340100"/>
            <a:ext cx="11155680" cy="1371600"/>
          </a:xfrm>
          <a:prstGeom prst="rect">
            <a:avLst/>
          </a:prstGeom>
          <a:noFill/>
          <a:ln/>
        </p:spPr>
        <p:txBody>
          <a:bodyPr wrap="square" rtlCol="0" anchor="t"/>
          <a:lstStyle/>
          <a:p>
            <a:pPr marL="342900" indent="-342900">
              <a:spcAft>
                <a:spcPts val="800"/>
              </a:spcAft>
              <a:buSzPct val="100000"/>
              <a:buChar char="•"/>
            </a:pPr>
            <a:r>
              <a:rPr lang="en-US" sz="1400" dirty="0">
                <a:solidFill>
                  <a:srgbClr val="2E2E2E"/>
                </a:solidFill>
                <a:latin typeface="Calibri" pitchFamily="34" charset="0"/>
                <a:ea typeface="Calibri" pitchFamily="34" charset="-122"/>
                <a:cs typeface="Calibri" pitchFamily="34" charset="-120"/>
              </a:rPr>
              <a:t>A confirmed list of demographic and socioeconomic variables</a:t>
            </a:r>
            <a:endParaRPr lang="en-US" sz="1400" dirty="0"/>
          </a:p>
          <a:p>
            <a:pPr marL="342900" indent="-342900">
              <a:spcAft>
                <a:spcPts val="800"/>
              </a:spcAft>
              <a:buSzPct val="100000"/>
              <a:buChar char="•"/>
            </a:pPr>
            <a:r>
              <a:rPr lang="en-US" sz="1400" dirty="0">
                <a:solidFill>
                  <a:srgbClr val="2E2E2E"/>
                </a:solidFill>
                <a:latin typeface="Calibri" pitchFamily="34" charset="0"/>
                <a:ea typeface="Calibri" pitchFamily="34" charset="-122"/>
                <a:cs typeface="Calibri" pitchFamily="34" charset="-120"/>
              </a:rPr>
              <a:t>A first tract-level map of the study area</a:t>
            </a:r>
            <a:endParaRPr lang="en-US" sz="1400" dirty="0"/>
          </a:p>
          <a:p>
            <a:pPr marL="342900" indent="-342900">
              <a:spcAft>
                <a:spcPts val="800"/>
              </a:spcAft>
              <a:buSzPct val="100000"/>
              <a:buChar char="•"/>
            </a:pPr>
            <a:r>
              <a:rPr lang="en-US" sz="1400" dirty="0">
                <a:solidFill>
                  <a:srgbClr val="2E2E2E"/>
                </a:solidFill>
                <a:latin typeface="Calibri" pitchFamily="34" charset="0"/>
                <a:ea typeface="Calibri" pitchFamily="34" charset="-122"/>
                <a:cs typeface="Calibri" pitchFamily="34" charset="-120"/>
              </a:rPr>
              <a:t>A shortlist of candidate food-access and parcel/land-use data sources</a:t>
            </a:r>
            <a:endParaRPr lang="en-US" sz="1400" dirty="0"/>
          </a:p>
        </p:txBody>
      </p:sp>
      <p:sp>
        <p:nvSpPr>
          <p:cNvPr id="7" name="Text 5"/>
          <p:cNvSpPr/>
          <p:nvPr/>
        </p:nvSpPr>
        <p:spPr>
          <a:xfrm>
            <a:off x="457200" y="4390390"/>
            <a:ext cx="9144000" cy="365760"/>
          </a:xfrm>
          <a:prstGeom prst="rect">
            <a:avLst/>
          </a:prstGeom>
          <a:noFill/>
          <a:ln/>
        </p:spPr>
        <p:txBody>
          <a:bodyPr wrap="square" rtlCol="0" anchor="ctr"/>
          <a:lstStyle/>
          <a:p>
            <a:pPr marL="0" indent="0">
              <a:buNone/>
            </a:pPr>
            <a:r>
              <a:rPr lang="en-US" sz="1800" dirty="0">
                <a:solidFill>
                  <a:srgbClr val="2E2E2E"/>
                </a:solidFill>
                <a:latin typeface="Calibri" pitchFamily="34" charset="0"/>
                <a:ea typeface="Calibri" pitchFamily="34" charset="-122"/>
                <a:cs typeface="Calibri" pitchFamily="34" charset="-120"/>
              </a:rPr>
              <a:t>Deliverable</a:t>
            </a:r>
            <a:endParaRPr lang="en-US" sz="1800" dirty="0"/>
          </a:p>
        </p:txBody>
      </p:sp>
      <p:sp>
        <p:nvSpPr>
          <p:cNvPr id="8" name="Text 6"/>
          <p:cNvSpPr/>
          <p:nvPr/>
        </p:nvSpPr>
        <p:spPr>
          <a:xfrm>
            <a:off x="457200" y="4843780"/>
            <a:ext cx="11155680" cy="548640"/>
          </a:xfrm>
          <a:prstGeom prst="rect">
            <a:avLst/>
          </a:prstGeom>
          <a:noFill/>
          <a:ln/>
        </p:spPr>
        <p:txBody>
          <a:bodyPr wrap="square" rtlCol="0" anchor="t"/>
          <a:lstStyle/>
          <a:p>
            <a:pPr marL="342900" indent="-342900">
              <a:buSzPct val="100000"/>
              <a:buChar char="•"/>
            </a:pPr>
            <a:r>
              <a:rPr lang="en-US" sz="1400" dirty="0">
                <a:solidFill>
                  <a:srgbClr val="2E2E2E"/>
                </a:solidFill>
                <a:latin typeface="Calibri" pitchFamily="34" charset="0"/>
                <a:ea typeface="Calibri" pitchFamily="34" charset="-122"/>
                <a:cs typeface="Calibri" pitchFamily="34" charset="-120"/>
              </a:rPr>
              <a:t>Final variable list, preliminary tract map, data-source shortlist, and progress presentation</a:t>
            </a:r>
            <a:endParaRPr lang="en-US" sz="1400" dirty="0"/>
          </a:p>
        </p:txBody>
      </p:sp>
      <p:sp>
        <p:nvSpPr>
          <p:cNvPr id="9" name="Text 7"/>
          <p:cNvSpPr/>
          <p:nvPr/>
        </p:nvSpPr>
        <p:spPr>
          <a:xfrm>
            <a:off x="365760" y="6537960"/>
            <a:ext cx="7315200" cy="274320"/>
          </a:xfrm>
          <a:prstGeom prst="rect">
            <a:avLst/>
          </a:prstGeom>
          <a:noFill/>
          <a:ln/>
        </p:spPr>
        <p:txBody>
          <a:bodyPr wrap="square" rtlCol="0" anchor="ctr"/>
          <a:lstStyle/>
          <a:p>
            <a:pPr marL="0" indent="0">
              <a:buNone/>
            </a:pPr>
            <a:r>
              <a:rPr lang="en-US" sz="1000" i="1" dirty="0">
                <a:solidFill>
                  <a:srgbClr val="6B6B6B"/>
                </a:solidFill>
                <a:latin typeface="Calibri" pitchFamily="34" charset="0"/>
                <a:ea typeface="Calibri" pitchFamily="34" charset="-122"/>
                <a:cs typeface="Calibri" pitchFamily="34" charset="-120"/>
              </a:rPr>
              <a:t>Decision Dashboard for Urban Food Production — Weekly Progress</a:t>
            </a:r>
            <a:endParaRPr lang="en-US" sz="1000" dirty="0"/>
          </a:p>
        </p:txBody>
      </p:sp>
      <p:sp>
        <p:nvSpPr>
          <p:cNvPr id="10" name="Text 8"/>
          <p:cNvSpPr/>
          <p:nvPr/>
        </p:nvSpPr>
        <p:spPr>
          <a:xfrm>
            <a:off x="11521440" y="6537960"/>
            <a:ext cx="36576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2800" dirty="0">
                <a:solidFill>
                  <a:srgbClr val="2E2E2E"/>
                </a:solidFill>
                <a:latin typeface="Cambria" pitchFamily="34" charset="0"/>
                <a:ea typeface="Cambria" pitchFamily="34" charset="-122"/>
                <a:cs typeface="Cambria" pitchFamily="34" charset="-120"/>
              </a:rPr>
              <a:t>Appendix — Code</a:t>
            </a:r>
            <a:endParaRPr lang="en-US" sz="2800" dirty="0"/>
          </a:p>
        </p:txBody>
      </p:sp>
      <p:sp>
        <p:nvSpPr>
          <p:cNvPr id="4" name="Text 2"/>
          <p:cNvSpPr/>
          <p:nvPr/>
        </p:nvSpPr>
        <p:spPr>
          <a:xfrm>
            <a:off x="457200" y="1188720"/>
            <a:ext cx="5486400" cy="4480560"/>
          </a:xfrm>
          <a:prstGeom prst="rect">
            <a:avLst/>
          </a:prstGeom>
          <a:noFill/>
          <a:ln/>
        </p:spPr>
        <p:txBody>
          <a:bodyPr wrap="square" rtlCol="0" anchor="ctr"/>
          <a:lstStyle/>
          <a:p>
            <a:pPr marL="0" indent="0" algn="ctr">
              <a:buNone/>
            </a:pPr>
            <a:endParaRPr lang="en-US" sz="1600" dirty="0"/>
          </a:p>
        </p:txBody>
      </p:sp>
      <p:sp>
        <p:nvSpPr>
          <p:cNvPr id="6" name="Text 4"/>
          <p:cNvSpPr/>
          <p:nvPr/>
        </p:nvSpPr>
        <p:spPr>
          <a:xfrm>
            <a:off x="6217920" y="1188720"/>
            <a:ext cx="5486400" cy="4480560"/>
          </a:xfrm>
          <a:prstGeom prst="rect">
            <a:avLst/>
          </a:prstGeom>
          <a:noFill/>
          <a:ln/>
        </p:spPr>
        <p:txBody>
          <a:bodyPr wrap="square" rtlCol="0" anchor="ctr"/>
          <a:lstStyle/>
          <a:p>
            <a:pPr marL="0" indent="0" algn="ctr">
              <a:buNone/>
            </a:pPr>
            <a:endParaRPr lang="en-US" sz="1600" dirty="0"/>
          </a:p>
        </p:txBody>
      </p:sp>
      <p:sp>
        <p:nvSpPr>
          <p:cNvPr id="9" name="Text 7"/>
          <p:cNvSpPr/>
          <p:nvPr/>
        </p:nvSpPr>
        <p:spPr>
          <a:xfrm>
            <a:off x="11521440" y="6537960"/>
            <a:ext cx="36576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10</a:t>
            </a:r>
            <a:endParaRPr lang="en-US" sz="1000" dirty="0"/>
          </a:p>
        </p:txBody>
      </p:sp>
      <p:pic>
        <p:nvPicPr>
          <p:cNvPr id="11" name="Picture 10">
            <a:extLst>
              <a:ext uri="{FF2B5EF4-FFF2-40B4-BE49-F238E27FC236}">
                <a16:creationId xmlns:a16="http://schemas.microsoft.com/office/drawing/2014/main" id="{B7312F64-71DD-8052-858D-3F9CD08F2031}"/>
              </a:ext>
            </a:extLst>
          </p:cNvPr>
          <p:cNvPicPr>
            <a:picLocks noChangeAspect="1"/>
          </p:cNvPicPr>
          <p:nvPr/>
        </p:nvPicPr>
        <p:blipFill>
          <a:blip r:embed="rId3"/>
          <a:stretch>
            <a:fillRect/>
          </a:stretch>
        </p:blipFill>
        <p:spPr>
          <a:xfrm>
            <a:off x="365760" y="914400"/>
            <a:ext cx="5374640" cy="1743088"/>
          </a:xfrm>
          <a:prstGeom prst="rect">
            <a:avLst/>
          </a:prstGeom>
        </p:spPr>
      </p:pic>
      <p:pic>
        <p:nvPicPr>
          <p:cNvPr id="13" name="Picture 12">
            <a:extLst>
              <a:ext uri="{FF2B5EF4-FFF2-40B4-BE49-F238E27FC236}">
                <a16:creationId xmlns:a16="http://schemas.microsoft.com/office/drawing/2014/main" id="{40EB052B-52D4-71D5-CBF0-215B08DF62F7}"/>
              </a:ext>
            </a:extLst>
          </p:cNvPr>
          <p:cNvPicPr>
            <a:picLocks noChangeAspect="1"/>
          </p:cNvPicPr>
          <p:nvPr/>
        </p:nvPicPr>
        <p:blipFill>
          <a:blip r:embed="rId4"/>
          <a:stretch>
            <a:fillRect/>
          </a:stretch>
        </p:blipFill>
        <p:spPr>
          <a:xfrm>
            <a:off x="365760" y="2735256"/>
            <a:ext cx="5374640" cy="3939864"/>
          </a:xfrm>
          <a:prstGeom prst="rect">
            <a:avLst/>
          </a:prstGeom>
        </p:spPr>
      </p:pic>
      <p:pic>
        <p:nvPicPr>
          <p:cNvPr id="15" name="Picture 14">
            <a:extLst>
              <a:ext uri="{FF2B5EF4-FFF2-40B4-BE49-F238E27FC236}">
                <a16:creationId xmlns:a16="http://schemas.microsoft.com/office/drawing/2014/main" id="{8E57A00D-C99B-5582-11A4-2A24878DA98E}"/>
              </a:ext>
            </a:extLst>
          </p:cNvPr>
          <p:cNvPicPr>
            <a:picLocks noChangeAspect="1"/>
          </p:cNvPicPr>
          <p:nvPr/>
        </p:nvPicPr>
        <p:blipFill>
          <a:blip r:embed="rId5"/>
          <a:stretch>
            <a:fillRect/>
          </a:stretch>
        </p:blipFill>
        <p:spPr>
          <a:xfrm>
            <a:off x="6036904" y="4282440"/>
            <a:ext cx="5667416" cy="1779270"/>
          </a:xfrm>
          <a:prstGeom prst="rect">
            <a:avLst/>
          </a:prstGeom>
        </p:spPr>
      </p:pic>
      <p:pic>
        <p:nvPicPr>
          <p:cNvPr id="17" name="Picture 16">
            <a:extLst>
              <a:ext uri="{FF2B5EF4-FFF2-40B4-BE49-F238E27FC236}">
                <a16:creationId xmlns:a16="http://schemas.microsoft.com/office/drawing/2014/main" id="{A9479F42-AF2D-FB7E-A4B4-5D6FF6B98932}"/>
              </a:ext>
            </a:extLst>
          </p:cNvPr>
          <p:cNvPicPr>
            <a:picLocks noChangeAspect="1"/>
          </p:cNvPicPr>
          <p:nvPr/>
        </p:nvPicPr>
        <p:blipFill>
          <a:blip r:embed="rId6"/>
          <a:stretch>
            <a:fillRect/>
          </a:stretch>
        </p:blipFill>
        <p:spPr>
          <a:xfrm>
            <a:off x="6035040" y="914400"/>
            <a:ext cx="5667416" cy="3307084"/>
          </a:xfrm>
          <a:prstGeom prst="rect">
            <a:avLst/>
          </a:prstGeom>
        </p:spPr>
      </p:pic>
      <p:pic>
        <p:nvPicPr>
          <p:cNvPr id="19" name="Picture 18">
            <a:extLst>
              <a:ext uri="{FF2B5EF4-FFF2-40B4-BE49-F238E27FC236}">
                <a16:creationId xmlns:a16="http://schemas.microsoft.com/office/drawing/2014/main" id="{9E443973-6E93-4C66-9AD5-E005BDF84FEF}"/>
              </a:ext>
            </a:extLst>
          </p:cNvPr>
          <p:cNvPicPr>
            <a:picLocks noChangeAspect="1"/>
          </p:cNvPicPr>
          <p:nvPr/>
        </p:nvPicPr>
        <p:blipFill>
          <a:blip r:embed="rId7"/>
          <a:stretch>
            <a:fillRect/>
          </a:stretch>
        </p:blipFill>
        <p:spPr>
          <a:xfrm>
            <a:off x="6035040" y="6122666"/>
            <a:ext cx="5667416" cy="55245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1937</Words>
  <Application>Microsoft Office PowerPoint</Application>
  <PresentationFormat>Custom</PresentationFormat>
  <Paragraphs>166</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Savaram Chiranjeevi Venkata Shiva Ruthvik</cp:lastModifiedBy>
  <cp:revision>3</cp:revision>
  <dcterms:created xsi:type="dcterms:W3CDTF">2026-10-07T03:11:12Z</dcterms:created>
  <dcterms:modified xsi:type="dcterms:W3CDTF">2026-10-07T13:38:17Z</dcterms:modified>
</cp:coreProperties>
</file>