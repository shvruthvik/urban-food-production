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4954" autoAdjust="0"/>
  </p:normalViewPr>
  <p:slideViewPr>
    <p:cSldViewPr snapToGrid="0" snapToObjects="1">
      <p:cViewPr varScale="1">
        <p:scale>
          <a:sx n="56" d="100"/>
          <a:sy n="56" d="100"/>
        </p:scale>
        <p:origin x="1044" y="3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24288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[morning/afternoon]. This is my Week 5 progress update. This week was about data collection, validation, and preliminary analysis — the goal is reliable tract-level data for the suitability analysis later. I'll also be upfront about a geography issue I found and what is still unresolved.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week I collected and merged the ACS data. This week I moved on to the other categories in the reference document. The map, health exploration, and USDA extraction are done at a preliminary level. The geography issue is identified but not resolved. Transit is in progress, and vacant land hasn't started. The final variable set is still not finalized.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study area is 14 counties and 516 tracts. This table maps the professor's required categories to what I have. Health is collected. Socioeconomic is partly collected — I have a candidate set from ACS, but some variables on the reference list, like population density, disability, and employment, are not in it yet. Food access is preliminary, transit is being investigated, and vacant land hasn't been collected. Per the reference, data should be at census-tract level, with parcels associated to tracts.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so far. Health and ACS are done at 516 tracts; the ACS merge had zero unmatched and zero duplicates, but only when I used 2019 data — the 2023 ACS matched 430 of 516. The reason is a tract-geography vintage difference: my project IDs match the 2010 tract list. The USDA food-access file uses 2020 tract IDs, 607 records for the 14 counties, which is more than 516 because the tracts were redrawn. So I have not merged USDA with the rest and I'm not calling the data harmonized. The map is a preliminary map of the study area, not a suitability map.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Descriptive statistics across the 516 study-area tracts: obesity averages about 37.9 percent, high blood pressure 33.6, physical inactivity 25.1, fair or poor health 17.2, and diabetes 11.1. These are study-area numbers, not national. The correlation screening shows many indicators overlap: physical inactivity and fair or poor health at 0.956, diabetes and high blood pressure at 0.949. That means using several of them could count the same information more than once. This doesn't show one causes the other. I haven't decided the final health shortlist.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ACS candidate set as last week, now with the correlations in context. Income and home value are at 0.88, poverty and SNAP at 0.86, bachelor's degree and home value at 0.85, foreign-born and Hispanic or Latino at 0.81. Poverty and households without a vehicle are 0.75, and poverty and income are negative 0.72. These help me see overlap between candidates. They are exploratory, not causal, and not weights. Missing values are few: one tract for income, 17 for rent, 4 for home value. I don't treat missing as zero. Variables aren't finalized.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investigations. First, the USDA food-access data: 607 records in my 14 counties, with 2020 tract IDs. Two flags I looked at: low access at one mile urban and ten miles rural, 262 tracts flagged out of 603 non-missing; and the low-income and low-access flag, 55 tracts. I still need to review the definitions before choosing variables. Second, transit: the reference document names public transit access as a required category, prepared through ArcGIS, but I don't have a specific verified layer. As an initial exploration I audited the KCATA GTFS feed: 30 routes, 2,300 stops, 171 of my 516 tracts contain a stop. But the feed doesn't cover the whole metro area, so I can't call a tract with no stop 'no transit.' I also found a possible regional service from MARC with a TransitAccess layer. It's only a candidate — I haven't validated its coverage or method, and I'm not claiming it's the professor's source.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status. Health data preparation is complete for the current project dataset. Exploratory analysis is preliminary. USDA extraction is preliminary. The geography harmonization is unresolved, and that is the biggest issue because it affects whether datasets can be combined. Transit validation is in progress. Vacant land hasn't been collected. Suitability scoring and the dashboard are future work. 'Completed' means that step only — the overall data integration isn't finished.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week's priority is the geography issue, because it decides how the datasets can be combined. Then validating the transit source, collecting vacant-land and parcel data, finalizing a defensible variable shortlist, and building a data inventory. AHP, suitability scoring, and the dashboard come after the data is collected and validated; none of those have started.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br>
              <a:rPr lang="en-US" dirty="0"/>
            </a:br>
            <a:br>
              <a:rPr lang="en-US" dirty="0"/>
            </a:br>
            <a:r>
              <a:rPr lang="en-US" dirty="0"/>
              <a:t>Slide 10 shows the health correlation code and output. Slide 11 shows the socioeconomic correlation code and output. Slide 12 shows the USDA geography audit and its results.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731520" y="2103120"/>
            <a:ext cx="10725912" cy="822960"/>
          </a:xfrm>
          <a:prstGeom prst="rect">
            <a:avLst/>
          </a:prstGeom>
          <a:noFill/>
          <a:ln/>
        </p:spPr>
        <p:txBody>
          <a:bodyPr wrap="square" rtlCol="0" anchor="ctr"/>
          <a:lstStyle/>
          <a:p>
            <a:pPr marL="0" indent="0" algn="ctr">
              <a:buNone/>
            </a:pPr>
            <a:r>
              <a:rPr lang="en-US" sz="3400" b="1" dirty="0">
                <a:solidFill>
                  <a:srgbClr val="2E2E2E"/>
                </a:solidFill>
                <a:latin typeface="Cambria" pitchFamily="34" charset="0"/>
                <a:ea typeface="Cambria" pitchFamily="34" charset="-122"/>
                <a:cs typeface="Cambria" pitchFamily="34" charset="-120"/>
              </a:rPr>
              <a:t>Decision Dashboard for Urban Food Production</a:t>
            </a:r>
            <a:endParaRPr lang="en-US" sz="3400" dirty="0"/>
          </a:p>
        </p:txBody>
      </p:sp>
      <p:sp>
        <p:nvSpPr>
          <p:cNvPr id="3" name="Text 1"/>
          <p:cNvSpPr/>
          <p:nvPr/>
        </p:nvSpPr>
        <p:spPr>
          <a:xfrm>
            <a:off x="731520" y="2834640"/>
            <a:ext cx="10725912" cy="640080"/>
          </a:xfrm>
          <a:prstGeom prst="rect">
            <a:avLst/>
          </a:prstGeom>
          <a:noFill/>
          <a:ln/>
        </p:spPr>
        <p:txBody>
          <a:bodyPr wrap="square" rtlCol="0" anchor="ctr"/>
          <a:lstStyle/>
          <a:p>
            <a:pPr marL="0" indent="0" algn="ctr">
              <a:buNone/>
            </a:pPr>
            <a:r>
              <a:rPr lang="en-US" sz="2800" b="1" dirty="0">
                <a:solidFill>
                  <a:srgbClr val="2E2E2E"/>
                </a:solidFill>
                <a:latin typeface="Cambria" pitchFamily="34" charset="0"/>
                <a:ea typeface="Cambria" pitchFamily="34" charset="-122"/>
                <a:cs typeface="Cambria" pitchFamily="34" charset="-120"/>
              </a:rPr>
              <a:t>Weekly Progress Update — Week 5</a:t>
            </a:r>
            <a:endParaRPr lang="en-US" sz="2800" dirty="0"/>
          </a:p>
        </p:txBody>
      </p:sp>
      <p:sp>
        <p:nvSpPr>
          <p:cNvPr id="4" name="Text 2"/>
          <p:cNvSpPr/>
          <p:nvPr/>
        </p:nvSpPr>
        <p:spPr>
          <a:xfrm>
            <a:off x="731520" y="3566160"/>
            <a:ext cx="10725912" cy="411480"/>
          </a:xfrm>
          <a:prstGeom prst="rect">
            <a:avLst/>
          </a:prstGeom>
          <a:noFill/>
          <a:ln/>
        </p:spPr>
        <p:txBody>
          <a:bodyPr wrap="square" rtlCol="0" anchor="ctr"/>
          <a:lstStyle/>
          <a:p>
            <a:pPr marL="0" indent="0" algn="ctr">
              <a:buNone/>
            </a:pPr>
            <a:r>
              <a:rPr lang="en-US" sz="1800" dirty="0">
                <a:solidFill>
                  <a:srgbClr val="2C5F2D"/>
                </a:solidFill>
                <a:latin typeface="Calibri" pitchFamily="34" charset="0"/>
                <a:ea typeface="Calibri" pitchFamily="34" charset="-122"/>
                <a:cs typeface="Calibri" pitchFamily="34" charset="-120"/>
              </a:rPr>
              <a:t>Focus: Data Collection, Validation, and Preliminary Analysis</a:t>
            </a:r>
            <a:endParaRPr lang="en-US" sz="1800" dirty="0"/>
          </a:p>
        </p:txBody>
      </p:sp>
      <p:sp>
        <p:nvSpPr>
          <p:cNvPr id="5" name="Text 3"/>
          <p:cNvSpPr/>
          <p:nvPr/>
        </p:nvSpPr>
        <p:spPr>
          <a:xfrm>
            <a:off x="731520" y="4206240"/>
            <a:ext cx="10725912" cy="365760"/>
          </a:xfrm>
          <a:prstGeom prst="rect">
            <a:avLst/>
          </a:prstGeom>
          <a:noFill/>
          <a:ln/>
        </p:spPr>
        <p:txBody>
          <a:bodyPr wrap="square" rtlCol="0" anchor="ctr"/>
          <a:lstStyle/>
          <a:p>
            <a:pPr marL="0" indent="0" algn="ctr">
              <a:buNone/>
            </a:pPr>
            <a:r>
              <a:rPr lang="en-US" sz="1600" dirty="0">
                <a:solidFill>
                  <a:srgbClr val="2E2E2E"/>
                </a:solidFill>
                <a:latin typeface="Calibri" pitchFamily="34" charset="0"/>
                <a:ea typeface="Calibri" pitchFamily="34" charset="-122"/>
                <a:cs typeface="Calibri" pitchFamily="34" charset="-120"/>
              </a:rPr>
              <a:t>Chiranjeevi Venkata Shiva Ruthvik Savaram, Y247K345, 10/14/2026</a:t>
            </a:r>
            <a:endParaRPr lang="en-US" sz="1600" dirty="0"/>
          </a:p>
        </p:txBody>
      </p:sp>
      <p:sp>
        <p:nvSpPr>
          <p:cNvPr id="6" name="Text 4"/>
          <p:cNvSpPr/>
          <p:nvPr/>
        </p:nvSpPr>
        <p:spPr>
          <a:xfrm>
            <a:off x="1371600" y="4846320"/>
            <a:ext cx="9445752" cy="365760"/>
          </a:xfrm>
          <a:prstGeom prst="rect">
            <a:avLst/>
          </a:prstGeom>
          <a:noFill/>
          <a:ln/>
        </p:spPr>
        <p:txBody>
          <a:bodyPr wrap="square" rtlCol="0" anchor="ctr"/>
          <a:lstStyle/>
          <a:p>
            <a:pPr marL="0" indent="0" algn="ctr">
              <a:buNone/>
            </a:pP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5486400" cy="640080"/>
          </a:xfrm>
          <a:prstGeom prst="rect">
            <a:avLst/>
          </a:prstGeom>
          <a:noFill/>
          <a:ln/>
        </p:spPr>
        <p:txBody>
          <a:bodyPr wrap="square" rtlCol="0" anchor="ctr"/>
          <a:lstStyle/>
          <a:p>
            <a:pPr marL="0" indent="0">
              <a:buNone/>
            </a:pPr>
            <a:r>
              <a:rPr lang="en-US" sz="3000" dirty="0">
                <a:solidFill>
                  <a:srgbClr val="2E2E2E"/>
                </a:solidFill>
                <a:latin typeface="Cambria" pitchFamily="34" charset="0"/>
                <a:ea typeface="Cambria" pitchFamily="34" charset="-122"/>
                <a:cs typeface="Cambria" pitchFamily="34" charset="-120"/>
              </a:rPr>
              <a:t>Tasks</a:t>
            </a:r>
            <a:endParaRPr lang="en-US" sz="3000" dirty="0"/>
          </a:p>
        </p:txBody>
      </p:sp>
      <p:sp>
        <p:nvSpPr>
          <p:cNvPr id="3" name="Text 1"/>
          <p:cNvSpPr/>
          <p:nvPr/>
        </p:nvSpPr>
        <p:spPr>
          <a:xfrm>
            <a:off x="457200" y="1097280"/>
            <a:ext cx="5303520" cy="365760"/>
          </a:xfrm>
          <a:prstGeom prst="rect">
            <a:avLst/>
          </a:prstGeom>
          <a:noFill/>
          <a:ln/>
        </p:spPr>
        <p:txBody>
          <a:bodyPr wrap="square" rtlCol="0" anchor="ctr"/>
          <a:lstStyle/>
          <a:p>
            <a:pPr marL="0" indent="0">
              <a:buNone/>
            </a:pPr>
            <a:r>
              <a:rPr lang="en-US" sz="1800" dirty="0">
                <a:solidFill>
                  <a:srgbClr val="2E2E2E"/>
                </a:solidFill>
                <a:latin typeface="Calibri" pitchFamily="34" charset="0"/>
                <a:ea typeface="Calibri" pitchFamily="34" charset="-122"/>
                <a:cs typeface="Calibri" pitchFamily="34" charset="-120"/>
              </a:rPr>
              <a:t>Previous Week</a:t>
            </a:r>
            <a:endParaRPr lang="en-US" sz="1800" dirty="0"/>
          </a:p>
        </p:txBody>
      </p:sp>
      <p:sp>
        <p:nvSpPr>
          <p:cNvPr id="4" name="Text 2"/>
          <p:cNvSpPr/>
          <p:nvPr/>
        </p:nvSpPr>
        <p:spPr>
          <a:xfrm>
            <a:off x="502920" y="1554480"/>
            <a:ext cx="5303520" cy="4480560"/>
          </a:xfrm>
          <a:prstGeom prst="rect">
            <a:avLst/>
          </a:prstGeom>
          <a:noFill/>
          <a:ln/>
        </p:spPr>
        <p:txBody>
          <a:bodyPr wrap="square" rtlCol="0" anchor="t"/>
          <a:lstStyle/>
          <a:p>
            <a:pPr marL="342900" indent="-342900">
              <a:spcAft>
                <a:spcPts val="1200"/>
              </a:spcAft>
              <a:buSzPct val="100000"/>
              <a:buChar char="•"/>
            </a:pPr>
            <a:r>
              <a:rPr lang="en-US" sz="1400" dirty="0">
                <a:solidFill>
                  <a:srgbClr val="2E2E2E"/>
                </a:solidFill>
                <a:latin typeface="Calibri" pitchFamily="34" charset="0"/>
                <a:ea typeface="Calibri" pitchFamily="34" charset="-122"/>
                <a:cs typeface="Calibri" pitchFamily="34" charset="-120"/>
              </a:rPr>
              <a:t>Collected ACS candidate variables for the 516 KC metro tracts (2019 5-year) — Completed</a:t>
            </a:r>
            <a:endParaRPr lang="en-US" sz="1400" dirty="0"/>
          </a:p>
          <a:p>
            <a:pPr marL="342900" indent="-342900">
              <a:spcAft>
                <a:spcPts val="1200"/>
              </a:spcAft>
              <a:buSzPct val="100000"/>
              <a:buChar char="•"/>
            </a:pPr>
            <a:r>
              <a:rPr lang="en-US" sz="1400" dirty="0">
                <a:solidFill>
                  <a:srgbClr val="2E2E2E"/>
                </a:solidFill>
                <a:latin typeface="Calibri" pitchFamily="34" charset="0"/>
                <a:ea typeface="Calibri" pitchFamily="34" charset="-122"/>
                <a:cs typeface="Calibri" pitchFamily="34" charset="-120"/>
              </a:rPr>
              <a:t>Merged ACS with the health data; one-to-one merge validated — Completed</a:t>
            </a:r>
            <a:endParaRPr lang="en-US" sz="1400" dirty="0"/>
          </a:p>
          <a:p>
            <a:pPr marL="342900" indent="-342900">
              <a:spcAft>
                <a:spcPts val="1200"/>
              </a:spcAft>
              <a:buSzPct val="100000"/>
              <a:buChar char="•"/>
            </a:pPr>
            <a:r>
              <a:rPr lang="en-US" sz="1400" dirty="0">
                <a:solidFill>
                  <a:srgbClr val="2E2E2E"/>
                </a:solidFill>
                <a:latin typeface="Calibri" pitchFamily="34" charset="0"/>
                <a:ea typeface="Calibri" pitchFamily="34" charset="-122"/>
                <a:cs typeface="Calibri" pitchFamily="34" charset="-120"/>
              </a:rPr>
              <a:t>Cleaned the data; ran initial histograms and correlations — Completed</a:t>
            </a:r>
            <a:endParaRPr lang="en-US" sz="1400" dirty="0"/>
          </a:p>
          <a:p>
            <a:pPr marL="342900" indent="-342900">
              <a:spcAft>
                <a:spcPts val="1200"/>
              </a:spcAft>
              <a:buSzPct val="100000"/>
              <a:buChar char="•"/>
            </a:pPr>
            <a:r>
              <a:rPr lang="en-US" sz="1400" dirty="0">
                <a:solidFill>
                  <a:srgbClr val="2E2E2E"/>
                </a:solidFill>
                <a:latin typeface="Calibri" pitchFamily="34" charset="0"/>
                <a:ea typeface="Calibri" pitchFamily="34" charset="-122"/>
                <a:cs typeface="Calibri" pitchFamily="34" charset="-120"/>
              </a:rPr>
              <a:t>Confirm the final variable set — In Progress (carried forward; not yet finalized)</a:t>
            </a:r>
            <a:endParaRPr lang="en-US" sz="1400" dirty="0"/>
          </a:p>
        </p:txBody>
      </p:sp>
      <p:sp>
        <p:nvSpPr>
          <p:cNvPr id="5" name="Text 3"/>
          <p:cNvSpPr/>
          <p:nvPr/>
        </p:nvSpPr>
        <p:spPr>
          <a:xfrm>
            <a:off x="6309360" y="1097280"/>
            <a:ext cx="5303520" cy="365760"/>
          </a:xfrm>
          <a:prstGeom prst="rect">
            <a:avLst/>
          </a:prstGeom>
          <a:noFill/>
          <a:ln/>
        </p:spPr>
        <p:txBody>
          <a:bodyPr wrap="square" rtlCol="0" anchor="ctr"/>
          <a:lstStyle/>
          <a:p>
            <a:pPr marL="0" indent="0">
              <a:buNone/>
            </a:pPr>
            <a:r>
              <a:rPr lang="en-US" sz="1800" dirty="0">
                <a:solidFill>
                  <a:srgbClr val="2E2E2E"/>
                </a:solidFill>
                <a:latin typeface="Calibri" pitchFamily="34" charset="0"/>
                <a:ea typeface="Calibri" pitchFamily="34" charset="-122"/>
                <a:cs typeface="Calibri" pitchFamily="34" charset="-120"/>
              </a:rPr>
              <a:t>This Week</a:t>
            </a:r>
            <a:endParaRPr lang="en-US" sz="1800" dirty="0"/>
          </a:p>
        </p:txBody>
      </p:sp>
      <p:sp>
        <p:nvSpPr>
          <p:cNvPr id="6" name="Text 4"/>
          <p:cNvSpPr/>
          <p:nvPr/>
        </p:nvSpPr>
        <p:spPr>
          <a:xfrm>
            <a:off x="6355080" y="1554480"/>
            <a:ext cx="5303520" cy="4572000"/>
          </a:xfrm>
          <a:prstGeom prst="rect">
            <a:avLst/>
          </a:prstGeom>
          <a:noFill/>
          <a:ln/>
        </p:spPr>
        <p:txBody>
          <a:bodyPr wrap="square" rtlCol="0" anchor="t"/>
          <a:lstStyle/>
          <a:p>
            <a:pPr marL="342900" indent="-342900">
              <a:spcAft>
                <a:spcPts val="1000"/>
              </a:spcAft>
              <a:buSzPct val="100000"/>
              <a:buChar char="•"/>
            </a:pPr>
            <a:r>
              <a:rPr lang="en-US" sz="1350" dirty="0">
                <a:solidFill>
                  <a:srgbClr val="2E2E2E"/>
                </a:solidFill>
                <a:latin typeface="Calibri" pitchFamily="34" charset="0"/>
                <a:ea typeface="Calibri" pitchFamily="34" charset="-122"/>
                <a:cs typeface="Calibri" pitchFamily="34" charset="-120"/>
              </a:rPr>
              <a:t>Created a preliminary map of the 516 project tracts from boundary data — Completed (preliminary)</a:t>
            </a:r>
            <a:endParaRPr lang="en-US" sz="1350" dirty="0"/>
          </a:p>
          <a:p>
            <a:pPr marL="342900" indent="-342900">
              <a:spcAft>
                <a:spcPts val="1000"/>
              </a:spcAft>
              <a:buSzPct val="100000"/>
              <a:buChar char="•"/>
            </a:pPr>
            <a:r>
              <a:rPr lang="en-US" sz="1350" dirty="0">
                <a:solidFill>
                  <a:srgbClr val="2E2E2E"/>
                </a:solidFill>
                <a:latin typeface="Calibri" pitchFamily="34" charset="0"/>
                <a:ea typeface="Calibri" pitchFamily="34" charset="-122"/>
                <a:cs typeface="Calibri" pitchFamily="34" charset="-120"/>
              </a:rPr>
              <a:t>Explored health indicators: descriptive statistics and correlations — Completed (preliminary)</a:t>
            </a:r>
            <a:endParaRPr lang="en-US" sz="1350" dirty="0"/>
          </a:p>
          <a:p>
            <a:pPr marL="342900" indent="-342900">
              <a:spcAft>
                <a:spcPts val="1000"/>
              </a:spcAft>
              <a:buSzPct val="100000"/>
              <a:buChar char="•"/>
            </a:pPr>
            <a:r>
              <a:rPr lang="en-US" sz="1350" dirty="0">
                <a:solidFill>
                  <a:srgbClr val="2E2E2E"/>
                </a:solidFill>
                <a:latin typeface="Calibri" pitchFamily="34" charset="0"/>
                <a:ea typeface="Calibri" pitchFamily="34" charset="-122"/>
                <a:cs typeface="Calibri" pitchFamily="34" charset="-120"/>
              </a:rPr>
              <a:t>Extracted USDA food-access data for the 14-county area (607 records) — Completed (preliminary); variable selection pending</a:t>
            </a:r>
            <a:endParaRPr lang="en-US" sz="1350" dirty="0"/>
          </a:p>
          <a:p>
            <a:pPr marL="342900" indent="-342900">
              <a:spcAft>
                <a:spcPts val="1000"/>
              </a:spcAft>
              <a:buSzPct val="100000"/>
              <a:buChar char="•"/>
            </a:pPr>
            <a:r>
              <a:rPr lang="en-US" sz="1350" dirty="0">
                <a:solidFill>
                  <a:srgbClr val="2E2E2E"/>
                </a:solidFill>
                <a:latin typeface="Calibri" pitchFamily="34" charset="0"/>
                <a:ea typeface="Calibri" pitchFamily="34" charset="-122"/>
                <a:cs typeface="Calibri" pitchFamily="34" charset="-120"/>
              </a:rPr>
              <a:t>Investigated census-tract geography differences between datasets — Issue identified; not yet resolved</a:t>
            </a:r>
            <a:endParaRPr lang="en-US" sz="1350" dirty="0"/>
          </a:p>
          <a:p>
            <a:pPr marL="342900" indent="-342900">
              <a:spcAft>
                <a:spcPts val="1000"/>
              </a:spcAft>
              <a:buSzPct val="100000"/>
              <a:buChar char="•"/>
            </a:pPr>
            <a:r>
              <a:rPr lang="en-US" sz="1350" dirty="0">
                <a:solidFill>
                  <a:srgbClr val="2E2E2E"/>
                </a:solidFill>
                <a:latin typeface="Calibri" pitchFamily="34" charset="0"/>
                <a:ea typeface="Calibri" pitchFamily="34" charset="-122"/>
                <a:cs typeface="Calibri" pitchFamily="34" charset="-120"/>
              </a:rPr>
              <a:t>Investigated public transit sources (KCATA GTFS, MARC ArcGIS service) — In Progress</a:t>
            </a:r>
            <a:endParaRPr lang="en-US" sz="1350" dirty="0"/>
          </a:p>
          <a:p>
            <a:pPr marL="342900" indent="-342900">
              <a:spcAft>
                <a:spcPts val="1000"/>
              </a:spcAft>
              <a:buSzPct val="100000"/>
              <a:buChar char="•"/>
            </a:pPr>
            <a:r>
              <a:rPr lang="en-US" sz="1350" dirty="0">
                <a:solidFill>
                  <a:srgbClr val="2E2E2E"/>
                </a:solidFill>
                <a:latin typeface="Calibri" pitchFamily="34" charset="0"/>
                <a:ea typeface="Calibri" pitchFamily="34" charset="-122"/>
                <a:cs typeface="Calibri" pitchFamily="34" charset="-120"/>
              </a:rPr>
              <a:t>Vacant-land / parcel data collection — Not Started</a:t>
            </a:r>
            <a:endParaRPr lang="en-US" sz="1350" dirty="0"/>
          </a:p>
        </p:txBody>
      </p:sp>
      <p:sp>
        <p:nvSpPr>
          <p:cNvPr id="7" name="Text 5"/>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8" name="Text 6"/>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5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2C5F2D"/>
          </a:solidFill>
          <a:ln/>
        </p:spPr>
        <p:txBody>
          <a:bodyPr/>
          <a:lstStyle/>
          <a:p>
            <a:endParaRPr lang="en-US"/>
          </a:p>
        </p:txBody>
      </p:sp>
      <p:sp>
        <p:nvSpPr>
          <p:cNvPr id="3" name="Text 1"/>
          <p:cNvSpPr/>
          <p:nvPr/>
        </p:nvSpPr>
        <p:spPr>
          <a:xfrm>
            <a:off x="457200" y="256032"/>
            <a:ext cx="1124712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Project Scope and Required Data</a:t>
            </a:r>
            <a:endParaRPr lang="en-US" sz="2800" dirty="0"/>
          </a:p>
        </p:txBody>
      </p:sp>
      <p:sp>
        <p:nvSpPr>
          <p:cNvPr id="4" name="Text 2"/>
          <p:cNvSpPr/>
          <p:nvPr/>
        </p:nvSpPr>
        <p:spPr>
          <a:xfrm>
            <a:off x="457200" y="1280160"/>
            <a:ext cx="11247120" cy="457200"/>
          </a:xfrm>
          <a:prstGeom prst="rect">
            <a:avLst/>
          </a:prstGeom>
          <a:noFill/>
          <a:ln/>
        </p:spPr>
        <p:txBody>
          <a:bodyPr wrap="square"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Study area: 14 counties (9 Missouri, 5 Kansas) — 516 census tracts. Required categories follow the professor's reference documents.</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828800"/>
          <a:ext cx="11247120" cy="3611880"/>
        </p:xfrm>
        <a:graphic>
          <a:graphicData uri="http://schemas.openxmlformats.org/drawingml/2006/table">
            <a:tbl>
              <a:tblPr/>
              <a:tblGrid>
                <a:gridCol w="219456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tblGrid>
              <a:tr h="36576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Category</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Required variables (reference document)</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Obtained so far</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tc>
                  <a:txBody>
                    <a:bodyPr/>
                    <a:lstStyle/>
                    <a:p>
                      <a:pPr marL="0" indent="0" algn="ctr">
                        <a:buNone/>
                      </a:pPr>
                      <a:r>
                        <a:rPr lang="en-US" sz="1150" b="1" dirty="0">
                          <a:solidFill>
                            <a:srgbClr val="FFFFFF"/>
                          </a:solidFill>
                          <a:latin typeface="Calibri" pitchFamily="34" charset="0"/>
                          <a:ea typeface="Calibri" pitchFamily="34" charset="-122"/>
                          <a:cs typeface="Calibri" pitchFamily="34" charset="-120"/>
                        </a:rPr>
                        <a:t>Status</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2C5F2D"/>
                    </a:solidFill>
                  </a:tcPr>
                </a:tc>
                <a:extLst>
                  <a:ext uri="{0D108BD9-81ED-4DB2-BD59-A6C34878D82A}">
                    <a16:rowId xmlns:a16="http://schemas.microsoft.com/office/drawing/2014/main" val="10000"/>
                  </a:ext>
                </a:extLst>
              </a:tr>
              <a:tr h="1005840">
                <a:tc>
                  <a:txBody>
                    <a:bodyPr/>
                    <a:lstStyle/>
                    <a:p>
                      <a:pPr marL="0" indent="0">
                        <a:buNone/>
                      </a:pPr>
                      <a:r>
                        <a:rPr lang="en-US" sz="1150" b="1" dirty="0">
                          <a:solidFill>
                            <a:srgbClr val="2E2E2E"/>
                          </a:solidFill>
                          <a:latin typeface="Calibri" pitchFamily="34" charset="0"/>
                          <a:ea typeface="Calibri" pitchFamily="34" charset="-122"/>
                          <a:cs typeface="Calibri" pitchFamily="34" charset="-120"/>
                        </a:rPr>
                        <a:t>Demographic &amp; socioeconomic</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Population density, % Black / Hispanic, foreign-born, disability, age 65+, no vehicle, households with children, renter-occupied, income, rent / home value, poverty, SNAP, employment, education</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ACS 2019 candidates for 516 tracts (poverty, no vehicle, SNAP, income, foreign-born, Black, Hispanic/Latino, children, renter, rent, home value, education, 65+)</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5F2D"/>
                          </a:solidFill>
                          <a:latin typeface="Calibri" pitchFamily="34" charset="0"/>
                          <a:ea typeface="Calibri" pitchFamily="34" charset="-122"/>
                          <a:cs typeface="Calibri" pitchFamily="34" charset="-120"/>
                        </a:rPr>
                        <a:t>Partly collected</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buNone/>
                      </a:pPr>
                      <a:r>
                        <a:rPr lang="en-US" sz="1150" b="1" dirty="0">
                          <a:solidFill>
                            <a:srgbClr val="2E2E2E"/>
                          </a:solidFill>
                          <a:latin typeface="Calibri" pitchFamily="34" charset="0"/>
                          <a:ea typeface="Calibri" pitchFamily="34" charset="-122"/>
                          <a:cs typeface="Calibri" pitchFamily="34" charset="-120"/>
                        </a:rPr>
                        <a:t>Health</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Obesity, diabetes, high blood pressure</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CDC PLACES 2023, 516 tracts</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2C5F2D"/>
                          </a:solidFill>
                          <a:latin typeface="Calibri" pitchFamily="34" charset="0"/>
                          <a:ea typeface="Calibri" pitchFamily="34" charset="-122"/>
                          <a:cs typeface="Calibri" pitchFamily="34" charset="-120"/>
                        </a:rPr>
                        <a:t>Collected</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94360">
                <a:tc>
                  <a:txBody>
                    <a:bodyPr/>
                    <a:lstStyle/>
                    <a:p>
                      <a:pPr marL="0" indent="0">
                        <a:buNone/>
                      </a:pPr>
                      <a:r>
                        <a:rPr lang="en-US" sz="1150" b="1" dirty="0">
                          <a:solidFill>
                            <a:srgbClr val="2E2E2E"/>
                          </a:solidFill>
                          <a:latin typeface="Calibri" pitchFamily="34" charset="0"/>
                          <a:ea typeface="Calibri" pitchFamily="34" charset="-122"/>
                          <a:cs typeface="Calibri" pitchFamily="34" charset="-120"/>
                        </a:rPr>
                        <a:t>Food access</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Distance to nearest food store</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USDA Food Access Research Atlas: 607 records (2020 tract IDs)</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C98A2B"/>
                          </a:solidFill>
                          <a:latin typeface="Calibri" pitchFamily="34" charset="0"/>
                          <a:ea typeface="Calibri" pitchFamily="34" charset="-122"/>
                          <a:cs typeface="Calibri" pitchFamily="34" charset="-120"/>
                        </a:rPr>
                        <a:t>Preliminary</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94360">
                <a:tc>
                  <a:txBody>
                    <a:bodyPr/>
                    <a:lstStyle/>
                    <a:p>
                      <a:pPr marL="0" indent="0">
                        <a:buNone/>
                      </a:pPr>
                      <a:r>
                        <a:rPr lang="en-US" sz="1150" b="1" dirty="0">
                          <a:solidFill>
                            <a:srgbClr val="2E2E2E"/>
                          </a:solidFill>
                          <a:latin typeface="Calibri" pitchFamily="34" charset="0"/>
                          <a:ea typeface="Calibri" pitchFamily="34" charset="-122"/>
                          <a:cs typeface="Calibri" pitchFamily="34" charset="-120"/>
                        </a:rPr>
                        <a:t>Transit</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Public transit access (ArcGIS-prepared)</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KCATA GTFS audit; MARC service is a candidate only</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C98A2B"/>
                          </a:solidFill>
                          <a:latin typeface="Calibri" pitchFamily="34" charset="0"/>
                          <a:ea typeface="Calibri" pitchFamily="34" charset="-122"/>
                          <a:cs typeface="Calibri" pitchFamily="34" charset="-120"/>
                        </a:rPr>
                        <a:t>Investigating</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94360">
                <a:tc>
                  <a:txBody>
                    <a:bodyPr/>
                    <a:lstStyle/>
                    <a:p>
                      <a:pPr marL="0" indent="0">
                        <a:buNone/>
                      </a:pPr>
                      <a:r>
                        <a:rPr lang="en-US" sz="1150" b="1" dirty="0">
                          <a:solidFill>
                            <a:srgbClr val="2E2E2E"/>
                          </a:solidFill>
                          <a:latin typeface="Calibri" pitchFamily="34" charset="0"/>
                          <a:ea typeface="Calibri" pitchFamily="34" charset="-122"/>
                          <a:cs typeface="Calibri" pitchFamily="34" charset="-120"/>
                        </a:rPr>
                        <a:t>Vacant land</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Vacant land availability (Kansas ORKA, KCMO Parcel Viewer)</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buNone/>
                      </a:pPr>
                      <a:r>
                        <a:rPr lang="en-US" sz="1150" dirty="0">
                          <a:solidFill>
                            <a:srgbClr val="2E2E2E"/>
                          </a:solidFill>
                          <a:latin typeface="Calibri" pitchFamily="34" charset="0"/>
                          <a:ea typeface="Calibri" pitchFamily="34" charset="-122"/>
                          <a:cs typeface="Calibri" pitchFamily="34" charset="-120"/>
                        </a:rPr>
                        <a:t>Not yet collected</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marL="0" indent="0" algn="ctr">
                        <a:buNone/>
                      </a:pPr>
                      <a:r>
                        <a:rPr lang="en-US" sz="1150" b="1" dirty="0">
                          <a:solidFill>
                            <a:srgbClr val="A33B2F"/>
                          </a:solidFill>
                          <a:latin typeface="Calibri" pitchFamily="34" charset="0"/>
                          <a:ea typeface="Calibri" pitchFamily="34" charset="-122"/>
                          <a:cs typeface="Calibri" pitchFamily="34" charset="-120"/>
                        </a:rPr>
                        <a:t>Pending</a:t>
                      </a:r>
                      <a:endParaRPr lang="en-US" sz="1150" dirty="0">
                        <a:latin typeface="Calibri" charset="0"/>
                        <a:ea typeface="Calibri" charset="0"/>
                        <a:cs typeface="Calibri" charset="0"/>
                      </a:endParaRPr>
                    </a:p>
                  </a:txBody>
                  <a:tcPr anchor="ctr">
                    <a:lnL w="9525" cap="flat" cmpd="sng" algn="ctr">
                      <a:solidFill>
                        <a:srgbClr val="DDDDDD"/>
                      </a:solidFill>
                      <a:prstDash val="solid"/>
                      <a:round/>
                      <a:headEnd type="none" w="med" len="med"/>
                      <a:tailEnd type="none" w="med" len="med"/>
                    </a:lnL>
                    <a:lnR w="9525" cap="flat" cmpd="sng" algn="ctr">
                      <a:solidFill>
                        <a:srgbClr val="DDDDDD"/>
                      </a:solidFill>
                      <a:prstDash val="solid"/>
                      <a:round/>
                      <a:headEnd type="none" w="med" len="med"/>
                      <a:tailEnd type="none" w="med" len="med"/>
                    </a:lnR>
                    <a:lnT w="9525" cap="flat" cmpd="sng" algn="ctr">
                      <a:solidFill>
                        <a:srgbClr val="DDDDDD"/>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Text 3"/>
          <p:cNvSpPr/>
          <p:nvPr/>
        </p:nvSpPr>
        <p:spPr>
          <a:xfrm>
            <a:off x="457200" y="5577840"/>
            <a:ext cx="11247120" cy="457200"/>
          </a:xfrm>
          <a:prstGeom prst="rect">
            <a:avLst/>
          </a:prstGeom>
          <a:noFill/>
          <a:ln/>
        </p:spPr>
        <p:txBody>
          <a:bodyPr wrap="square"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Some variables in the reference list are not yet in the candidate set (e.g., population density, disability, employment, below-high-school education).</a:t>
            </a:r>
            <a:endParaRPr lang="en-US" sz="1200" dirty="0"/>
          </a:p>
        </p:txBody>
      </p:sp>
      <p:sp>
        <p:nvSpPr>
          <p:cNvPr id="7" name="Text 4"/>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8" name="Text 5"/>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Data Collected and Preparation</a:t>
            </a:r>
            <a:endParaRPr lang="en-US" sz="2800" dirty="0"/>
          </a:p>
        </p:txBody>
      </p:sp>
      <p:sp>
        <p:nvSpPr>
          <p:cNvPr id="3" name="Text 1"/>
          <p:cNvSpPr/>
          <p:nvPr/>
        </p:nvSpPr>
        <p:spPr>
          <a:xfrm>
            <a:off x="457200" y="914400"/>
            <a:ext cx="11247120"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Three tract-level sources and a preliminary map; geography is not yet harmonized</a:t>
            </a:r>
            <a:endParaRPr lang="en-US" sz="1400" dirty="0"/>
          </a:p>
        </p:txBody>
      </p:sp>
      <p:sp>
        <p:nvSpPr>
          <p:cNvPr id="4" name="Shape 2"/>
          <p:cNvSpPr/>
          <p:nvPr/>
        </p:nvSpPr>
        <p:spPr>
          <a:xfrm>
            <a:off x="457200" y="1417320"/>
            <a:ext cx="6035040" cy="1097280"/>
          </a:xfrm>
          <a:prstGeom prst="rect">
            <a:avLst/>
          </a:prstGeom>
          <a:solidFill>
            <a:srgbClr val="F6F5F0"/>
          </a:solidFill>
          <a:ln w="19050">
            <a:solidFill>
              <a:srgbClr val="2C5F2D"/>
            </a:solidFill>
            <a:prstDash val="solid"/>
          </a:ln>
        </p:spPr>
        <p:txBody>
          <a:bodyPr/>
          <a:lstStyle/>
          <a:p>
            <a:endParaRPr lang="en-US"/>
          </a:p>
        </p:txBody>
      </p:sp>
      <p:sp>
        <p:nvSpPr>
          <p:cNvPr id="5" name="Shape 3"/>
          <p:cNvSpPr/>
          <p:nvPr/>
        </p:nvSpPr>
        <p:spPr>
          <a:xfrm>
            <a:off x="457200" y="1417320"/>
            <a:ext cx="109728" cy="1097280"/>
          </a:xfrm>
          <a:prstGeom prst="rect">
            <a:avLst/>
          </a:prstGeom>
          <a:solidFill>
            <a:srgbClr val="2C5F2D"/>
          </a:solidFill>
          <a:ln/>
        </p:spPr>
        <p:txBody>
          <a:bodyPr/>
          <a:lstStyle/>
          <a:p>
            <a:endParaRPr lang="en-US"/>
          </a:p>
        </p:txBody>
      </p:sp>
      <p:sp>
        <p:nvSpPr>
          <p:cNvPr id="6" name="Text 4"/>
          <p:cNvSpPr/>
          <p:nvPr/>
        </p:nvSpPr>
        <p:spPr>
          <a:xfrm>
            <a:off x="685800" y="1463040"/>
            <a:ext cx="3931920" cy="365760"/>
          </a:xfrm>
          <a:prstGeom prst="rect">
            <a:avLst/>
          </a:prstGeom>
          <a:noFill/>
          <a:ln/>
        </p:spPr>
        <p:txBody>
          <a:bodyPr wrap="square" rtlCol="0" anchor="ctr"/>
          <a:lstStyle/>
          <a:p>
            <a:pPr marL="0" indent="0">
              <a:buNone/>
            </a:pPr>
            <a:r>
              <a:rPr lang="en-US" sz="1400" b="1" dirty="0">
                <a:solidFill>
                  <a:srgbClr val="2E2E2E"/>
                </a:solidFill>
                <a:latin typeface="Calibri" pitchFamily="34" charset="0"/>
                <a:ea typeface="Calibri" pitchFamily="34" charset="-122"/>
                <a:cs typeface="Calibri" pitchFamily="34" charset="-120"/>
              </a:rPr>
              <a:t>CDC PLACES 2023 (health)</a:t>
            </a:r>
            <a:endParaRPr lang="en-US" sz="1400" dirty="0"/>
          </a:p>
        </p:txBody>
      </p:sp>
      <p:sp>
        <p:nvSpPr>
          <p:cNvPr id="7" name="Text 5"/>
          <p:cNvSpPr/>
          <p:nvPr/>
        </p:nvSpPr>
        <p:spPr>
          <a:xfrm>
            <a:off x="685800" y="1828800"/>
            <a:ext cx="5669280" cy="640080"/>
          </a:xfrm>
          <a:prstGeom prst="rect">
            <a:avLst/>
          </a:prstGeom>
          <a:noFill/>
          <a:ln/>
        </p:spPr>
        <p:txBody>
          <a:bodyPr wrap="square" rtlCol="0" anchor="t"/>
          <a:lstStyle/>
          <a:p>
            <a:pPr marL="0" indent="0">
              <a:buNone/>
            </a:pPr>
            <a:r>
              <a:rPr lang="en-US" sz="1200" dirty="0">
                <a:solidFill>
                  <a:srgbClr val="2E2E2E"/>
                </a:solidFill>
                <a:latin typeface="Calibri" pitchFamily="34" charset="0"/>
                <a:ea typeface="Calibri" pitchFamily="34" charset="-122"/>
                <a:cs typeface="Calibri" pitchFamily="34" charset="-120"/>
              </a:rPr>
              <a:t>516 rows × 81 columns, filtered to the 14 counties</a:t>
            </a:r>
            <a:endParaRPr lang="en-US" sz="1200" dirty="0"/>
          </a:p>
        </p:txBody>
      </p:sp>
      <p:sp>
        <p:nvSpPr>
          <p:cNvPr id="8" name="Shape 6"/>
          <p:cNvSpPr/>
          <p:nvPr/>
        </p:nvSpPr>
        <p:spPr>
          <a:xfrm>
            <a:off x="4754880" y="1490472"/>
            <a:ext cx="1645920" cy="310896"/>
          </a:xfrm>
          <a:prstGeom prst="roundRect">
            <a:avLst>
              <a:gd name="adj" fmla="val 23529"/>
            </a:avLst>
          </a:prstGeom>
          <a:solidFill>
            <a:srgbClr val="2C5F2D"/>
          </a:solidFill>
          <a:ln/>
        </p:spPr>
        <p:txBody>
          <a:bodyPr/>
          <a:lstStyle/>
          <a:p>
            <a:endParaRPr lang="en-US"/>
          </a:p>
        </p:txBody>
      </p:sp>
      <p:sp>
        <p:nvSpPr>
          <p:cNvPr id="9" name="Text 7"/>
          <p:cNvSpPr/>
          <p:nvPr/>
        </p:nvSpPr>
        <p:spPr>
          <a:xfrm>
            <a:off x="4754880" y="1490472"/>
            <a:ext cx="164592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2010-era tract IDs</a:t>
            </a:r>
            <a:endParaRPr lang="en-US" sz="1100" dirty="0"/>
          </a:p>
        </p:txBody>
      </p:sp>
      <p:sp>
        <p:nvSpPr>
          <p:cNvPr id="10" name="Shape 8"/>
          <p:cNvSpPr/>
          <p:nvPr/>
        </p:nvSpPr>
        <p:spPr>
          <a:xfrm>
            <a:off x="457200" y="2651760"/>
            <a:ext cx="6035040" cy="1097280"/>
          </a:xfrm>
          <a:prstGeom prst="rect">
            <a:avLst/>
          </a:prstGeom>
          <a:solidFill>
            <a:srgbClr val="F6F5F0"/>
          </a:solidFill>
          <a:ln w="19050">
            <a:solidFill>
              <a:srgbClr val="2C5F2D"/>
            </a:solidFill>
            <a:prstDash val="solid"/>
          </a:ln>
        </p:spPr>
        <p:txBody>
          <a:bodyPr/>
          <a:lstStyle/>
          <a:p>
            <a:endParaRPr lang="en-US"/>
          </a:p>
        </p:txBody>
      </p:sp>
      <p:sp>
        <p:nvSpPr>
          <p:cNvPr id="11" name="Shape 9"/>
          <p:cNvSpPr/>
          <p:nvPr/>
        </p:nvSpPr>
        <p:spPr>
          <a:xfrm>
            <a:off x="457200" y="2651760"/>
            <a:ext cx="109728" cy="1097280"/>
          </a:xfrm>
          <a:prstGeom prst="rect">
            <a:avLst/>
          </a:prstGeom>
          <a:solidFill>
            <a:srgbClr val="2C5F2D"/>
          </a:solidFill>
          <a:ln/>
        </p:spPr>
        <p:txBody>
          <a:bodyPr/>
          <a:lstStyle/>
          <a:p>
            <a:endParaRPr lang="en-US"/>
          </a:p>
        </p:txBody>
      </p:sp>
      <p:sp>
        <p:nvSpPr>
          <p:cNvPr id="12" name="Text 10"/>
          <p:cNvSpPr/>
          <p:nvPr/>
        </p:nvSpPr>
        <p:spPr>
          <a:xfrm>
            <a:off x="685800" y="2697480"/>
            <a:ext cx="3931920" cy="365760"/>
          </a:xfrm>
          <a:prstGeom prst="rect">
            <a:avLst/>
          </a:prstGeom>
          <a:noFill/>
          <a:ln/>
        </p:spPr>
        <p:txBody>
          <a:bodyPr wrap="square" rtlCol="0" anchor="ctr"/>
          <a:lstStyle/>
          <a:p>
            <a:pPr marL="0" indent="0">
              <a:buNone/>
            </a:pPr>
            <a:r>
              <a:rPr lang="en-US" sz="1400" b="1" dirty="0">
                <a:solidFill>
                  <a:srgbClr val="2E2E2E"/>
                </a:solidFill>
                <a:latin typeface="Calibri" pitchFamily="34" charset="0"/>
                <a:ea typeface="Calibri" pitchFamily="34" charset="-122"/>
                <a:cs typeface="Calibri" pitchFamily="34" charset="-120"/>
              </a:rPr>
              <a:t>ACS 2019 5-year (socioeconomic)</a:t>
            </a:r>
            <a:endParaRPr lang="en-US" sz="1400" dirty="0"/>
          </a:p>
        </p:txBody>
      </p:sp>
      <p:sp>
        <p:nvSpPr>
          <p:cNvPr id="13" name="Text 11"/>
          <p:cNvSpPr/>
          <p:nvPr/>
        </p:nvSpPr>
        <p:spPr>
          <a:xfrm>
            <a:off x="685800" y="3063240"/>
            <a:ext cx="5669280" cy="640080"/>
          </a:xfrm>
          <a:prstGeom prst="rect">
            <a:avLst/>
          </a:prstGeom>
          <a:noFill/>
          <a:ln/>
        </p:spPr>
        <p:txBody>
          <a:bodyPr wrap="square" rtlCol="0" anchor="t"/>
          <a:lstStyle/>
          <a:p>
            <a:pPr marL="0" indent="0">
              <a:buNone/>
            </a:pPr>
            <a:r>
              <a:rPr lang="en-US" sz="1200" dirty="0">
                <a:solidFill>
                  <a:srgbClr val="2E2E2E"/>
                </a:solidFill>
                <a:latin typeface="Calibri" pitchFamily="34" charset="0"/>
                <a:ea typeface="Calibri" pitchFamily="34" charset="-122"/>
                <a:cs typeface="Calibri" pitchFamily="34" charset="-120"/>
              </a:rPr>
              <a:t>516 unique tract IDs, 0 unmatched, 0 duplicates. 2023 ACS matched only 430 of 516.</a:t>
            </a:r>
            <a:endParaRPr lang="en-US" sz="1200" dirty="0"/>
          </a:p>
        </p:txBody>
      </p:sp>
      <p:sp>
        <p:nvSpPr>
          <p:cNvPr id="14" name="Shape 12"/>
          <p:cNvSpPr/>
          <p:nvPr/>
        </p:nvSpPr>
        <p:spPr>
          <a:xfrm>
            <a:off x="4754880" y="2724912"/>
            <a:ext cx="1645920" cy="310896"/>
          </a:xfrm>
          <a:prstGeom prst="roundRect">
            <a:avLst>
              <a:gd name="adj" fmla="val 23529"/>
            </a:avLst>
          </a:prstGeom>
          <a:solidFill>
            <a:srgbClr val="2C5F2D"/>
          </a:solidFill>
          <a:ln/>
        </p:spPr>
        <p:txBody>
          <a:bodyPr/>
          <a:lstStyle/>
          <a:p>
            <a:endParaRPr lang="en-US"/>
          </a:p>
        </p:txBody>
      </p:sp>
      <p:sp>
        <p:nvSpPr>
          <p:cNvPr id="15" name="Text 13"/>
          <p:cNvSpPr/>
          <p:nvPr/>
        </p:nvSpPr>
        <p:spPr>
          <a:xfrm>
            <a:off x="4754880" y="2724912"/>
            <a:ext cx="164592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2010-era tract IDs</a:t>
            </a:r>
            <a:endParaRPr lang="en-US" sz="1100" dirty="0"/>
          </a:p>
        </p:txBody>
      </p:sp>
      <p:sp>
        <p:nvSpPr>
          <p:cNvPr id="16" name="Shape 14"/>
          <p:cNvSpPr/>
          <p:nvPr/>
        </p:nvSpPr>
        <p:spPr>
          <a:xfrm>
            <a:off x="457200" y="3886200"/>
            <a:ext cx="6035040" cy="1097280"/>
          </a:xfrm>
          <a:prstGeom prst="rect">
            <a:avLst/>
          </a:prstGeom>
          <a:solidFill>
            <a:srgbClr val="F6F5F0"/>
          </a:solidFill>
          <a:ln w="19050">
            <a:solidFill>
              <a:srgbClr val="C98A2B"/>
            </a:solidFill>
            <a:prstDash val="solid"/>
          </a:ln>
        </p:spPr>
        <p:txBody>
          <a:bodyPr/>
          <a:lstStyle/>
          <a:p>
            <a:endParaRPr lang="en-US"/>
          </a:p>
        </p:txBody>
      </p:sp>
      <p:sp>
        <p:nvSpPr>
          <p:cNvPr id="17" name="Shape 15"/>
          <p:cNvSpPr/>
          <p:nvPr/>
        </p:nvSpPr>
        <p:spPr>
          <a:xfrm>
            <a:off x="457200" y="3886200"/>
            <a:ext cx="109728" cy="1097280"/>
          </a:xfrm>
          <a:prstGeom prst="rect">
            <a:avLst/>
          </a:prstGeom>
          <a:solidFill>
            <a:srgbClr val="C98A2B"/>
          </a:solidFill>
          <a:ln/>
        </p:spPr>
        <p:txBody>
          <a:bodyPr/>
          <a:lstStyle/>
          <a:p>
            <a:endParaRPr lang="en-US"/>
          </a:p>
        </p:txBody>
      </p:sp>
      <p:sp>
        <p:nvSpPr>
          <p:cNvPr id="18" name="Text 16"/>
          <p:cNvSpPr/>
          <p:nvPr/>
        </p:nvSpPr>
        <p:spPr>
          <a:xfrm>
            <a:off x="685800" y="3931920"/>
            <a:ext cx="3931920" cy="365760"/>
          </a:xfrm>
          <a:prstGeom prst="rect">
            <a:avLst/>
          </a:prstGeom>
          <a:noFill/>
          <a:ln/>
        </p:spPr>
        <p:txBody>
          <a:bodyPr wrap="square" rtlCol="0" anchor="ctr"/>
          <a:lstStyle/>
          <a:p>
            <a:pPr marL="0" indent="0">
              <a:buNone/>
            </a:pPr>
            <a:r>
              <a:rPr lang="en-US" sz="1400" b="1" dirty="0">
                <a:solidFill>
                  <a:srgbClr val="2E2E2E"/>
                </a:solidFill>
                <a:latin typeface="Calibri" pitchFamily="34" charset="0"/>
                <a:ea typeface="Calibri" pitchFamily="34" charset="-122"/>
                <a:cs typeface="Calibri" pitchFamily="34" charset="-120"/>
              </a:rPr>
              <a:t>USDA Food Access Atlas (2025 version)</a:t>
            </a:r>
            <a:endParaRPr lang="en-US" sz="1400" dirty="0"/>
          </a:p>
        </p:txBody>
      </p:sp>
      <p:sp>
        <p:nvSpPr>
          <p:cNvPr id="19" name="Text 17"/>
          <p:cNvSpPr/>
          <p:nvPr/>
        </p:nvSpPr>
        <p:spPr>
          <a:xfrm>
            <a:off x="685800" y="4297680"/>
            <a:ext cx="5669280" cy="640080"/>
          </a:xfrm>
          <a:prstGeom prst="rect">
            <a:avLst/>
          </a:prstGeom>
          <a:noFill/>
          <a:ln/>
        </p:spPr>
        <p:txBody>
          <a:bodyPr wrap="square" rtlCol="0" anchor="t"/>
          <a:lstStyle/>
          <a:p>
            <a:r>
              <a:rPr lang="en-US" sz="1200" dirty="0"/>
              <a:t>607 records for the 14 counties; uses 2020 tract IDs.</a:t>
            </a:r>
          </a:p>
          <a:p>
            <a:r>
              <a:rPr lang="en-US" sz="1200" dirty="0"/>
              <a:t>Exact ID matches with project IDs: 430 of 516. 86 project IDs and 177 USDA IDs have no exact match.</a:t>
            </a:r>
          </a:p>
        </p:txBody>
      </p:sp>
      <p:sp>
        <p:nvSpPr>
          <p:cNvPr id="20" name="Shape 18"/>
          <p:cNvSpPr/>
          <p:nvPr/>
        </p:nvSpPr>
        <p:spPr>
          <a:xfrm>
            <a:off x="4754880" y="3959352"/>
            <a:ext cx="1645920" cy="310896"/>
          </a:xfrm>
          <a:prstGeom prst="roundRect">
            <a:avLst>
              <a:gd name="adj" fmla="val 23529"/>
            </a:avLst>
          </a:prstGeom>
          <a:solidFill>
            <a:srgbClr val="C98A2B"/>
          </a:solidFill>
          <a:ln/>
        </p:spPr>
        <p:txBody>
          <a:bodyPr/>
          <a:lstStyle/>
          <a:p>
            <a:endParaRPr lang="en-US"/>
          </a:p>
        </p:txBody>
      </p:sp>
      <p:sp>
        <p:nvSpPr>
          <p:cNvPr id="21" name="Text 19"/>
          <p:cNvSpPr/>
          <p:nvPr/>
        </p:nvSpPr>
        <p:spPr>
          <a:xfrm>
            <a:off x="4754880" y="3959352"/>
            <a:ext cx="164592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2020 tract IDs</a:t>
            </a:r>
            <a:endParaRPr lang="en-US" sz="1100" dirty="0"/>
          </a:p>
        </p:txBody>
      </p:sp>
      <p:sp>
        <p:nvSpPr>
          <p:cNvPr id="22" name="Shape 20"/>
          <p:cNvSpPr/>
          <p:nvPr/>
        </p:nvSpPr>
        <p:spPr>
          <a:xfrm>
            <a:off x="457200" y="5120640"/>
            <a:ext cx="6035040" cy="960120"/>
          </a:xfrm>
          <a:prstGeom prst="rect">
            <a:avLst/>
          </a:prstGeom>
          <a:solidFill>
            <a:srgbClr val="FFFFFF"/>
          </a:solidFill>
          <a:ln w="19050">
            <a:solidFill>
              <a:srgbClr val="A33B2F"/>
            </a:solidFill>
            <a:prstDash val="solid"/>
          </a:ln>
        </p:spPr>
        <p:txBody>
          <a:bodyPr/>
          <a:lstStyle/>
          <a:p>
            <a:endParaRPr lang="en-US"/>
          </a:p>
        </p:txBody>
      </p:sp>
      <p:sp>
        <p:nvSpPr>
          <p:cNvPr id="23" name="Text 21"/>
          <p:cNvSpPr/>
          <p:nvPr/>
        </p:nvSpPr>
        <p:spPr>
          <a:xfrm>
            <a:off x="640080" y="5166360"/>
            <a:ext cx="5715000" cy="868680"/>
          </a:xfrm>
          <a:prstGeom prst="rect">
            <a:avLst/>
          </a:prstGeom>
          <a:noFill/>
          <a:ln/>
        </p:spPr>
        <p:txBody>
          <a:bodyPr wrap="square" rtlCol="0" anchor="ctr"/>
          <a:lstStyle/>
          <a:p>
            <a:pPr marL="0" indent="0">
              <a:buNone/>
            </a:pPr>
            <a:r>
              <a:rPr lang="en-US" sz="1200" b="1" dirty="0">
                <a:solidFill>
                  <a:srgbClr val="A33B2F"/>
                </a:solidFill>
                <a:latin typeface="Calibri" pitchFamily="34" charset="0"/>
                <a:ea typeface="Calibri" pitchFamily="34" charset="-122"/>
                <a:cs typeface="Calibri" pitchFamily="34" charset="-120"/>
              </a:rPr>
              <a:t>Not yet harmonized: </a:t>
            </a:r>
            <a:r>
              <a:rPr lang="en-US" sz="1200" dirty="0">
                <a:solidFill>
                  <a:srgbClr val="2E2E2E"/>
                </a:solidFill>
                <a:latin typeface="Calibri" pitchFamily="34" charset="0"/>
                <a:ea typeface="Calibri" pitchFamily="34" charset="-122"/>
                <a:cs typeface="Calibri" pitchFamily="34" charset="-120"/>
              </a:rPr>
              <a:t>the project IDs match the 2010 tract relationship list, while USDA uses 2020 IDs. These datasets cannot be merged directly until the vintages are reconciled and documented.</a:t>
            </a:r>
            <a:endParaRPr lang="en-US" sz="1200" dirty="0"/>
          </a:p>
        </p:txBody>
      </p:sp>
      <p:sp>
        <p:nvSpPr>
          <p:cNvPr id="25" name="Text 23"/>
          <p:cNvSpPr/>
          <p:nvPr/>
        </p:nvSpPr>
        <p:spPr>
          <a:xfrm>
            <a:off x="6949440" y="1417320"/>
            <a:ext cx="4663440" cy="3749040"/>
          </a:xfrm>
          <a:prstGeom prst="rect">
            <a:avLst/>
          </a:prstGeom>
          <a:noFill/>
          <a:ln/>
        </p:spPr>
        <p:txBody>
          <a:bodyPr wrap="square" rtlCol="0" anchor="ctr"/>
          <a:lstStyle/>
          <a:p>
            <a:pPr marL="0" indent="0" algn="ctr">
              <a:buNone/>
            </a:pPr>
            <a:endParaRPr lang="en-US" sz="1400" dirty="0"/>
          </a:p>
        </p:txBody>
      </p:sp>
      <p:sp>
        <p:nvSpPr>
          <p:cNvPr id="26" name="Text 24"/>
          <p:cNvSpPr/>
          <p:nvPr/>
        </p:nvSpPr>
        <p:spPr>
          <a:xfrm>
            <a:off x="6858000" y="5212080"/>
            <a:ext cx="4846320" cy="868680"/>
          </a:xfrm>
          <a:prstGeom prst="rect">
            <a:avLst/>
          </a:prstGeom>
          <a:noFill/>
          <a:ln/>
        </p:spPr>
        <p:txBody>
          <a:bodyPr wrap="square" rtlCol="0" anchor="t"/>
          <a:lstStyle/>
          <a:p>
            <a:pPr marL="0" indent="0">
              <a:buNone/>
            </a:pPr>
            <a:r>
              <a:rPr lang="en-US" sz="1150" i="1" dirty="0">
                <a:solidFill>
                  <a:srgbClr val="6B6B6B"/>
                </a:solidFill>
                <a:latin typeface="Calibri" pitchFamily="34" charset="0"/>
                <a:ea typeface="Calibri" pitchFamily="34" charset="-122"/>
                <a:cs typeface="Calibri" pitchFamily="34" charset="-120"/>
              </a:rPr>
              <a:t>Preliminary map: shows the study area and geographic data preparation only — not a suitability map, and no priority parcels are shown. The 516 project tract IDs matched the boundary dataset.</a:t>
            </a:r>
            <a:endParaRPr lang="en-US" sz="1150" dirty="0"/>
          </a:p>
        </p:txBody>
      </p:sp>
      <p:sp>
        <p:nvSpPr>
          <p:cNvPr id="27" name="Text 25"/>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28" name="Text 26"/>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4</a:t>
            </a:r>
            <a:endParaRPr lang="en-US" sz="1000" dirty="0"/>
          </a:p>
        </p:txBody>
      </p:sp>
      <p:sp>
        <p:nvSpPr>
          <p:cNvPr id="29" name="Text 27"/>
          <p:cNvSpPr/>
          <p:nvPr/>
        </p:nvSpPr>
        <p:spPr>
          <a:xfrm>
            <a:off x="457200" y="6199632"/>
            <a:ext cx="1124712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Source: CDC PLACES 2023; ACS 5-year estimates (U.S. Census Bureau); USDA ERS Food Access Research Atlas</a:t>
            </a:r>
            <a:endParaRPr lang="en-US" sz="1000" dirty="0"/>
          </a:p>
        </p:txBody>
      </p:sp>
      <p:pic>
        <p:nvPicPr>
          <p:cNvPr id="31" name="Picture 30">
            <a:extLst>
              <a:ext uri="{FF2B5EF4-FFF2-40B4-BE49-F238E27FC236}">
                <a16:creationId xmlns:a16="http://schemas.microsoft.com/office/drawing/2014/main" id="{C5C34A2F-970D-8D97-C9E2-D8C040AD9231}"/>
              </a:ext>
            </a:extLst>
          </p:cNvPr>
          <p:cNvPicPr>
            <a:picLocks noChangeAspect="1"/>
          </p:cNvPicPr>
          <p:nvPr/>
        </p:nvPicPr>
        <p:blipFill>
          <a:blip r:embed="rId3"/>
          <a:stretch>
            <a:fillRect/>
          </a:stretch>
        </p:blipFill>
        <p:spPr>
          <a:xfrm>
            <a:off x="6858000" y="1371600"/>
            <a:ext cx="4846320" cy="3675888"/>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Preliminary Health-Indicator Analysis</a:t>
            </a:r>
            <a:endParaRPr lang="en-US" sz="2800" dirty="0"/>
          </a:p>
        </p:txBody>
      </p:sp>
      <p:sp>
        <p:nvSpPr>
          <p:cNvPr id="3" name="Text 1"/>
          <p:cNvSpPr/>
          <p:nvPr/>
        </p:nvSpPr>
        <p:spPr>
          <a:xfrm>
            <a:off x="457200" y="914400"/>
            <a:ext cx="11247120"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CDC PLACES crude prevalence across the 516 project tracts (study-area statistics, not national)</a:t>
            </a:r>
            <a:endParaRPr lang="en-US" sz="1400" dirty="0"/>
          </a:p>
        </p:txBody>
      </p:sp>
      <p:sp>
        <p:nvSpPr>
          <p:cNvPr id="4" name="Text 2"/>
          <p:cNvSpPr/>
          <p:nvPr/>
        </p:nvSpPr>
        <p:spPr>
          <a:xfrm>
            <a:off x="457200" y="1371600"/>
            <a:ext cx="7132320" cy="320040"/>
          </a:xfrm>
          <a:prstGeom prst="rect">
            <a:avLst/>
          </a:prstGeom>
          <a:noFill/>
          <a:ln/>
        </p:spPr>
        <p:txBody>
          <a:bodyPr wrap="square"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Mean prevalence (%) and standard deviation</a:t>
            </a:r>
            <a:endParaRPr lang="en-US" sz="1400" dirty="0"/>
          </a:p>
        </p:txBody>
      </p:sp>
      <p:sp>
        <p:nvSpPr>
          <p:cNvPr id="5" name="Shape 3"/>
          <p:cNvSpPr/>
          <p:nvPr/>
        </p:nvSpPr>
        <p:spPr>
          <a:xfrm>
            <a:off x="2468880" y="1783080"/>
            <a:ext cx="0" cy="2834640"/>
          </a:xfrm>
          <a:prstGeom prst="line">
            <a:avLst/>
          </a:prstGeom>
          <a:noFill/>
          <a:ln w="12700">
            <a:solidFill>
              <a:srgbClr val="6B6B6B"/>
            </a:solidFill>
            <a:prstDash val="solid"/>
          </a:ln>
        </p:spPr>
        <p:txBody>
          <a:bodyPr/>
          <a:lstStyle/>
          <a:p>
            <a:endParaRPr lang="en-US"/>
          </a:p>
        </p:txBody>
      </p:sp>
      <p:sp>
        <p:nvSpPr>
          <p:cNvPr id="6" name="Text 4"/>
          <p:cNvSpPr/>
          <p:nvPr/>
        </p:nvSpPr>
        <p:spPr>
          <a:xfrm>
            <a:off x="365760" y="1828800"/>
            <a:ext cx="2011680" cy="411480"/>
          </a:xfrm>
          <a:prstGeom prst="rect">
            <a:avLst/>
          </a:prstGeom>
          <a:noFill/>
          <a:ln/>
        </p:spPr>
        <p:txBody>
          <a:bodyPr wrap="square" rtlCol="0" anchor="ctr"/>
          <a:lstStyle/>
          <a:p>
            <a:pPr marL="0" indent="0" algn="r">
              <a:buNone/>
            </a:pPr>
            <a:r>
              <a:rPr lang="en-US" sz="1250" dirty="0">
                <a:solidFill>
                  <a:srgbClr val="2E2E2E"/>
                </a:solidFill>
                <a:latin typeface="Calibri" pitchFamily="34" charset="0"/>
                <a:ea typeface="Calibri" pitchFamily="34" charset="-122"/>
                <a:cs typeface="Calibri" pitchFamily="34" charset="-120"/>
              </a:rPr>
              <a:t>Obesity</a:t>
            </a:r>
            <a:endParaRPr lang="en-US" sz="1250" dirty="0"/>
          </a:p>
        </p:txBody>
      </p:sp>
      <p:sp>
        <p:nvSpPr>
          <p:cNvPr id="7" name="Shape 5"/>
          <p:cNvSpPr/>
          <p:nvPr/>
        </p:nvSpPr>
        <p:spPr>
          <a:xfrm>
            <a:off x="2468880" y="1865376"/>
            <a:ext cx="3464662" cy="338328"/>
          </a:xfrm>
          <a:prstGeom prst="rect">
            <a:avLst/>
          </a:prstGeom>
          <a:solidFill>
            <a:srgbClr val="2C5F2D"/>
          </a:solidFill>
          <a:ln/>
        </p:spPr>
        <p:txBody>
          <a:bodyPr/>
          <a:lstStyle/>
          <a:p>
            <a:endParaRPr lang="en-US"/>
          </a:p>
        </p:txBody>
      </p:sp>
      <p:sp>
        <p:nvSpPr>
          <p:cNvPr id="8" name="Text 6"/>
          <p:cNvSpPr/>
          <p:nvPr/>
        </p:nvSpPr>
        <p:spPr>
          <a:xfrm>
            <a:off x="6006694" y="1828800"/>
            <a:ext cx="1737360" cy="41148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37.9%  (SD 6.8)</a:t>
            </a:r>
            <a:endParaRPr lang="en-US" sz="1200" dirty="0"/>
          </a:p>
        </p:txBody>
      </p:sp>
      <p:sp>
        <p:nvSpPr>
          <p:cNvPr id="9" name="Text 7"/>
          <p:cNvSpPr/>
          <p:nvPr/>
        </p:nvSpPr>
        <p:spPr>
          <a:xfrm>
            <a:off x="365760" y="2395728"/>
            <a:ext cx="2011680" cy="411480"/>
          </a:xfrm>
          <a:prstGeom prst="rect">
            <a:avLst/>
          </a:prstGeom>
          <a:noFill/>
          <a:ln/>
        </p:spPr>
        <p:txBody>
          <a:bodyPr wrap="square" rtlCol="0" anchor="ctr"/>
          <a:lstStyle/>
          <a:p>
            <a:pPr marL="0" indent="0" algn="r">
              <a:buNone/>
            </a:pPr>
            <a:r>
              <a:rPr lang="en-US" sz="1250" dirty="0">
                <a:solidFill>
                  <a:srgbClr val="2E2E2E"/>
                </a:solidFill>
                <a:latin typeface="Calibri" pitchFamily="34" charset="0"/>
                <a:ea typeface="Calibri" pitchFamily="34" charset="-122"/>
                <a:cs typeface="Calibri" pitchFamily="34" charset="-120"/>
              </a:rPr>
              <a:t>High blood pressure</a:t>
            </a:r>
            <a:endParaRPr lang="en-US" sz="1250" dirty="0"/>
          </a:p>
        </p:txBody>
      </p:sp>
      <p:sp>
        <p:nvSpPr>
          <p:cNvPr id="10" name="Shape 8"/>
          <p:cNvSpPr/>
          <p:nvPr/>
        </p:nvSpPr>
        <p:spPr>
          <a:xfrm>
            <a:off x="2468880" y="2432304"/>
            <a:ext cx="3070555" cy="338328"/>
          </a:xfrm>
          <a:prstGeom prst="rect">
            <a:avLst/>
          </a:prstGeom>
          <a:solidFill>
            <a:srgbClr val="2C5F2D"/>
          </a:solidFill>
          <a:ln/>
        </p:spPr>
        <p:txBody>
          <a:bodyPr/>
          <a:lstStyle/>
          <a:p>
            <a:endParaRPr lang="en-US"/>
          </a:p>
        </p:txBody>
      </p:sp>
      <p:sp>
        <p:nvSpPr>
          <p:cNvPr id="11" name="Text 9"/>
          <p:cNvSpPr/>
          <p:nvPr/>
        </p:nvSpPr>
        <p:spPr>
          <a:xfrm>
            <a:off x="5612587" y="2395728"/>
            <a:ext cx="1737360" cy="41148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33.6%  (SD 7.3)</a:t>
            </a:r>
            <a:endParaRPr lang="en-US" sz="1200" dirty="0"/>
          </a:p>
        </p:txBody>
      </p:sp>
      <p:sp>
        <p:nvSpPr>
          <p:cNvPr id="12" name="Text 10"/>
          <p:cNvSpPr/>
          <p:nvPr/>
        </p:nvSpPr>
        <p:spPr>
          <a:xfrm>
            <a:off x="365760" y="2962656"/>
            <a:ext cx="2011680" cy="411480"/>
          </a:xfrm>
          <a:prstGeom prst="rect">
            <a:avLst/>
          </a:prstGeom>
          <a:noFill/>
          <a:ln/>
        </p:spPr>
        <p:txBody>
          <a:bodyPr wrap="square" rtlCol="0" anchor="ctr"/>
          <a:lstStyle/>
          <a:p>
            <a:pPr marL="0" indent="0" algn="r">
              <a:buNone/>
            </a:pPr>
            <a:r>
              <a:rPr lang="en-US" sz="1250" dirty="0">
                <a:solidFill>
                  <a:srgbClr val="2E2E2E"/>
                </a:solidFill>
                <a:latin typeface="Calibri" pitchFamily="34" charset="0"/>
                <a:ea typeface="Calibri" pitchFamily="34" charset="-122"/>
                <a:cs typeface="Calibri" pitchFamily="34" charset="-120"/>
              </a:rPr>
              <a:t>Physical inactivity</a:t>
            </a:r>
            <a:endParaRPr lang="en-US" sz="1250" dirty="0"/>
          </a:p>
        </p:txBody>
      </p:sp>
      <p:sp>
        <p:nvSpPr>
          <p:cNvPr id="13" name="Shape 11"/>
          <p:cNvSpPr/>
          <p:nvPr/>
        </p:nvSpPr>
        <p:spPr>
          <a:xfrm>
            <a:off x="2468880" y="2999232"/>
            <a:ext cx="2292401" cy="338328"/>
          </a:xfrm>
          <a:prstGeom prst="rect">
            <a:avLst/>
          </a:prstGeom>
          <a:solidFill>
            <a:srgbClr val="2C5F2D"/>
          </a:solidFill>
          <a:ln/>
        </p:spPr>
        <p:txBody>
          <a:bodyPr/>
          <a:lstStyle/>
          <a:p>
            <a:endParaRPr lang="en-US"/>
          </a:p>
        </p:txBody>
      </p:sp>
      <p:sp>
        <p:nvSpPr>
          <p:cNvPr id="14" name="Text 12"/>
          <p:cNvSpPr/>
          <p:nvPr/>
        </p:nvSpPr>
        <p:spPr>
          <a:xfrm>
            <a:off x="4834433" y="2962656"/>
            <a:ext cx="1737360" cy="41148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25.1%  (SD 9.2)</a:t>
            </a:r>
            <a:endParaRPr lang="en-US" sz="1200" dirty="0"/>
          </a:p>
        </p:txBody>
      </p:sp>
      <p:sp>
        <p:nvSpPr>
          <p:cNvPr id="15" name="Text 13"/>
          <p:cNvSpPr/>
          <p:nvPr/>
        </p:nvSpPr>
        <p:spPr>
          <a:xfrm>
            <a:off x="365760" y="3529584"/>
            <a:ext cx="2011680" cy="411480"/>
          </a:xfrm>
          <a:prstGeom prst="rect">
            <a:avLst/>
          </a:prstGeom>
          <a:noFill/>
          <a:ln/>
        </p:spPr>
        <p:txBody>
          <a:bodyPr wrap="square" rtlCol="0" anchor="ctr"/>
          <a:lstStyle/>
          <a:p>
            <a:pPr marL="0" indent="0" algn="r">
              <a:buNone/>
            </a:pPr>
            <a:r>
              <a:rPr lang="en-US" sz="1250" dirty="0">
                <a:solidFill>
                  <a:srgbClr val="2E2E2E"/>
                </a:solidFill>
                <a:latin typeface="Calibri" pitchFamily="34" charset="0"/>
                <a:ea typeface="Calibri" pitchFamily="34" charset="-122"/>
                <a:cs typeface="Calibri" pitchFamily="34" charset="-120"/>
              </a:rPr>
              <a:t>Fair or poor health</a:t>
            </a:r>
            <a:endParaRPr lang="en-US" sz="1250" dirty="0"/>
          </a:p>
        </p:txBody>
      </p:sp>
      <p:sp>
        <p:nvSpPr>
          <p:cNvPr id="16" name="Shape 14"/>
          <p:cNvSpPr/>
          <p:nvPr/>
        </p:nvSpPr>
        <p:spPr>
          <a:xfrm>
            <a:off x="2468880" y="3566160"/>
            <a:ext cx="1568196" cy="338328"/>
          </a:xfrm>
          <a:prstGeom prst="rect">
            <a:avLst/>
          </a:prstGeom>
          <a:solidFill>
            <a:srgbClr val="2C5F2D"/>
          </a:solidFill>
          <a:ln/>
        </p:spPr>
        <p:txBody>
          <a:bodyPr/>
          <a:lstStyle/>
          <a:p>
            <a:endParaRPr lang="en-US"/>
          </a:p>
        </p:txBody>
      </p:sp>
      <p:sp>
        <p:nvSpPr>
          <p:cNvPr id="17" name="Text 15"/>
          <p:cNvSpPr/>
          <p:nvPr/>
        </p:nvSpPr>
        <p:spPr>
          <a:xfrm>
            <a:off x="4110228" y="3529584"/>
            <a:ext cx="1737360" cy="41148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17.1%  (SD 7.8)</a:t>
            </a:r>
            <a:endParaRPr lang="en-US" sz="1200" dirty="0"/>
          </a:p>
        </p:txBody>
      </p:sp>
      <p:sp>
        <p:nvSpPr>
          <p:cNvPr id="18" name="Text 16"/>
          <p:cNvSpPr/>
          <p:nvPr/>
        </p:nvSpPr>
        <p:spPr>
          <a:xfrm>
            <a:off x="365760" y="4096512"/>
            <a:ext cx="2011680" cy="411480"/>
          </a:xfrm>
          <a:prstGeom prst="rect">
            <a:avLst/>
          </a:prstGeom>
          <a:noFill/>
          <a:ln/>
        </p:spPr>
        <p:txBody>
          <a:bodyPr wrap="square" rtlCol="0" anchor="ctr"/>
          <a:lstStyle/>
          <a:p>
            <a:pPr marL="0" indent="0" algn="r">
              <a:buNone/>
            </a:pPr>
            <a:r>
              <a:rPr lang="en-US" sz="1250" dirty="0">
                <a:solidFill>
                  <a:srgbClr val="2E2E2E"/>
                </a:solidFill>
                <a:latin typeface="Calibri" pitchFamily="34" charset="0"/>
                <a:ea typeface="Calibri" pitchFamily="34" charset="-122"/>
                <a:cs typeface="Calibri" pitchFamily="34" charset="-120"/>
              </a:rPr>
              <a:t>Diabetes</a:t>
            </a:r>
            <a:endParaRPr lang="en-US" sz="1250" dirty="0"/>
          </a:p>
        </p:txBody>
      </p:sp>
      <p:sp>
        <p:nvSpPr>
          <p:cNvPr id="19" name="Shape 17"/>
          <p:cNvSpPr/>
          <p:nvPr/>
        </p:nvSpPr>
        <p:spPr>
          <a:xfrm>
            <a:off x="2468880" y="4133088"/>
            <a:ext cx="1012241" cy="338328"/>
          </a:xfrm>
          <a:prstGeom prst="rect">
            <a:avLst/>
          </a:prstGeom>
          <a:solidFill>
            <a:srgbClr val="2C5F2D"/>
          </a:solidFill>
          <a:ln/>
        </p:spPr>
        <p:txBody>
          <a:bodyPr/>
          <a:lstStyle/>
          <a:p>
            <a:endParaRPr lang="en-US"/>
          </a:p>
        </p:txBody>
      </p:sp>
      <p:sp>
        <p:nvSpPr>
          <p:cNvPr id="20" name="Text 18"/>
          <p:cNvSpPr/>
          <p:nvPr/>
        </p:nvSpPr>
        <p:spPr>
          <a:xfrm>
            <a:off x="3554273" y="4096512"/>
            <a:ext cx="1737360" cy="41148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11.1%  (SD 4.7)</a:t>
            </a:r>
            <a:endParaRPr lang="en-US" sz="1200" dirty="0"/>
          </a:p>
        </p:txBody>
      </p:sp>
      <p:sp>
        <p:nvSpPr>
          <p:cNvPr id="21" name="Text 19"/>
          <p:cNvSpPr/>
          <p:nvPr/>
        </p:nvSpPr>
        <p:spPr>
          <a:xfrm>
            <a:off x="457200" y="4754880"/>
            <a:ext cx="7132320" cy="731520"/>
          </a:xfrm>
          <a:prstGeom prst="rect">
            <a:avLst/>
          </a:prstGeom>
          <a:noFill/>
          <a:ln/>
        </p:spPr>
        <p:txBody>
          <a:bodyPr wrap="square" rtlCol="0" anchor="t"/>
          <a:lstStyle/>
          <a:p>
            <a:pPr marL="0" indent="0">
              <a:buNone/>
            </a:pPr>
            <a:r>
              <a:rPr lang="en-US" sz="1200" i="1" dirty="0">
                <a:solidFill>
                  <a:srgbClr val="6B6B6B"/>
                </a:solidFill>
                <a:latin typeface="Calibri" pitchFamily="34" charset="0"/>
                <a:ea typeface="Calibri" pitchFamily="34" charset="-122"/>
                <a:cs typeface="Calibri" pitchFamily="34" charset="-120"/>
              </a:rPr>
              <a:t>Obesity, diabetes, and high blood pressure are the reference document's health indicators; physical inactivity and fair/poor health were examined for overlap.</a:t>
            </a:r>
            <a:endParaRPr lang="en-US" sz="1200" dirty="0"/>
          </a:p>
        </p:txBody>
      </p:sp>
      <p:sp>
        <p:nvSpPr>
          <p:cNvPr id="22" name="Shape 20"/>
          <p:cNvSpPr/>
          <p:nvPr/>
        </p:nvSpPr>
        <p:spPr>
          <a:xfrm>
            <a:off x="7955280" y="1371600"/>
            <a:ext cx="3794760" cy="4663440"/>
          </a:xfrm>
          <a:prstGeom prst="rect">
            <a:avLst/>
          </a:prstGeom>
          <a:solidFill>
            <a:srgbClr val="F6F5F0"/>
          </a:solidFill>
          <a:ln w="15875">
            <a:solidFill>
              <a:srgbClr val="97BC62"/>
            </a:solidFill>
            <a:prstDash val="solid"/>
          </a:ln>
        </p:spPr>
        <p:txBody>
          <a:bodyPr/>
          <a:lstStyle/>
          <a:p>
            <a:endParaRPr lang="en-US"/>
          </a:p>
        </p:txBody>
      </p:sp>
      <p:sp>
        <p:nvSpPr>
          <p:cNvPr id="23" name="Text 21"/>
          <p:cNvSpPr/>
          <p:nvPr/>
        </p:nvSpPr>
        <p:spPr>
          <a:xfrm>
            <a:off x="8138160" y="1463040"/>
            <a:ext cx="3474720" cy="365760"/>
          </a:xfrm>
          <a:prstGeom prst="rect">
            <a:avLst/>
          </a:prstGeom>
          <a:noFill/>
          <a:ln/>
        </p:spPr>
        <p:txBody>
          <a:bodyPr wrap="square" rtlCol="0" anchor="ctr"/>
          <a:lstStyle/>
          <a:p>
            <a:pPr marL="0" indent="0">
              <a:buNone/>
            </a:pPr>
            <a:r>
              <a:rPr lang="en-US" sz="1400" b="1" dirty="0">
                <a:solidFill>
                  <a:srgbClr val="2C5F2D"/>
                </a:solidFill>
                <a:latin typeface="Calibri" pitchFamily="34" charset="0"/>
                <a:ea typeface="Calibri" pitchFamily="34" charset="-122"/>
                <a:cs typeface="Calibri" pitchFamily="34" charset="-120"/>
              </a:rPr>
              <a:t>Overlapping indicators (correlation)</a:t>
            </a:r>
            <a:endParaRPr lang="en-US" sz="1400" dirty="0"/>
          </a:p>
        </p:txBody>
      </p:sp>
      <p:sp>
        <p:nvSpPr>
          <p:cNvPr id="24" name="Text 22"/>
          <p:cNvSpPr/>
          <p:nvPr/>
        </p:nvSpPr>
        <p:spPr>
          <a:xfrm>
            <a:off x="8138160" y="1874520"/>
            <a:ext cx="2651760" cy="457200"/>
          </a:xfrm>
          <a:prstGeom prst="rect">
            <a:avLst/>
          </a:prstGeom>
          <a:noFill/>
          <a:ln/>
        </p:spPr>
        <p:txBody>
          <a:bodyPr wrap="square" rtlCol="0" anchor="ctr"/>
          <a:lstStyle/>
          <a:p>
            <a:pPr marL="0" indent="0">
              <a:buNone/>
            </a:pPr>
            <a:r>
              <a:rPr lang="en-US" sz="1150" dirty="0">
                <a:solidFill>
                  <a:srgbClr val="2E2E2E"/>
                </a:solidFill>
                <a:latin typeface="Calibri" pitchFamily="34" charset="0"/>
                <a:ea typeface="Calibri" pitchFamily="34" charset="-122"/>
                <a:cs typeface="Calibri" pitchFamily="34" charset="-120"/>
              </a:rPr>
              <a:t>Physical inactivity ↔ fair/poor health</a:t>
            </a:r>
            <a:endParaRPr lang="en-US" sz="1150" dirty="0"/>
          </a:p>
        </p:txBody>
      </p:sp>
      <p:sp>
        <p:nvSpPr>
          <p:cNvPr id="25" name="Text 23"/>
          <p:cNvSpPr/>
          <p:nvPr/>
        </p:nvSpPr>
        <p:spPr>
          <a:xfrm>
            <a:off x="10789920" y="1874520"/>
            <a:ext cx="822960" cy="457200"/>
          </a:xfrm>
          <a:prstGeom prst="rect">
            <a:avLst/>
          </a:prstGeom>
          <a:noFill/>
          <a:ln/>
        </p:spPr>
        <p:txBody>
          <a:bodyPr wrap="square" rtlCol="0" anchor="ctr"/>
          <a:lstStyle/>
          <a:p>
            <a:pPr marL="0" indent="0" algn="r">
              <a:buNone/>
            </a:pPr>
            <a:r>
              <a:rPr lang="en-US" sz="1600" b="1" dirty="0">
                <a:solidFill>
                  <a:srgbClr val="2C5F2D"/>
                </a:solidFill>
                <a:latin typeface="Cambria" pitchFamily="34" charset="0"/>
                <a:ea typeface="Cambria" pitchFamily="34" charset="-122"/>
                <a:cs typeface="Cambria" pitchFamily="34" charset="-120"/>
              </a:rPr>
              <a:t>0.956</a:t>
            </a:r>
            <a:endParaRPr lang="en-US" sz="1600" dirty="0"/>
          </a:p>
        </p:txBody>
      </p:sp>
      <p:sp>
        <p:nvSpPr>
          <p:cNvPr id="26" name="Text 24"/>
          <p:cNvSpPr/>
          <p:nvPr/>
        </p:nvSpPr>
        <p:spPr>
          <a:xfrm>
            <a:off x="8138160" y="2404872"/>
            <a:ext cx="2651760" cy="457200"/>
          </a:xfrm>
          <a:prstGeom prst="rect">
            <a:avLst/>
          </a:prstGeom>
          <a:noFill/>
          <a:ln/>
        </p:spPr>
        <p:txBody>
          <a:bodyPr wrap="square" rtlCol="0" anchor="ctr"/>
          <a:lstStyle/>
          <a:p>
            <a:pPr marL="0" indent="0">
              <a:buNone/>
            </a:pPr>
            <a:r>
              <a:rPr lang="en-US" sz="1150" dirty="0">
                <a:solidFill>
                  <a:srgbClr val="2E2E2E"/>
                </a:solidFill>
                <a:latin typeface="Calibri" pitchFamily="34" charset="0"/>
                <a:ea typeface="Calibri" pitchFamily="34" charset="-122"/>
                <a:cs typeface="Calibri" pitchFamily="34" charset="-120"/>
              </a:rPr>
              <a:t>Diabetes ↔ high blood pressure</a:t>
            </a:r>
            <a:endParaRPr lang="en-US" sz="1150" dirty="0"/>
          </a:p>
        </p:txBody>
      </p:sp>
      <p:sp>
        <p:nvSpPr>
          <p:cNvPr id="27" name="Text 25"/>
          <p:cNvSpPr/>
          <p:nvPr/>
        </p:nvSpPr>
        <p:spPr>
          <a:xfrm>
            <a:off x="10789920" y="2404872"/>
            <a:ext cx="822960" cy="457200"/>
          </a:xfrm>
          <a:prstGeom prst="rect">
            <a:avLst/>
          </a:prstGeom>
          <a:noFill/>
          <a:ln/>
        </p:spPr>
        <p:txBody>
          <a:bodyPr wrap="square" rtlCol="0" anchor="ctr"/>
          <a:lstStyle/>
          <a:p>
            <a:pPr marL="0" indent="0" algn="r">
              <a:buNone/>
            </a:pPr>
            <a:r>
              <a:rPr lang="en-US" sz="1600" b="1" dirty="0">
                <a:solidFill>
                  <a:srgbClr val="2C5F2D"/>
                </a:solidFill>
                <a:latin typeface="Cambria" pitchFamily="34" charset="0"/>
                <a:ea typeface="Cambria" pitchFamily="34" charset="-122"/>
                <a:cs typeface="Cambria" pitchFamily="34" charset="-120"/>
              </a:rPr>
              <a:t>0.949</a:t>
            </a:r>
            <a:endParaRPr lang="en-US" sz="1600" dirty="0"/>
          </a:p>
        </p:txBody>
      </p:sp>
      <p:sp>
        <p:nvSpPr>
          <p:cNvPr id="28" name="Text 26"/>
          <p:cNvSpPr/>
          <p:nvPr/>
        </p:nvSpPr>
        <p:spPr>
          <a:xfrm>
            <a:off x="8138160" y="2935224"/>
            <a:ext cx="2651760" cy="457200"/>
          </a:xfrm>
          <a:prstGeom prst="rect">
            <a:avLst/>
          </a:prstGeom>
          <a:noFill/>
          <a:ln/>
        </p:spPr>
        <p:txBody>
          <a:bodyPr wrap="square" rtlCol="0" anchor="ctr"/>
          <a:lstStyle/>
          <a:p>
            <a:pPr marL="0" indent="0">
              <a:buNone/>
            </a:pPr>
            <a:r>
              <a:rPr lang="en-US" sz="1150" dirty="0">
                <a:solidFill>
                  <a:srgbClr val="2E2E2E"/>
                </a:solidFill>
                <a:latin typeface="Calibri" pitchFamily="34" charset="0"/>
                <a:ea typeface="Calibri" pitchFamily="34" charset="-122"/>
                <a:cs typeface="Calibri" pitchFamily="34" charset="-120"/>
              </a:rPr>
              <a:t>Diabetes ↔ fair/poor health</a:t>
            </a:r>
            <a:endParaRPr lang="en-US" sz="1150" dirty="0"/>
          </a:p>
        </p:txBody>
      </p:sp>
      <p:sp>
        <p:nvSpPr>
          <p:cNvPr id="29" name="Text 27"/>
          <p:cNvSpPr/>
          <p:nvPr/>
        </p:nvSpPr>
        <p:spPr>
          <a:xfrm>
            <a:off x="10789920" y="2935224"/>
            <a:ext cx="822960" cy="457200"/>
          </a:xfrm>
          <a:prstGeom prst="rect">
            <a:avLst/>
          </a:prstGeom>
          <a:noFill/>
          <a:ln/>
        </p:spPr>
        <p:txBody>
          <a:bodyPr wrap="square" rtlCol="0" anchor="ctr"/>
          <a:lstStyle/>
          <a:p>
            <a:pPr marL="0" indent="0" algn="r">
              <a:buNone/>
            </a:pPr>
            <a:r>
              <a:rPr lang="en-US" sz="1600" b="1" dirty="0">
                <a:solidFill>
                  <a:srgbClr val="2C5F2D"/>
                </a:solidFill>
                <a:latin typeface="Cambria" pitchFamily="34" charset="0"/>
                <a:ea typeface="Cambria" pitchFamily="34" charset="-122"/>
                <a:cs typeface="Cambria" pitchFamily="34" charset="-120"/>
              </a:rPr>
              <a:t>0.940</a:t>
            </a:r>
            <a:endParaRPr lang="en-US" sz="1600" dirty="0"/>
          </a:p>
        </p:txBody>
      </p:sp>
      <p:sp>
        <p:nvSpPr>
          <p:cNvPr id="30" name="Text 28"/>
          <p:cNvSpPr/>
          <p:nvPr/>
        </p:nvSpPr>
        <p:spPr>
          <a:xfrm>
            <a:off x="8138160" y="3465576"/>
            <a:ext cx="2651760" cy="457200"/>
          </a:xfrm>
          <a:prstGeom prst="rect">
            <a:avLst/>
          </a:prstGeom>
          <a:noFill/>
          <a:ln/>
        </p:spPr>
        <p:txBody>
          <a:bodyPr wrap="square" rtlCol="0" anchor="ctr"/>
          <a:lstStyle/>
          <a:p>
            <a:pPr marL="0" indent="0">
              <a:buNone/>
            </a:pPr>
            <a:r>
              <a:rPr lang="en-US" sz="1150" dirty="0">
                <a:solidFill>
                  <a:srgbClr val="2E2E2E"/>
                </a:solidFill>
                <a:latin typeface="Calibri" pitchFamily="34" charset="0"/>
                <a:ea typeface="Calibri" pitchFamily="34" charset="-122"/>
                <a:cs typeface="Calibri" pitchFamily="34" charset="-120"/>
              </a:rPr>
              <a:t>Obesity ↔ fair/poor health</a:t>
            </a:r>
            <a:endParaRPr lang="en-US" sz="1150" dirty="0"/>
          </a:p>
        </p:txBody>
      </p:sp>
      <p:sp>
        <p:nvSpPr>
          <p:cNvPr id="31" name="Text 29"/>
          <p:cNvSpPr/>
          <p:nvPr/>
        </p:nvSpPr>
        <p:spPr>
          <a:xfrm>
            <a:off x="10789920" y="3465576"/>
            <a:ext cx="822960" cy="457200"/>
          </a:xfrm>
          <a:prstGeom prst="rect">
            <a:avLst/>
          </a:prstGeom>
          <a:noFill/>
          <a:ln/>
        </p:spPr>
        <p:txBody>
          <a:bodyPr wrap="square" rtlCol="0" anchor="ctr"/>
          <a:lstStyle/>
          <a:p>
            <a:pPr marL="0" indent="0" algn="r">
              <a:buNone/>
            </a:pPr>
            <a:r>
              <a:rPr lang="en-US" sz="1600" b="1" dirty="0">
                <a:solidFill>
                  <a:srgbClr val="2C5F2D"/>
                </a:solidFill>
                <a:latin typeface="Cambria" pitchFamily="34" charset="0"/>
                <a:ea typeface="Cambria" pitchFamily="34" charset="-122"/>
                <a:cs typeface="Cambria" pitchFamily="34" charset="-120"/>
              </a:rPr>
              <a:t>0.918</a:t>
            </a:r>
            <a:endParaRPr lang="en-US" sz="1600" dirty="0"/>
          </a:p>
        </p:txBody>
      </p:sp>
      <p:sp>
        <p:nvSpPr>
          <p:cNvPr id="32" name="Text 30"/>
          <p:cNvSpPr/>
          <p:nvPr/>
        </p:nvSpPr>
        <p:spPr>
          <a:xfrm>
            <a:off x="8138160" y="4114800"/>
            <a:ext cx="3474720" cy="1828800"/>
          </a:xfrm>
          <a:prstGeom prst="rect">
            <a:avLst/>
          </a:prstGeom>
          <a:noFill/>
          <a:ln/>
        </p:spPr>
        <p:txBody>
          <a:bodyPr wrap="square" rtlCol="0" anchor="t"/>
          <a:lstStyle/>
          <a:p>
            <a:pPr marL="342900" indent="-342900">
              <a:spcAft>
                <a:spcPts val="600"/>
              </a:spcAft>
              <a:buSzPct val="100000"/>
              <a:buChar char="•"/>
            </a:pPr>
            <a:r>
              <a:rPr lang="en-US" sz="1200" dirty="0">
                <a:solidFill>
                  <a:srgbClr val="2E2E2E"/>
                </a:solidFill>
                <a:latin typeface="Calibri" pitchFamily="34" charset="0"/>
                <a:ea typeface="Calibri" pitchFamily="34" charset="-122"/>
                <a:cs typeface="Calibri" pitchFamily="34" charset="-120"/>
              </a:rPr>
              <a:t>Screening shows which indicators carry overlapping information.</a:t>
            </a:r>
            <a:endParaRPr lang="en-US" sz="1200" dirty="0"/>
          </a:p>
          <a:p>
            <a:pPr marL="342900" indent="-342900">
              <a:spcAft>
                <a:spcPts val="600"/>
              </a:spcAft>
              <a:buSzPct val="100000"/>
              <a:buChar char="•"/>
            </a:pPr>
            <a:r>
              <a:rPr lang="en-US" sz="1200" dirty="0">
                <a:solidFill>
                  <a:srgbClr val="2E2E2E"/>
                </a:solidFill>
                <a:latin typeface="Calibri" pitchFamily="34" charset="0"/>
                <a:ea typeface="Calibri" pitchFamily="34" charset="-122"/>
                <a:cs typeface="Calibri" pitchFamily="34" charset="-120"/>
              </a:rPr>
              <a:t>Correlation does not show causation.</a:t>
            </a:r>
            <a:endParaRPr lang="en-US" sz="1200" dirty="0"/>
          </a:p>
          <a:p>
            <a:pPr marL="342900" indent="-342900">
              <a:spcAft>
                <a:spcPts val="600"/>
              </a:spcAft>
              <a:buSzPct val="100000"/>
              <a:buChar char="•"/>
            </a:pPr>
            <a:r>
              <a:rPr lang="en-US" sz="1200" dirty="0">
                <a:solidFill>
                  <a:srgbClr val="2E2E2E"/>
                </a:solidFill>
                <a:latin typeface="Calibri" pitchFamily="34" charset="0"/>
                <a:ea typeface="Calibri" pitchFamily="34" charset="-122"/>
                <a:cs typeface="Calibri" pitchFamily="34" charset="-120"/>
              </a:rPr>
              <a:t>The final health-variable shortlist is still pending.</a:t>
            </a:r>
            <a:endParaRPr lang="en-US" sz="1200" dirty="0"/>
          </a:p>
        </p:txBody>
      </p:sp>
      <p:sp>
        <p:nvSpPr>
          <p:cNvPr id="33" name="Text 31"/>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34" name="Text 32"/>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5</a:t>
            </a:r>
            <a:endParaRPr lang="en-US" sz="1000" dirty="0"/>
          </a:p>
        </p:txBody>
      </p:sp>
      <p:sp>
        <p:nvSpPr>
          <p:cNvPr id="35" name="Text 33"/>
          <p:cNvSpPr/>
          <p:nvPr/>
        </p:nvSpPr>
        <p:spPr>
          <a:xfrm>
            <a:off x="457200" y="6199632"/>
            <a:ext cx="1124712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Source: CDC PLACES 2023 release, census-tract data; project calculations</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Socioeconomic and Demographic Analysis</a:t>
            </a:r>
            <a:endParaRPr lang="en-US" sz="2800" dirty="0"/>
          </a:p>
        </p:txBody>
      </p:sp>
      <p:sp>
        <p:nvSpPr>
          <p:cNvPr id="3" name="Text 1"/>
          <p:cNvSpPr/>
          <p:nvPr/>
        </p:nvSpPr>
        <p:spPr>
          <a:xfrm>
            <a:off x="457200" y="914400"/>
            <a:ext cx="11247120"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Exploratory correlations among ACS 2019 candidate variables (516 tracts)</a:t>
            </a:r>
            <a:endParaRPr lang="en-US" sz="1400" dirty="0"/>
          </a:p>
        </p:txBody>
      </p:sp>
      <p:sp>
        <p:nvSpPr>
          <p:cNvPr id="4" name="Shape 2"/>
          <p:cNvSpPr/>
          <p:nvPr/>
        </p:nvSpPr>
        <p:spPr>
          <a:xfrm>
            <a:off x="6400800" y="1371600"/>
            <a:ext cx="0" cy="3200400"/>
          </a:xfrm>
          <a:prstGeom prst="line">
            <a:avLst/>
          </a:prstGeom>
          <a:noFill/>
          <a:ln w="12700">
            <a:solidFill>
              <a:srgbClr val="6B6B6B"/>
            </a:solidFill>
            <a:prstDash val="solid"/>
          </a:ln>
        </p:spPr>
        <p:txBody>
          <a:bodyPr/>
          <a:lstStyle/>
          <a:p>
            <a:endParaRPr lang="en-US"/>
          </a:p>
        </p:txBody>
      </p:sp>
      <p:sp>
        <p:nvSpPr>
          <p:cNvPr id="5" name="Text 3"/>
          <p:cNvSpPr/>
          <p:nvPr/>
        </p:nvSpPr>
        <p:spPr>
          <a:xfrm>
            <a:off x="274320" y="1417320"/>
            <a:ext cx="3931920" cy="365760"/>
          </a:xfrm>
          <a:prstGeom prst="rect">
            <a:avLst/>
          </a:prstGeom>
          <a:noFill/>
          <a:ln/>
        </p:spPr>
        <p:txBody>
          <a:bodyPr wrap="square" rtlCol="0" anchor="ctr"/>
          <a:lstStyle/>
          <a:p>
            <a:pPr marL="0" indent="0" algn="r">
              <a:buNone/>
            </a:pPr>
            <a:r>
              <a:rPr lang="en-US" sz="1200" dirty="0">
                <a:solidFill>
                  <a:srgbClr val="2E2E2E"/>
                </a:solidFill>
                <a:latin typeface="Calibri" pitchFamily="34" charset="0"/>
                <a:ea typeface="Calibri" pitchFamily="34" charset="-122"/>
                <a:cs typeface="Calibri" pitchFamily="34" charset="-120"/>
              </a:rPr>
              <a:t>Median income ↔ Median home value</a:t>
            </a:r>
            <a:endParaRPr lang="en-US" sz="1200" dirty="0"/>
          </a:p>
        </p:txBody>
      </p:sp>
      <p:sp>
        <p:nvSpPr>
          <p:cNvPr id="6" name="Shape 4"/>
          <p:cNvSpPr/>
          <p:nvPr/>
        </p:nvSpPr>
        <p:spPr>
          <a:xfrm>
            <a:off x="6400800" y="1444752"/>
            <a:ext cx="1768267" cy="310896"/>
          </a:xfrm>
          <a:prstGeom prst="rect">
            <a:avLst/>
          </a:prstGeom>
          <a:solidFill>
            <a:srgbClr val="2C5F2D"/>
          </a:solidFill>
          <a:ln/>
        </p:spPr>
        <p:txBody>
          <a:bodyPr/>
          <a:lstStyle/>
          <a:p>
            <a:endParaRPr lang="en-US"/>
          </a:p>
        </p:txBody>
      </p:sp>
      <p:sp>
        <p:nvSpPr>
          <p:cNvPr id="7" name="Text 5"/>
          <p:cNvSpPr/>
          <p:nvPr/>
        </p:nvSpPr>
        <p:spPr>
          <a:xfrm>
            <a:off x="8242219" y="1417320"/>
            <a:ext cx="640080" cy="36576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+0.88</a:t>
            </a:r>
            <a:endParaRPr lang="en-US" sz="1200" dirty="0"/>
          </a:p>
        </p:txBody>
      </p:sp>
      <p:sp>
        <p:nvSpPr>
          <p:cNvPr id="8" name="Text 6"/>
          <p:cNvSpPr/>
          <p:nvPr/>
        </p:nvSpPr>
        <p:spPr>
          <a:xfrm>
            <a:off x="274320" y="1874520"/>
            <a:ext cx="3931920" cy="365760"/>
          </a:xfrm>
          <a:prstGeom prst="rect">
            <a:avLst/>
          </a:prstGeom>
          <a:noFill/>
          <a:ln/>
        </p:spPr>
        <p:txBody>
          <a:bodyPr wrap="square" rtlCol="0" anchor="ctr"/>
          <a:lstStyle/>
          <a:p>
            <a:pPr marL="0" indent="0" algn="r">
              <a:buNone/>
            </a:pPr>
            <a:r>
              <a:rPr lang="en-US" sz="1200" dirty="0">
                <a:solidFill>
                  <a:srgbClr val="2E2E2E"/>
                </a:solidFill>
                <a:latin typeface="Calibri" pitchFamily="34" charset="0"/>
                <a:ea typeface="Calibri" pitchFamily="34" charset="-122"/>
                <a:cs typeface="Calibri" pitchFamily="34" charset="-120"/>
              </a:rPr>
              <a:t>Poverty ↔ SNAP</a:t>
            </a:r>
            <a:endParaRPr lang="en-US" sz="1200" dirty="0"/>
          </a:p>
        </p:txBody>
      </p:sp>
      <p:sp>
        <p:nvSpPr>
          <p:cNvPr id="9" name="Shape 7"/>
          <p:cNvSpPr/>
          <p:nvPr/>
        </p:nvSpPr>
        <p:spPr>
          <a:xfrm>
            <a:off x="6400800" y="1901952"/>
            <a:ext cx="1736080" cy="310896"/>
          </a:xfrm>
          <a:prstGeom prst="rect">
            <a:avLst/>
          </a:prstGeom>
          <a:solidFill>
            <a:srgbClr val="2C5F2D"/>
          </a:solidFill>
          <a:ln/>
        </p:spPr>
        <p:txBody>
          <a:bodyPr/>
          <a:lstStyle/>
          <a:p>
            <a:endParaRPr lang="en-US"/>
          </a:p>
        </p:txBody>
      </p:sp>
      <p:sp>
        <p:nvSpPr>
          <p:cNvPr id="10" name="Text 8"/>
          <p:cNvSpPr/>
          <p:nvPr/>
        </p:nvSpPr>
        <p:spPr>
          <a:xfrm>
            <a:off x="8210032" y="1874520"/>
            <a:ext cx="640080" cy="36576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+0.86</a:t>
            </a:r>
            <a:endParaRPr lang="en-US" sz="1200" dirty="0"/>
          </a:p>
        </p:txBody>
      </p:sp>
      <p:sp>
        <p:nvSpPr>
          <p:cNvPr id="11" name="Text 9"/>
          <p:cNvSpPr/>
          <p:nvPr/>
        </p:nvSpPr>
        <p:spPr>
          <a:xfrm>
            <a:off x="274320" y="2331720"/>
            <a:ext cx="3931920" cy="365760"/>
          </a:xfrm>
          <a:prstGeom prst="rect">
            <a:avLst/>
          </a:prstGeom>
          <a:noFill/>
          <a:ln/>
        </p:spPr>
        <p:txBody>
          <a:bodyPr wrap="square" rtlCol="0" anchor="ctr"/>
          <a:lstStyle/>
          <a:p>
            <a:pPr marL="0" indent="0" algn="r">
              <a:buNone/>
            </a:pPr>
            <a:r>
              <a:rPr lang="en-US" sz="1200" dirty="0">
                <a:solidFill>
                  <a:srgbClr val="2E2E2E"/>
                </a:solidFill>
                <a:latin typeface="Calibri" pitchFamily="34" charset="0"/>
                <a:ea typeface="Calibri" pitchFamily="34" charset="-122"/>
                <a:cs typeface="Calibri" pitchFamily="34" charset="-120"/>
              </a:rPr>
              <a:t>Bachelor's+ ↔ Median home value</a:t>
            </a:r>
            <a:endParaRPr lang="en-US" sz="1200" dirty="0"/>
          </a:p>
        </p:txBody>
      </p:sp>
      <p:sp>
        <p:nvSpPr>
          <p:cNvPr id="12" name="Shape 10"/>
          <p:cNvSpPr/>
          <p:nvPr/>
        </p:nvSpPr>
        <p:spPr>
          <a:xfrm>
            <a:off x="6400800" y="2359152"/>
            <a:ext cx="1709928" cy="310896"/>
          </a:xfrm>
          <a:prstGeom prst="rect">
            <a:avLst/>
          </a:prstGeom>
          <a:solidFill>
            <a:srgbClr val="2C5F2D"/>
          </a:solidFill>
          <a:ln/>
        </p:spPr>
        <p:txBody>
          <a:bodyPr/>
          <a:lstStyle/>
          <a:p>
            <a:endParaRPr lang="en-US"/>
          </a:p>
        </p:txBody>
      </p:sp>
      <p:sp>
        <p:nvSpPr>
          <p:cNvPr id="13" name="Text 11"/>
          <p:cNvSpPr/>
          <p:nvPr/>
        </p:nvSpPr>
        <p:spPr>
          <a:xfrm>
            <a:off x="8183880" y="2331720"/>
            <a:ext cx="640080" cy="36576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+0.85</a:t>
            </a:r>
            <a:endParaRPr lang="en-US" sz="1200" dirty="0"/>
          </a:p>
        </p:txBody>
      </p:sp>
      <p:sp>
        <p:nvSpPr>
          <p:cNvPr id="14" name="Text 12"/>
          <p:cNvSpPr/>
          <p:nvPr/>
        </p:nvSpPr>
        <p:spPr>
          <a:xfrm>
            <a:off x="274320" y="2788920"/>
            <a:ext cx="3931920" cy="365760"/>
          </a:xfrm>
          <a:prstGeom prst="rect">
            <a:avLst/>
          </a:prstGeom>
          <a:noFill/>
          <a:ln/>
        </p:spPr>
        <p:txBody>
          <a:bodyPr wrap="square" rtlCol="0" anchor="ctr"/>
          <a:lstStyle/>
          <a:p>
            <a:pPr marL="0" indent="0" algn="r">
              <a:buNone/>
            </a:pPr>
            <a:r>
              <a:rPr lang="en-US" sz="1200" dirty="0">
                <a:solidFill>
                  <a:srgbClr val="2E2E2E"/>
                </a:solidFill>
                <a:latin typeface="Calibri" pitchFamily="34" charset="0"/>
                <a:ea typeface="Calibri" pitchFamily="34" charset="-122"/>
                <a:cs typeface="Calibri" pitchFamily="34" charset="-120"/>
              </a:rPr>
              <a:t>Foreign-born ↔ Hispanic/Latino</a:t>
            </a:r>
            <a:endParaRPr lang="en-US" sz="1200" dirty="0"/>
          </a:p>
        </p:txBody>
      </p:sp>
      <p:sp>
        <p:nvSpPr>
          <p:cNvPr id="15" name="Shape 13"/>
          <p:cNvSpPr/>
          <p:nvPr/>
        </p:nvSpPr>
        <p:spPr>
          <a:xfrm>
            <a:off x="6400800" y="2816352"/>
            <a:ext cx="1629461" cy="310896"/>
          </a:xfrm>
          <a:prstGeom prst="rect">
            <a:avLst/>
          </a:prstGeom>
          <a:solidFill>
            <a:srgbClr val="2C5F2D"/>
          </a:solidFill>
          <a:ln/>
        </p:spPr>
        <p:txBody>
          <a:bodyPr/>
          <a:lstStyle/>
          <a:p>
            <a:endParaRPr lang="en-US"/>
          </a:p>
        </p:txBody>
      </p:sp>
      <p:sp>
        <p:nvSpPr>
          <p:cNvPr id="16" name="Text 14"/>
          <p:cNvSpPr/>
          <p:nvPr/>
        </p:nvSpPr>
        <p:spPr>
          <a:xfrm>
            <a:off x="8103413" y="2788920"/>
            <a:ext cx="640080" cy="36576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+0.81</a:t>
            </a:r>
            <a:endParaRPr lang="en-US" sz="1200" dirty="0"/>
          </a:p>
        </p:txBody>
      </p:sp>
      <p:sp>
        <p:nvSpPr>
          <p:cNvPr id="17" name="Text 15"/>
          <p:cNvSpPr/>
          <p:nvPr/>
        </p:nvSpPr>
        <p:spPr>
          <a:xfrm>
            <a:off x="274320" y="3246120"/>
            <a:ext cx="3931920" cy="365760"/>
          </a:xfrm>
          <a:prstGeom prst="rect">
            <a:avLst/>
          </a:prstGeom>
          <a:noFill/>
          <a:ln/>
        </p:spPr>
        <p:txBody>
          <a:bodyPr wrap="square" rtlCol="0" anchor="ctr"/>
          <a:lstStyle/>
          <a:p>
            <a:pPr marL="0" indent="0" algn="r">
              <a:buNone/>
            </a:pPr>
            <a:r>
              <a:rPr lang="en-US" sz="1200" dirty="0">
                <a:solidFill>
                  <a:srgbClr val="2E2E2E"/>
                </a:solidFill>
                <a:latin typeface="Calibri" pitchFamily="34" charset="0"/>
                <a:ea typeface="Calibri" pitchFamily="34" charset="-122"/>
                <a:cs typeface="Calibri" pitchFamily="34" charset="-120"/>
              </a:rPr>
              <a:t>No vehicle ↔ SNAP</a:t>
            </a:r>
            <a:endParaRPr lang="en-US" sz="1200" dirty="0"/>
          </a:p>
        </p:txBody>
      </p:sp>
      <p:sp>
        <p:nvSpPr>
          <p:cNvPr id="18" name="Shape 16"/>
          <p:cNvSpPr/>
          <p:nvPr/>
        </p:nvSpPr>
        <p:spPr>
          <a:xfrm>
            <a:off x="6400800" y="3273552"/>
            <a:ext cx="1561064" cy="310896"/>
          </a:xfrm>
          <a:prstGeom prst="rect">
            <a:avLst/>
          </a:prstGeom>
          <a:solidFill>
            <a:srgbClr val="2C5F2D"/>
          </a:solidFill>
          <a:ln/>
        </p:spPr>
        <p:txBody>
          <a:bodyPr/>
          <a:lstStyle/>
          <a:p>
            <a:endParaRPr lang="en-US"/>
          </a:p>
        </p:txBody>
      </p:sp>
      <p:sp>
        <p:nvSpPr>
          <p:cNvPr id="19" name="Text 17"/>
          <p:cNvSpPr/>
          <p:nvPr/>
        </p:nvSpPr>
        <p:spPr>
          <a:xfrm>
            <a:off x="8035016" y="3246120"/>
            <a:ext cx="640080" cy="36576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+0.78</a:t>
            </a:r>
            <a:endParaRPr lang="en-US" sz="1200" dirty="0"/>
          </a:p>
        </p:txBody>
      </p:sp>
      <p:sp>
        <p:nvSpPr>
          <p:cNvPr id="20" name="Text 18"/>
          <p:cNvSpPr/>
          <p:nvPr/>
        </p:nvSpPr>
        <p:spPr>
          <a:xfrm>
            <a:off x="274320" y="3703320"/>
            <a:ext cx="3931920" cy="365760"/>
          </a:xfrm>
          <a:prstGeom prst="rect">
            <a:avLst/>
          </a:prstGeom>
          <a:noFill/>
          <a:ln/>
        </p:spPr>
        <p:txBody>
          <a:bodyPr wrap="square" rtlCol="0" anchor="ctr"/>
          <a:lstStyle/>
          <a:p>
            <a:pPr marL="0" indent="0" algn="r">
              <a:buNone/>
            </a:pPr>
            <a:r>
              <a:rPr lang="en-US" sz="1200" dirty="0">
                <a:solidFill>
                  <a:srgbClr val="2E2E2E"/>
                </a:solidFill>
                <a:latin typeface="Calibri" pitchFamily="34" charset="0"/>
                <a:ea typeface="Calibri" pitchFamily="34" charset="-122"/>
                <a:cs typeface="Calibri" pitchFamily="34" charset="-120"/>
              </a:rPr>
              <a:t>Poverty ↔ No vehicle</a:t>
            </a:r>
            <a:endParaRPr lang="en-US" sz="1200" dirty="0"/>
          </a:p>
        </p:txBody>
      </p:sp>
      <p:sp>
        <p:nvSpPr>
          <p:cNvPr id="21" name="Shape 19"/>
          <p:cNvSpPr/>
          <p:nvPr/>
        </p:nvSpPr>
        <p:spPr>
          <a:xfrm>
            <a:off x="6400800" y="3730752"/>
            <a:ext cx="1516807" cy="310896"/>
          </a:xfrm>
          <a:prstGeom prst="rect">
            <a:avLst/>
          </a:prstGeom>
          <a:solidFill>
            <a:srgbClr val="2C5F2D"/>
          </a:solidFill>
          <a:ln/>
        </p:spPr>
        <p:txBody>
          <a:bodyPr/>
          <a:lstStyle/>
          <a:p>
            <a:endParaRPr lang="en-US"/>
          </a:p>
        </p:txBody>
      </p:sp>
      <p:sp>
        <p:nvSpPr>
          <p:cNvPr id="22" name="Text 20"/>
          <p:cNvSpPr/>
          <p:nvPr/>
        </p:nvSpPr>
        <p:spPr>
          <a:xfrm>
            <a:off x="7990759" y="3703320"/>
            <a:ext cx="640080" cy="365760"/>
          </a:xfrm>
          <a:prstGeom prst="rect">
            <a:avLst/>
          </a:prstGeom>
          <a:noFill/>
          <a:ln/>
        </p:spPr>
        <p:txBody>
          <a:bodyPr wrap="square" rtlCol="0" anchor="ctr"/>
          <a:lstStyle/>
          <a:p>
            <a:pPr marL="0" indent="0">
              <a:buNone/>
            </a:pPr>
            <a:r>
              <a:rPr lang="en-US" sz="1200" b="1" dirty="0">
                <a:solidFill>
                  <a:srgbClr val="2E2E2E"/>
                </a:solidFill>
                <a:latin typeface="Calibri" pitchFamily="34" charset="0"/>
                <a:ea typeface="Calibri" pitchFamily="34" charset="-122"/>
                <a:cs typeface="Calibri" pitchFamily="34" charset="-120"/>
              </a:rPr>
              <a:t>+0.75</a:t>
            </a:r>
            <a:endParaRPr lang="en-US" sz="1200" dirty="0"/>
          </a:p>
        </p:txBody>
      </p:sp>
      <p:sp>
        <p:nvSpPr>
          <p:cNvPr id="23" name="Text 21"/>
          <p:cNvSpPr/>
          <p:nvPr/>
        </p:nvSpPr>
        <p:spPr>
          <a:xfrm>
            <a:off x="274320" y="4160520"/>
            <a:ext cx="3931920" cy="365760"/>
          </a:xfrm>
          <a:prstGeom prst="rect">
            <a:avLst/>
          </a:prstGeom>
          <a:noFill/>
          <a:ln/>
        </p:spPr>
        <p:txBody>
          <a:bodyPr wrap="square" rtlCol="0" anchor="ctr"/>
          <a:lstStyle/>
          <a:p>
            <a:pPr marL="0" indent="0" algn="r">
              <a:buNone/>
            </a:pPr>
            <a:r>
              <a:rPr lang="en-US" sz="1200" dirty="0">
                <a:solidFill>
                  <a:srgbClr val="2E2E2E"/>
                </a:solidFill>
                <a:latin typeface="Calibri" pitchFamily="34" charset="0"/>
                <a:ea typeface="Calibri" pitchFamily="34" charset="-122"/>
                <a:cs typeface="Calibri" pitchFamily="34" charset="-120"/>
              </a:rPr>
              <a:t>Poverty ↔ Median income</a:t>
            </a:r>
            <a:endParaRPr lang="en-US" sz="1200" dirty="0"/>
          </a:p>
        </p:txBody>
      </p:sp>
      <p:sp>
        <p:nvSpPr>
          <p:cNvPr id="24" name="Shape 22"/>
          <p:cNvSpPr/>
          <p:nvPr/>
        </p:nvSpPr>
        <p:spPr>
          <a:xfrm>
            <a:off x="4946355" y="4187952"/>
            <a:ext cx="1454445" cy="310896"/>
          </a:xfrm>
          <a:prstGeom prst="rect">
            <a:avLst/>
          </a:prstGeom>
          <a:solidFill>
            <a:srgbClr val="C98A2B"/>
          </a:solidFill>
          <a:ln/>
        </p:spPr>
        <p:txBody>
          <a:bodyPr/>
          <a:lstStyle/>
          <a:p>
            <a:endParaRPr lang="en-US"/>
          </a:p>
        </p:txBody>
      </p:sp>
      <p:sp>
        <p:nvSpPr>
          <p:cNvPr id="25" name="Text 23"/>
          <p:cNvSpPr/>
          <p:nvPr/>
        </p:nvSpPr>
        <p:spPr>
          <a:xfrm>
            <a:off x="4233123" y="4160520"/>
            <a:ext cx="640080" cy="365760"/>
          </a:xfrm>
          <a:prstGeom prst="rect">
            <a:avLst/>
          </a:prstGeom>
          <a:noFill/>
          <a:ln/>
        </p:spPr>
        <p:txBody>
          <a:bodyPr wrap="square" rtlCol="0" anchor="ctr"/>
          <a:lstStyle/>
          <a:p>
            <a:pPr marL="0" indent="0" algn="r">
              <a:buNone/>
            </a:pPr>
            <a:r>
              <a:rPr lang="en-US" sz="1200" b="1" dirty="0">
                <a:solidFill>
                  <a:srgbClr val="2E2E2E"/>
                </a:solidFill>
                <a:latin typeface="Calibri" pitchFamily="34" charset="0"/>
                <a:ea typeface="Calibri" pitchFamily="34" charset="-122"/>
                <a:cs typeface="Calibri" pitchFamily="34" charset="-120"/>
              </a:rPr>
              <a:t>-0.72</a:t>
            </a:r>
            <a:endParaRPr lang="en-US" sz="1200" dirty="0"/>
          </a:p>
        </p:txBody>
      </p:sp>
      <p:sp>
        <p:nvSpPr>
          <p:cNvPr id="26" name="Text 24"/>
          <p:cNvSpPr/>
          <p:nvPr/>
        </p:nvSpPr>
        <p:spPr>
          <a:xfrm>
            <a:off x="4206240" y="4617720"/>
            <a:ext cx="5029200" cy="274320"/>
          </a:xfrm>
          <a:prstGeom prst="rect">
            <a:avLst/>
          </a:prstGeom>
          <a:noFill/>
          <a:ln/>
        </p:spPr>
        <p:txBody>
          <a:bodyPr wrap="square" rtlCol="0" anchor="ctr"/>
          <a:lstStyle/>
          <a:p>
            <a:pPr marL="0" indent="0" algn="ctr">
              <a:buNone/>
            </a:pPr>
            <a:r>
              <a:rPr lang="en-US" sz="1050" i="1" dirty="0">
                <a:solidFill>
                  <a:srgbClr val="6B6B6B"/>
                </a:solidFill>
                <a:latin typeface="Calibri" pitchFamily="34" charset="0"/>
                <a:ea typeface="Calibri" pitchFamily="34" charset="-122"/>
                <a:cs typeface="Calibri" pitchFamily="34" charset="-120"/>
              </a:rPr>
              <a:t>Correlation coefficient (right of line = positive, left = negative)</a:t>
            </a:r>
            <a:endParaRPr lang="en-US" sz="1050" dirty="0"/>
          </a:p>
        </p:txBody>
      </p:sp>
      <p:sp>
        <p:nvSpPr>
          <p:cNvPr id="27" name="Shape 25"/>
          <p:cNvSpPr/>
          <p:nvPr/>
        </p:nvSpPr>
        <p:spPr>
          <a:xfrm>
            <a:off x="9144000" y="1371600"/>
            <a:ext cx="2606040" cy="3291840"/>
          </a:xfrm>
          <a:prstGeom prst="rect">
            <a:avLst/>
          </a:prstGeom>
          <a:solidFill>
            <a:srgbClr val="F6F5F0"/>
          </a:solidFill>
          <a:ln w="15875">
            <a:solidFill>
              <a:srgbClr val="97BC62"/>
            </a:solidFill>
            <a:prstDash val="solid"/>
          </a:ln>
        </p:spPr>
        <p:txBody>
          <a:bodyPr/>
          <a:lstStyle/>
          <a:p>
            <a:endParaRPr lang="en-US"/>
          </a:p>
        </p:txBody>
      </p:sp>
      <p:sp>
        <p:nvSpPr>
          <p:cNvPr id="28" name="Text 26"/>
          <p:cNvSpPr/>
          <p:nvPr/>
        </p:nvSpPr>
        <p:spPr>
          <a:xfrm>
            <a:off x="9281160" y="1463040"/>
            <a:ext cx="2377440" cy="3108960"/>
          </a:xfrm>
          <a:prstGeom prst="rect">
            <a:avLst/>
          </a:prstGeom>
          <a:noFill/>
          <a:ln/>
        </p:spPr>
        <p:txBody>
          <a:bodyPr wrap="square" rtlCol="0" anchor="t"/>
          <a:lstStyle/>
          <a:p>
            <a:pPr marL="342900" indent="-342900">
              <a:spcAft>
                <a:spcPts val="800"/>
              </a:spcAft>
              <a:buSzPct val="100000"/>
              <a:buChar char="•"/>
            </a:pPr>
            <a:r>
              <a:rPr lang="en-US" sz="1150" dirty="0">
                <a:solidFill>
                  <a:srgbClr val="2E2E2E"/>
                </a:solidFill>
                <a:latin typeface="Calibri" pitchFamily="34" charset="0"/>
                <a:ea typeface="Calibri" pitchFamily="34" charset="-122"/>
                <a:cs typeface="Calibri" pitchFamily="34" charset="-120"/>
              </a:rPr>
              <a:t>Shows possible overlap between candidates, e.g., poverty and SNAP.</a:t>
            </a:r>
            <a:endParaRPr lang="en-US" sz="1150" dirty="0"/>
          </a:p>
          <a:p>
            <a:pPr marL="342900" indent="-342900">
              <a:spcAft>
                <a:spcPts val="800"/>
              </a:spcAft>
              <a:buSzPct val="100000"/>
              <a:buChar char="•"/>
            </a:pPr>
            <a:r>
              <a:rPr lang="en-US" sz="1150" dirty="0">
                <a:solidFill>
                  <a:srgbClr val="2E2E2E"/>
                </a:solidFill>
                <a:latin typeface="Calibri" pitchFamily="34" charset="0"/>
                <a:ea typeface="Calibri" pitchFamily="34" charset="-122"/>
                <a:cs typeface="Calibri" pitchFamily="34" charset="-120"/>
              </a:rPr>
              <a:t>Poverty and no-vehicle households are promising candidates for review.</a:t>
            </a:r>
            <a:endParaRPr lang="en-US" sz="1150" dirty="0"/>
          </a:p>
          <a:p>
            <a:pPr marL="342900" indent="-342900">
              <a:spcAft>
                <a:spcPts val="800"/>
              </a:spcAft>
              <a:buSzPct val="100000"/>
              <a:buChar char="•"/>
            </a:pPr>
            <a:r>
              <a:rPr lang="en-US" sz="1150" dirty="0">
                <a:solidFill>
                  <a:srgbClr val="2E2E2E"/>
                </a:solidFill>
                <a:latin typeface="Calibri" pitchFamily="34" charset="0"/>
                <a:ea typeface="Calibri" pitchFamily="34" charset="-122"/>
                <a:cs typeface="Calibri" pitchFamily="34" charset="-120"/>
              </a:rPr>
              <a:t>Exploratory only: not causal, not final weights.</a:t>
            </a:r>
            <a:endParaRPr lang="en-US" sz="1150" dirty="0"/>
          </a:p>
        </p:txBody>
      </p:sp>
      <p:sp>
        <p:nvSpPr>
          <p:cNvPr id="29" name="Shape 27"/>
          <p:cNvSpPr/>
          <p:nvPr/>
        </p:nvSpPr>
        <p:spPr>
          <a:xfrm>
            <a:off x="457200" y="4846320"/>
            <a:ext cx="11292840" cy="1280160"/>
          </a:xfrm>
          <a:prstGeom prst="rect">
            <a:avLst/>
          </a:prstGeom>
          <a:solidFill>
            <a:srgbClr val="FFFFFF"/>
          </a:solidFill>
          <a:ln w="12700">
            <a:solidFill>
              <a:srgbClr val="DDDDDD"/>
            </a:solidFill>
            <a:prstDash val="solid"/>
          </a:ln>
        </p:spPr>
        <p:txBody>
          <a:bodyPr/>
          <a:lstStyle/>
          <a:p>
            <a:endParaRPr lang="en-US"/>
          </a:p>
        </p:txBody>
      </p:sp>
      <p:sp>
        <p:nvSpPr>
          <p:cNvPr id="30" name="Text 28"/>
          <p:cNvSpPr/>
          <p:nvPr/>
        </p:nvSpPr>
        <p:spPr>
          <a:xfrm>
            <a:off x="640080" y="4892040"/>
            <a:ext cx="4572000" cy="320040"/>
          </a:xfrm>
          <a:prstGeom prst="rect">
            <a:avLst/>
          </a:prstGeom>
          <a:noFill/>
          <a:ln/>
        </p:spPr>
        <p:txBody>
          <a:bodyPr wrap="square" rtlCol="0" anchor="ctr"/>
          <a:lstStyle/>
          <a:p>
            <a:pPr marL="0" indent="0">
              <a:buNone/>
            </a:pPr>
            <a:r>
              <a:rPr lang="en-US" sz="1300" b="1" dirty="0">
                <a:solidFill>
                  <a:srgbClr val="2C5F2D"/>
                </a:solidFill>
                <a:latin typeface="Calibri" pitchFamily="34" charset="0"/>
                <a:ea typeface="Calibri" pitchFamily="34" charset="-122"/>
                <a:cs typeface="Calibri" pitchFamily="34" charset="-120"/>
              </a:rPr>
              <a:t>Missing values (not treated as zero)</a:t>
            </a:r>
            <a:endParaRPr lang="en-US" sz="1300" dirty="0"/>
          </a:p>
        </p:txBody>
      </p:sp>
      <p:sp>
        <p:nvSpPr>
          <p:cNvPr id="31" name="Text 29"/>
          <p:cNvSpPr/>
          <p:nvPr/>
        </p:nvSpPr>
        <p:spPr>
          <a:xfrm>
            <a:off x="640080" y="5257800"/>
            <a:ext cx="731520" cy="731520"/>
          </a:xfrm>
          <a:prstGeom prst="rect">
            <a:avLst/>
          </a:prstGeom>
          <a:noFill/>
          <a:ln/>
        </p:spPr>
        <p:txBody>
          <a:bodyPr wrap="square" rtlCol="0" anchor="ctr"/>
          <a:lstStyle/>
          <a:p>
            <a:pPr marL="0" indent="0" algn="ctr">
              <a:buNone/>
            </a:pPr>
            <a:r>
              <a:rPr lang="en-US" sz="2800" b="1" dirty="0">
                <a:solidFill>
                  <a:srgbClr val="2C5F2D"/>
                </a:solidFill>
                <a:latin typeface="Cambria" pitchFamily="34" charset="0"/>
                <a:ea typeface="Cambria" pitchFamily="34" charset="-122"/>
                <a:cs typeface="Cambria" pitchFamily="34" charset="-120"/>
              </a:rPr>
              <a:t>1</a:t>
            </a:r>
            <a:endParaRPr lang="en-US" sz="2800" dirty="0"/>
          </a:p>
        </p:txBody>
      </p:sp>
      <p:sp>
        <p:nvSpPr>
          <p:cNvPr id="32" name="Text 30"/>
          <p:cNvSpPr/>
          <p:nvPr/>
        </p:nvSpPr>
        <p:spPr>
          <a:xfrm>
            <a:off x="1417320" y="5257800"/>
            <a:ext cx="1828800" cy="731520"/>
          </a:xfrm>
          <a:prstGeom prst="rect">
            <a:avLst/>
          </a:prstGeom>
          <a:noFill/>
          <a:ln/>
        </p:spPr>
        <p:txBody>
          <a:bodyPr wrap="square" rtlCol="0" anchor="ctr"/>
          <a:lstStyle/>
          <a:p>
            <a:pPr marL="0" indent="0">
              <a:buNone/>
            </a:pPr>
            <a:r>
              <a:rPr lang="en-US" sz="1150" dirty="0">
                <a:solidFill>
                  <a:srgbClr val="2E2E2E"/>
                </a:solidFill>
                <a:latin typeface="Calibri" pitchFamily="34" charset="0"/>
                <a:ea typeface="Calibri" pitchFamily="34" charset="-122"/>
                <a:cs typeface="Calibri" pitchFamily="34" charset="-120"/>
              </a:rPr>
              <a:t>tract: median household income</a:t>
            </a:r>
            <a:endParaRPr lang="en-US" sz="1150" dirty="0"/>
          </a:p>
        </p:txBody>
      </p:sp>
      <p:sp>
        <p:nvSpPr>
          <p:cNvPr id="33" name="Text 31"/>
          <p:cNvSpPr/>
          <p:nvPr/>
        </p:nvSpPr>
        <p:spPr>
          <a:xfrm>
            <a:off x="3383280" y="5257800"/>
            <a:ext cx="731520" cy="731520"/>
          </a:xfrm>
          <a:prstGeom prst="rect">
            <a:avLst/>
          </a:prstGeom>
          <a:noFill/>
          <a:ln/>
        </p:spPr>
        <p:txBody>
          <a:bodyPr wrap="square" rtlCol="0" anchor="ctr"/>
          <a:lstStyle/>
          <a:p>
            <a:pPr marL="0" indent="0" algn="ctr">
              <a:buNone/>
            </a:pPr>
            <a:r>
              <a:rPr lang="en-US" sz="2800" b="1" dirty="0">
                <a:solidFill>
                  <a:srgbClr val="2C5F2D"/>
                </a:solidFill>
                <a:latin typeface="Cambria" pitchFamily="34" charset="0"/>
                <a:ea typeface="Cambria" pitchFamily="34" charset="-122"/>
                <a:cs typeface="Cambria" pitchFamily="34" charset="-120"/>
              </a:rPr>
              <a:t>17</a:t>
            </a:r>
            <a:endParaRPr lang="en-US" sz="2800" dirty="0"/>
          </a:p>
        </p:txBody>
      </p:sp>
      <p:sp>
        <p:nvSpPr>
          <p:cNvPr id="34" name="Text 32"/>
          <p:cNvSpPr/>
          <p:nvPr/>
        </p:nvSpPr>
        <p:spPr>
          <a:xfrm>
            <a:off x="4160520" y="5257800"/>
            <a:ext cx="1828800" cy="731520"/>
          </a:xfrm>
          <a:prstGeom prst="rect">
            <a:avLst/>
          </a:prstGeom>
          <a:noFill/>
          <a:ln/>
        </p:spPr>
        <p:txBody>
          <a:bodyPr wrap="square" rtlCol="0" anchor="ctr"/>
          <a:lstStyle/>
          <a:p>
            <a:pPr marL="0" indent="0">
              <a:buNone/>
            </a:pPr>
            <a:r>
              <a:rPr lang="en-US" sz="1150" dirty="0">
                <a:solidFill>
                  <a:srgbClr val="2E2E2E"/>
                </a:solidFill>
                <a:latin typeface="Calibri" pitchFamily="34" charset="0"/>
                <a:ea typeface="Calibri" pitchFamily="34" charset="-122"/>
                <a:cs typeface="Calibri" pitchFamily="34" charset="-120"/>
              </a:rPr>
              <a:t>tracts: median rent</a:t>
            </a:r>
            <a:endParaRPr lang="en-US" sz="1150" dirty="0"/>
          </a:p>
        </p:txBody>
      </p:sp>
      <p:sp>
        <p:nvSpPr>
          <p:cNvPr id="35" name="Text 33"/>
          <p:cNvSpPr/>
          <p:nvPr/>
        </p:nvSpPr>
        <p:spPr>
          <a:xfrm>
            <a:off x="6126480" y="5257800"/>
            <a:ext cx="731520" cy="731520"/>
          </a:xfrm>
          <a:prstGeom prst="rect">
            <a:avLst/>
          </a:prstGeom>
          <a:noFill/>
          <a:ln/>
        </p:spPr>
        <p:txBody>
          <a:bodyPr wrap="square" rtlCol="0" anchor="ctr"/>
          <a:lstStyle/>
          <a:p>
            <a:pPr marL="0" indent="0" algn="ctr">
              <a:buNone/>
            </a:pPr>
            <a:r>
              <a:rPr lang="en-US" sz="2800" b="1" dirty="0">
                <a:solidFill>
                  <a:srgbClr val="2C5F2D"/>
                </a:solidFill>
                <a:latin typeface="Cambria" pitchFamily="34" charset="0"/>
                <a:ea typeface="Cambria" pitchFamily="34" charset="-122"/>
                <a:cs typeface="Cambria" pitchFamily="34" charset="-120"/>
              </a:rPr>
              <a:t>4</a:t>
            </a:r>
            <a:endParaRPr lang="en-US" sz="2800" dirty="0"/>
          </a:p>
        </p:txBody>
      </p:sp>
      <p:sp>
        <p:nvSpPr>
          <p:cNvPr id="36" name="Text 34"/>
          <p:cNvSpPr/>
          <p:nvPr/>
        </p:nvSpPr>
        <p:spPr>
          <a:xfrm>
            <a:off x="6903720" y="5257800"/>
            <a:ext cx="1828800" cy="731520"/>
          </a:xfrm>
          <a:prstGeom prst="rect">
            <a:avLst/>
          </a:prstGeom>
          <a:noFill/>
          <a:ln/>
        </p:spPr>
        <p:txBody>
          <a:bodyPr wrap="square" rtlCol="0" anchor="ctr"/>
          <a:lstStyle/>
          <a:p>
            <a:pPr marL="0" indent="0">
              <a:buNone/>
            </a:pPr>
            <a:r>
              <a:rPr lang="en-US" sz="1150" dirty="0">
                <a:solidFill>
                  <a:srgbClr val="2E2E2E"/>
                </a:solidFill>
                <a:latin typeface="Calibri" pitchFamily="34" charset="0"/>
                <a:ea typeface="Calibri" pitchFamily="34" charset="-122"/>
                <a:cs typeface="Calibri" pitchFamily="34" charset="-120"/>
              </a:rPr>
              <a:t>tracts: median home value</a:t>
            </a:r>
            <a:endParaRPr lang="en-US" sz="1150" dirty="0"/>
          </a:p>
        </p:txBody>
      </p:sp>
      <p:sp>
        <p:nvSpPr>
          <p:cNvPr id="37" name="Text 35"/>
          <p:cNvSpPr/>
          <p:nvPr/>
        </p:nvSpPr>
        <p:spPr>
          <a:xfrm>
            <a:off x="8961120" y="4983480"/>
            <a:ext cx="2697480" cy="1051560"/>
          </a:xfrm>
          <a:prstGeom prst="rect">
            <a:avLst/>
          </a:prstGeom>
          <a:noFill/>
          <a:ln/>
        </p:spPr>
        <p:txBody>
          <a:bodyPr wrap="square" rtlCol="0" anchor="ctr"/>
          <a:lstStyle/>
          <a:p>
            <a:pPr marL="0" indent="0">
              <a:buNone/>
            </a:pPr>
            <a:r>
              <a:rPr lang="en-US" sz="1100" i="1" dirty="0">
                <a:solidFill>
                  <a:srgbClr val="6B6B6B"/>
                </a:solidFill>
                <a:latin typeface="Calibri" pitchFamily="34" charset="0"/>
                <a:ea typeface="Calibri" pitchFamily="34" charset="-122"/>
                <a:cs typeface="Calibri" pitchFamily="34" charset="-120"/>
              </a:rPr>
              <a:t>Percentage measures can also be missing where the denominator is zero. Variables have not been finalized.</a:t>
            </a:r>
            <a:endParaRPr lang="en-US" sz="1100" dirty="0"/>
          </a:p>
        </p:txBody>
      </p:sp>
      <p:sp>
        <p:nvSpPr>
          <p:cNvPr id="38" name="Text 36"/>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39" name="Text 37"/>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6</a:t>
            </a:r>
            <a:endParaRPr lang="en-US" sz="1000" dirty="0"/>
          </a:p>
        </p:txBody>
      </p:sp>
      <p:sp>
        <p:nvSpPr>
          <p:cNvPr id="40" name="Text 38"/>
          <p:cNvSpPr/>
          <p:nvPr/>
        </p:nvSpPr>
        <p:spPr>
          <a:xfrm>
            <a:off x="457200" y="6199632"/>
            <a:ext cx="1124712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Source: ACS 2019 5-year estimates (U.S. Census Bureau); project calculations</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5F0"/>
        </a:solidFill>
        <a:effectLst/>
      </p:bgPr>
    </p:bg>
    <p:spTree>
      <p:nvGrpSpPr>
        <p:cNvPr id="1" name=""/>
        <p:cNvGrpSpPr/>
        <p:nvPr/>
      </p:nvGrpSpPr>
      <p:grpSpPr>
        <a:xfrm>
          <a:off x="0" y="0"/>
          <a:ext cx="0" cy="0"/>
          <a:chOff x="0" y="0"/>
          <a:chExt cx="0" cy="0"/>
        </a:xfrm>
      </p:grpSpPr>
      <p:sp>
        <p:nvSpPr>
          <p:cNvPr id="2" name="Shape 0"/>
          <p:cNvSpPr/>
          <p:nvPr/>
        </p:nvSpPr>
        <p:spPr>
          <a:xfrm>
            <a:off x="0" y="0"/>
            <a:ext cx="12188952" cy="1097280"/>
          </a:xfrm>
          <a:prstGeom prst="rect">
            <a:avLst/>
          </a:prstGeom>
          <a:solidFill>
            <a:srgbClr val="2C5F2D"/>
          </a:solidFill>
          <a:ln/>
        </p:spPr>
        <p:txBody>
          <a:bodyPr/>
          <a:lstStyle/>
          <a:p>
            <a:endParaRPr lang="en-US"/>
          </a:p>
        </p:txBody>
      </p:sp>
      <p:sp>
        <p:nvSpPr>
          <p:cNvPr id="3" name="Text 1"/>
          <p:cNvSpPr/>
          <p:nvPr/>
        </p:nvSpPr>
        <p:spPr>
          <a:xfrm>
            <a:off x="457200" y="256032"/>
            <a:ext cx="1124712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Food Access and Transit Investigation</a:t>
            </a:r>
            <a:endParaRPr lang="en-US" sz="2800" dirty="0"/>
          </a:p>
        </p:txBody>
      </p:sp>
      <p:sp>
        <p:nvSpPr>
          <p:cNvPr id="4" name="Shape 2"/>
          <p:cNvSpPr/>
          <p:nvPr/>
        </p:nvSpPr>
        <p:spPr>
          <a:xfrm>
            <a:off x="457200" y="1325880"/>
            <a:ext cx="5532120" cy="4754880"/>
          </a:xfrm>
          <a:prstGeom prst="rect">
            <a:avLst/>
          </a:prstGeom>
          <a:solidFill>
            <a:srgbClr val="FFFFFF"/>
          </a:solidFill>
          <a:ln w="12700">
            <a:solidFill>
              <a:srgbClr val="DDDDDD"/>
            </a:solidFill>
            <a:prstDash val="solid"/>
          </a:ln>
        </p:spPr>
        <p:txBody>
          <a:bodyPr/>
          <a:lstStyle/>
          <a:p>
            <a:endParaRPr lang="en-US"/>
          </a:p>
        </p:txBody>
      </p:sp>
      <p:sp>
        <p:nvSpPr>
          <p:cNvPr id="5" name="Text 3"/>
          <p:cNvSpPr/>
          <p:nvPr/>
        </p:nvSpPr>
        <p:spPr>
          <a:xfrm>
            <a:off x="640080" y="1371600"/>
            <a:ext cx="5212080" cy="365760"/>
          </a:xfrm>
          <a:prstGeom prst="rect">
            <a:avLst/>
          </a:prstGeom>
          <a:noFill/>
          <a:ln/>
        </p:spPr>
        <p:txBody>
          <a:bodyPr wrap="square"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USDA food access (preliminary)</a:t>
            </a:r>
            <a:endParaRPr lang="en-US" sz="1600" dirty="0"/>
          </a:p>
        </p:txBody>
      </p:sp>
      <p:sp>
        <p:nvSpPr>
          <p:cNvPr id="6" name="Text 4"/>
          <p:cNvSpPr/>
          <p:nvPr/>
        </p:nvSpPr>
        <p:spPr>
          <a:xfrm>
            <a:off x="640080" y="1783080"/>
            <a:ext cx="5212080" cy="3383280"/>
          </a:xfrm>
          <a:prstGeom prst="rect">
            <a:avLst/>
          </a:prstGeom>
          <a:noFill/>
          <a:ln/>
        </p:spPr>
        <p:txBody>
          <a:bodyPr wrap="square" rtlCol="0" anchor="t"/>
          <a:lstStyle/>
          <a:p>
            <a:pPr marL="342900" indent="-342900">
              <a:spcAft>
                <a:spcPts val="700"/>
              </a:spcAft>
              <a:buSzPct val="100000"/>
              <a:buChar char="•"/>
            </a:pPr>
            <a:r>
              <a:rPr lang="en-US" sz="1200" dirty="0">
                <a:solidFill>
                  <a:srgbClr val="2E2E2E"/>
                </a:solidFill>
                <a:latin typeface="Calibri" pitchFamily="34" charset="0"/>
                <a:ea typeface="Calibri" pitchFamily="34" charset="-122"/>
                <a:cs typeface="Calibri" pitchFamily="34" charset="-120"/>
              </a:rPr>
              <a:t>Tract-level workbook with straight-line and driving-distance measures</a:t>
            </a:r>
            <a:endParaRPr lang="en-US" sz="1200" dirty="0"/>
          </a:p>
          <a:p>
            <a:pPr marL="342900" indent="-342900">
              <a:spcAft>
                <a:spcPts val="700"/>
              </a:spcAft>
              <a:buSzPct val="100000"/>
              <a:buChar char="•"/>
            </a:pPr>
            <a:r>
              <a:rPr lang="en-US" sz="1200" dirty="0">
                <a:solidFill>
                  <a:srgbClr val="2E2E2E"/>
                </a:solidFill>
                <a:latin typeface="Calibri" pitchFamily="34" charset="0"/>
                <a:ea typeface="Calibri" pitchFamily="34" charset="-122"/>
                <a:cs typeface="Calibri" pitchFamily="34" charset="-120"/>
              </a:rPr>
              <a:t>14-county extraction: 607 records (2020 tract IDs)</a:t>
            </a:r>
            <a:endParaRPr lang="en-US" sz="1200" dirty="0"/>
          </a:p>
          <a:p>
            <a:pPr marL="342900" indent="-342900">
              <a:spcAft>
                <a:spcPts val="700"/>
              </a:spcAft>
              <a:buSzPct val="100000"/>
              <a:buChar char="•"/>
            </a:pPr>
            <a:r>
              <a:rPr lang="en-US" sz="1200" dirty="0">
                <a:solidFill>
                  <a:srgbClr val="2E2E2E"/>
                </a:solidFill>
                <a:latin typeface="Calibri" pitchFamily="34" charset="0"/>
                <a:ea typeface="Calibri" pitchFamily="34" charset="-122"/>
                <a:cs typeface="Calibri" pitchFamily="34" charset="-120"/>
              </a:rPr>
              <a:t>DD_SRAM_LA1and10 (low access, 1-mile urban / 10-mile rural driving): 603 non-missing, 4 missing; 262 tracts flagged 1</a:t>
            </a:r>
            <a:endParaRPr lang="en-US" sz="1200" dirty="0"/>
          </a:p>
          <a:p>
            <a:pPr marL="342900" indent="-342900">
              <a:spcAft>
                <a:spcPts val="700"/>
              </a:spcAft>
              <a:buSzPct val="100000"/>
              <a:buChar char="•"/>
            </a:pPr>
            <a:r>
              <a:rPr lang="en-US" sz="1200" dirty="0">
                <a:solidFill>
                  <a:srgbClr val="2E2E2E"/>
                </a:solidFill>
                <a:latin typeface="Calibri" pitchFamily="34" charset="0"/>
                <a:ea typeface="Calibri" pitchFamily="34" charset="-122"/>
                <a:cs typeface="Calibri" pitchFamily="34" charset="-120"/>
              </a:rPr>
              <a:t>DD_SRAM_LILATracts_1And10 (low income and low access): 607 non-missing; 55 tracts flagged 1</a:t>
            </a:r>
            <a:endParaRPr lang="en-US" sz="1200" dirty="0"/>
          </a:p>
          <a:p>
            <a:pPr marL="342900" indent="-342900">
              <a:spcAft>
                <a:spcPts val="700"/>
              </a:spcAft>
              <a:buSzPct val="100000"/>
              <a:buChar char="•"/>
            </a:pPr>
            <a:r>
              <a:rPr lang="en-US" sz="1200" dirty="0">
                <a:solidFill>
                  <a:srgbClr val="2E2E2E"/>
                </a:solidFill>
                <a:latin typeface="Calibri" pitchFamily="34" charset="0"/>
                <a:ea typeface="Calibri" pitchFamily="34" charset="-122"/>
                <a:cs typeface="Calibri" pitchFamily="34" charset="-120"/>
              </a:rPr>
              <a:t>Also examined: population-share measures at 1 mile and half mile (lapop1share, lapophalfshare)</a:t>
            </a:r>
            <a:endParaRPr lang="en-US" sz="1200" dirty="0"/>
          </a:p>
        </p:txBody>
      </p:sp>
      <p:sp>
        <p:nvSpPr>
          <p:cNvPr id="7" name="Text 5"/>
          <p:cNvSpPr/>
          <p:nvPr/>
        </p:nvSpPr>
        <p:spPr>
          <a:xfrm>
            <a:off x="640080" y="5212080"/>
            <a:ext cx="5212080" cy="731520"/>
          </a:xfrm>
          <a:prstGeom prst="rect">
            <a:avLst/>
          </a:prstGeom>
          <a:noFill/>
          <a:ln/>
        </p:spPr>
        <p:txBody>
          <a:bodyPr wrap="square" rtlCol="0" anchor="t"/>
          <a:lstStyle/>
          <a:p>
            <a:pPr marL="0" indent="0">
              <a:buNone/>
            </a:pPr>
            <a:r>
              <a:rPr lang="en-US" sz="1150" i="1" dirty="0">
                <a:solidFill>
                  <a:srgbClr val="6B6B6B"/>
                </a:solidFill>
                <a:latin typeface="Calibri" pitchFamily="34" charset="0"/>
                <a:ea typeface="Calibri" pitchFamily="34" charset="-122"/>
                <a:cs typeface="Calibri" pitchFamily="34" charset="-120"/>
              </a:rPr>
              <a:t>Variable definitions and intended use still need review. These are candidates, not final criteria.</a:t>
            </a:r>
            <a:endParaRPr lang="en-US" sz="1150" dirty="0"/>
          </a:p>
        </p:txBody>
      </p:sp>
      <p:sp>
        <p:nvSpPr>
          <p:cNvPr id="8" name="Shape 6"/>
          <p:cNvSpPr/>
          <p:nvPr/>
        </p:nvSpPr>
        <p:spPr>
          <a:xfrm>
            <a:off x="6217920" y="1325880"/>
            <a:ext cx="5532120" cy="4754880"/>
          </a:xfrm>
          <a:prstGeom prst="rect">
            <a:avLst/>
          </a:prstGeom>
          <a:solidFill>
            <a:srgbClr val="FFFFFF"/>
          </a:solidFill>
          <a:ln w="12700">
            <a:solidFill>
              <a:srgbClr val="DDDDDD"/>
            </a:solidFill>
            <a:prstDash val="solid"/>
          </a:ln>
        </p:spPr>
        <p:txBody>
          <a:bodyPr/>
          <a:lstStyle/>
          <a:p>
            <a:endParaRPr lang="en-US"/>
          </a:p>
        </p:txBody>
      </p:sp>
      <p:sp>
        <p:nvSpPr>
          <p:cNvPr id="9" name="Text 7"/>
          <p:cNvSpPr/>
          <p:nvPr/>
        </p:nvSpPr>
        <p:spPr>
          <a:xfrm>
            <a:off x="6400800" y="1371600"/>
            <a:ext cx="5212080" cy="365760"/>
          </a:xfrm>
          <a:prstGeom prst="rect">
            <a:avLst/>
          </a:prstGeom>
          <a:noFill/>
          <a:ln/>
        </p:spPr>
        <p:txBody>
          <a:bodyPr wrap="square" rtlCol="0" anchor="ctr"/>
          <a:lstStyle/>
          <a:p>
            <a:pPr marL="0" indent="0">
              <a:buNone/>
            </a:pPr>
            <a:r>
              <a:rPr lang="en-US" sz="1600" b="1" dirty="0">
                <a:solidFill>
                  <a:srgbClr val="2C5F2D"/>
                </a:solidFill>
                <a:latin typeface="Calibri" pitchFamily="34" charset="0"/>
                <a:ea typeface="Calibri" pitchFamily="34" charset="-122"/>
                <a:cs typeface="Calibri" pitchFamily="34" charset="-120"/>
              </a:rPr>
              <a:t>Public transit (in progress)</a:t>
            </a:r>
            <a:endParaRPr lang="en-US" sz="1600" dirty="0"/>
          </a:p>
        </p:txBody>
      </p:sp>
      <p:sp>
        <p:nvSpPr>
          <p:cNvPr id="10" name="Text 8"/>
          <p:cNvSpPr/>
          <p:nvPr/>
        </p:nvSpPr>
        <p:spPr>
          <a:xfrm>
            <a:off x="6400800" y="1783080"/>
            <a:ext cx="5212080" cy="274320"/>
          </a:xfrm>
          <a:prstGeom prst="rect">
            <a:avLst/>
          </a:prstGeom>
          <a:noFill/>
          <a:ln/>
        </p:spPr>
        <p:txBody>
          <a:bodyPr wrap="square" rtlCol="0" anchor="ctr"/>
          <a:lstStyle/>
          <a:p>
            <a:pPr marL="0" indent="0">
              <a:buNone/>
            </a:pPr>
            <a:r>
              <a:rPr lang="en-US" sz="1250" b="1" dirty="0">
                <a:solidFill>
                  <a:srgbClr val="2E2E2E"/>
                </a:solidFill>
                <a:latin typeface="Calibri" pitchFamily="34" charset="0"/>
                <a:ea typeface="Calibri" pitchFamily="34" charset="-122"/>
                <a:cs typeface="Calibri" pitchFamily="34" charset="-120"/>
              </a:rPr>
              <a:t>KCATA GTFS feed audit</a:t>
            </a:r>
            <a:endParaRPr lang="en-US" sz="1250" dirty="0"/>
          </a:p>
        </p:txBody>
      </p:sp>
      <p:sp>
        <p:nvSpPr>
          <p:cNvPr id="11" name="Text 9"/>
          <p:cNvSpPr/>
          <p:nvPr/>
        </p:nvSpPr>
        <p:spPr>
          <a:xfrm>
            <a:off x="6400800" y="2057400"/>
            <a:ext cx="5212080" cy="914400"/>
          </a:xfrm>
          <a:prstGeom prst="rect">
            <a:avLst/>
          </a:prstGeom>
          <a:noFill/>
          <a:ln/>
        </p:spPr>
        <p:txBody>
          <a:bodyPr wrap="square" rtlCol="0" anchor="t"/>
          <a:lstStyle/>
          <a:p>
            <a:pPr marL="0" indent="0">
              <a:buNone/>
            </a:pPr>
            <a:r>
              <a:rPr lang="en-US" sz="1200" dirty="0">
                <a:solidFill>
                  <a:srgbClr val="2E2E2E"/>
                </a:solidFill>
                <a:latin typeface="Calibri" pitchFamily="34" charset="0"/>
                <a:ea typeface="Calibri" pitchFamily="34" charset="-122"/>
                <a:cs typeface="Calibri" pitchFamily="34" charset="-120"/>
              </a:rPr>
              <a:t>30 routes (29 bus, 1 streetcar) · 2,300 stops · 5,617 trips · 197,874 stop-time records · 2,275 stops inside project tracts · 171 of 516 tracts contain at least one stop</a:t>
            </a:r>
            <a:endParaRPr lang="en-US" sz="1200" dirty="0"/>
          </a:p>
        </p:txBody>
      </p:sp>
      <p:sp>
        <p:nvSpPr>
          <p:cNvPr id="12" name="Shape 10"/>
          <p:cNvSpPr/>
          <p:nvPr/>
        </p:nvSpPr>
        <p:spPr>
          <a:xfrm>
            <a:off x="6400800" y="3017520"/>
            <a:ext cx="5166360" cy="914400"/>
          </a:xfrm>
          <a:prstGeom prst="rect">
            <a:avLst/>
          </a:prstGeom>
          <a:solidFill>
            <a:srgbClr val="FBF3E4"/>
          </a:solidFill>
          <a:ln w="15875">
            <a:solidFill>
              <a:srgbClr val="C98A2B"/>
            </a:solidFill>
            <a:prstDash val="solid"/>
          </a:ln>
        </p:spPr>
        <p:txBody>
          <a:bodyPr/>
          <a:lstStyle/>
          <a:p>
            <a:endParaRPr lang="en-US"/>
          </a:p>
        </p:txBody>
      </p:sp>
      <p:sp>
        <p:nvSpPr>
          <p:cNvPr id="13" name="Text 11"/>
          <p:cNvSpPr/>
          <p:nvPr/>
        </p:nvSpPr>
        <p:spPr>
          <a:xfrm>
            <a:off x="6492240" y="3017520"/>
            <a:ext cx="4983480" cy="914400"/>
          </a:xfrm>
          <a:prstGeom prst="rect">
            <a:avLst/>
          </a:prstGeom>
          <a:noFill/>
          <a:ln/>
        </p:spPr>
        <p:txBody>
          <a:bodyPr wrap="square" rtlCol="0" anchor="ctr"/>
          <a:lstStyle/>
          <a:p>
            <a:pPr marL="0" indent="0">
              <a:buNone/>
            </a:pPr>
            <a:r>
              <a:rPr lang="en-US" sz="1150" dirty="0">
                <a:solidFill>
                  <a:srgbClr val="2E2E2E"/>
                </a:solidFill>
                <a:latin typeface="Calibri" pitchFamily="34" charset="0"/>
                <a:ea typeface="Calibri" pitchFamily="34" charset="-122"/>
                <a:cs typeface="Calibri" pitchFamily="34" charset="-120"/>
              </a:rPr>
              <a:t>This feed does not appear to cover the whole 14-county area. A tract with no stop is not automatically a tract with no transit access.</a:t>
            </a:r>
            <a:endParaRPr lang="en-US" sz="1150" dirty="0"/>
          </a:p>
        </p:txBody>
      </p:sp>
      <p:sp>
        <p:nvSpPr>
          <p:cNvPr id="14" name="Text 12"/>
          <p:cNvSpPr/>
          <p:nvPr/>
        </p:nvSpPr>
        <p:spPr>
          <a:xfrm>
            <a:off x="6400800" y="4069080"/>
            <a:ext cx="5212080" cy="274320"/>
          </a:xfrm>
          <a:prstGeom prst="rect">
            <a:avLst/>
          </a:prstGeom>
          <a:noFill/>
          <a:ln/>
        </p:spPr>
        <p:txBody>
          <a:bodyPr wrap="square" rtlCol="0" anchor="ctr"/>
          <a:lstStyle/>
          <a:p>
            <a:pPr marL="0" indent="0">
              <a:buNone/>
            </a:pPr>
            <a:r>
              <a:rPr lang="en-US" sz="1250" b="1" dirty="0">
                <a:solidFill>
                  <a:srgbClr val="2E2E2E"/>
                </a:solidFill>
                <a:latin typeface="Calibri" pitchFamily="34" charset="0"/>
                <a:ea typeface="Calibri" pitchFamily="34" charset="-122"/>
                <a:cs typeface="Calibri" pitchFamily="34" charset="-120"/>
              </a:rPr>
              <a:t>Candidate regional source (not validated)</a:t>
            </a:r>
            <a:endParaRPr lang="en-US" sz="1250" dirty="0"/>
          </a:p>
        </p:txBody>
      </p:sp>
      <p:sp>
        <p:nvSpPr>
          <p:cNvPr id="15" name="Text 13"/>
          <p:cNvSpPr/>
          <p:nvPr/>
        </p:nvSpPr>
        <p:spPr>
          <a:xfrm>
            <a:off x="6400800" y="4343400"/>
            <a:ext cx="5212080" cy="1645920"/>
          </a:xfrm>
          <a:prstGeom prst="rect">
            <a:avLst/>
          </a:prstGeom>
          <a:noFill/>
          <a:ln/>
        </p:spPr>
        <p:txBody>
          <a:bodyPr wrap="square" rtlCol="0" anchor="t"/>
          <a:lstStyle/>
          <a:p>
            <a:pPr marL="0" indent="0">
              <a:buNone/>
            </a:pPr>
            <a:r>
              <a:rPr lang="en-US" sz="1200" dirty="0">
                <a:solidFill>
                  <a:srgbClr val="2E2E2E"/>
                </a:solidFill>
                <a:latin typeface="Calibri" pitchFamily="34" charset="0"/>
                <a:ea typeface="Calibri" pitchFamily="34" charset="-122"/>
                <a:cs typeface="Calibri" pitchFamily="34" charset="-120"/>
              </a:rPr>
              <a:t>MARC / ConnectedKC 2050 ArcGIS service, layer 12 “TransitAccess”, field AccessLevelDesc (Low / Moderate / High). Coverage, methodology, and fit with the requested transit variable still to be checked.</a:t>
            </a:r>
            <a:endParaRPr lang="en-US" sz="1200" dirty="0"/>
          </a:p>
        </p:txBody>
      </p:sp>
      <p:sp>
        <p:nvSpPr>
          <p:cNvPr id="16" name="Text 14"/>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17" name="Text 15"/>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7</a:t>
            </a:r>
            <a:endParaRPr lang="en-US" sz="1000" dirty="0"/>
          </a:p>
        </p:txBody>
      </p:sp>
      <p:sp>
        <p:nvSpPr>
          <p:cNvPr id="18" name="Text 16"/>
          <p:cNvSpPr/>
          <p:nvPr/>
        </p:nvSpPr>
        <p:spPr>
          <a:xfrm>
            <a:off x="457200" y="6199632"/>
            <a:ext cx="1124712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Source: USDA ERS Food Access Research Atlas; KCATA GTFS feed; MARC RTP2050 MapServer (gis2.marc2.org)</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Data Validation and Current Challenges</a:t>
            </a:r>
            <a:endParaRPr lang="en-US" sz="2800" dirty="0"/>
          </a:p>
        </p:txBody>
      </p:sp>
      <p:sp>
        <p:nvSpPr>
          <p:cNvPr id="3" name="Text 1"/>
          <p:cNvSpPr/>
          <p:nvPr/>
        </p:nvSpPr>
        <p:spPr>
          <a:xfrm>
            <a:off x="457200" y="914400"/>
            <a:ext cx="11247120" cy="365760"/>
          </a:xfrm>
          <a:prstGeom prst="rect">
            <a:avLst/>
          </a:prstGeom>
          <a:noFill/>
          <a:ln/>
        </p:spPr>
        <p:txBody>
          <a:bodyPr wrap="square" rtlCol="0" anchor="ctr"/>
          <a:lstStyle/>
          <a:p>
            <a:pPr marL="0" indent="0">
              <a:buNone/>
            </a:pPr>
            <a:r>
              <a:rPr lang="en-US" sz="1400" i="1" dirty="0">
                <a:solidFill>
                  <a:srgbClr val="6B6B6B"/>
                </a:solidFill>
                <a:latin typeface="Calibri" pitchFamily="34" charset="0"/>
                <a:ea typeface="Calibri" pitchFamily="34" charset="-122"/>
                <a:cs typeface="Calibri" pitchFamily="34" charset="-120"/>
              </a:rPr>
              <a:t>Status of each data-preparation step</a:t>
            </a:r>
            <a:endParaRPr lang="en-US" sz="1400" dirty="0"/>
          </a:p>
        </p:txBody>
      </p:sp>
      <p:sp>
        <p:nvSpPr>
          <p:cNvPr id="4" name="Shape 2"/>
          <p:cNvSpPr/>
          <p:nvPr/>
        </p:nvSpPr>
        <p:spPr>
          <a:xfrm>
            <a:off x="457200" y="1417320"/>
            <a:ext cx="11292840" cy="548640"/>
          </a:xfrm>
          <a:prstGeom prst="rect">
            <a:avLst/>
          </a:prstGeom>
          <a:solidFill>
            <a:srgbClr val="F6F5F0"/>
          </a:solidFill>
          <a:ln w="9525">
            <a:solidFill>
              <a:srgbClr val="DDDDDD"/>
            </a:solidFill>
            <a:prstDash val="solid"/>
          </a:ln>
        </p:spPr>
        <p:txBody>
          <a:bodyPr/>
          <a:lstStyle/>
          <a:p>
            <a:endParaRPr lang="en-US"/>
          </a:p>
        </p:txBody>
      </p:sp>
      <p:sp>
        <p:nvSpPr>
          <p:cNvPr id="5" name="Text 3"/>
          <p:cNvSpPr/>
          <p:nvPr/>
        </p:nvSpPr>
        <p:spPr>
          <a:xfrm>
            <a:off x="594360" y="1417320"/>
            <a:ext cx="4572000" cy="548640"/>
          </a:xfrm>
          <a:prstGeom prst="rect">
            <a:avLst/>
          </a:prstGeom>
          <a:noFill/>
          <a:ln/>
        </p:spPr>
        <p:txBody>
          <a:bodyPr wrap="square" rtlCol="0" anchor="ctr"/>
          <a:lstStyle/>
          <a:p>
            <a:pPr marL="0" indent="0">
              <a:buNone/>
            </a:pPr>
            <a:r>
              <a:rPr lang="en-US" sz="1350" b="1" dirty="0">
                <a:solidFill>
                  <a:srgbClr val="2E2E2E"/>
                </a:solidFill>
                <a:latin typeface="Calibri" pitchFamily="34" charset="0"/>
                <a:ea typeface="Calibri" pitchFamily="34" charset="-122"/>
                <a:cs typeface="Calibri" pitchFamily="34" charset="-120"/>
              </a:rPr>
              <a:t>Health-data preparation</a:t>
            </a:r>
            <a:endParaRPr lang="en-US" sz="1350" dirty="0"/>
          </a:p>
        </p:txBody>
      </p:sp>
      <p:sp>
        <p:nvSpPr>
          <p:cNvPr id="6" name="Shape 4"/>
          <p:cNvSpPr/>
          <p:nvPr/>
        </p:nvSpPr>
        <p:spPr>
          <a:xfrm>
            <a:off x="5257800" y="1536192"/>
            <a:ext cx="1371600" cy="310896"/>
          </a:xfrm>
          <a:prstGeom prst="roundRect">
            <a:avLst>
              <a:gd name="adj" fmla="val 23529"/>
            </a:avLst>
          </a:prstGeom>
          <a:solidFill>
            <a:srgbClr val="2C5F2D"/>
          </a:solidFill>
          <a:ln/>
        </p:spPr>
        <p:txBody>
          <a:bodyPr/>
          <a:lstStyle/>
          <a:p>
            <a:endParaRPr lang="en-US"/>
          </a:p>
        </p:txBody>
      </p:sp>
      <p:sp>
        <p:nvSpPr>
          <p:cNvPr id="7" name="Text 5"/>
          <p:cNvSpPr/>
          <p:nvPr/>
        </p:nvSpPr>
        <p:spPr>
          <a:xfrm>
            <a:off x="5257800" y="1536192"/>
            <a:ext cx="137160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Completed</a:t>
            </a:r>
            <a:endParaRPr lang="en-US" sz="1100" dirty="0"/>
          </a:p>
        </p:txBody>
      </p:sp>
      <p:sp>
        <p:nvSpPr>
          <p:cNvPr id="8" name="Text 6"/>
          <p:cNvSpPr/>
          <p:nvPr/>
        </p:nvSpPr>
        <p:spPr>
          <a:xfrm>
            <a:off x="6812280" y="1417320"/>
            <a:ext cx="4846320" cy="548640"/>
          </a:xfrm>
          <a:prstGeom prst="rect">
            <a:avLst/>
          </a:prstGeom>
          <a:noFill/>
          <a:ln/>
        </p:spPr>
        <p:txBody>
          <a:bodyPr wrap="square" rtlCol="0" anchor="ctr"/>
          <a:lstStyle/>
          <a:p>
            <a:pPr marL="0" indent="0">
              <a:buNone/>
            </a:pPr>
            <a:r>
              <a:rPr lang="en-US" sz="1200" dirty="0">
                <a:solidFill>
                  <a:srgbClr val="2E2E2E"/>
                </a:solidFill>
                <a:latin typeface="Calibri" pitchFamily="34" charset="0"/>
                <a:ea typeface="Calibri" pitchFamily="34" charset="-122"/>
                <a:cs typeface="Calibri" pitchFamily="34" charset="-120"/>
              </a:rPr>
              <a:t>For the current 516-tract project dataset</a:t>
            </a:r>
            <a:endParaRPr lang="en-US" sz="1200" dirty="0"/>
          </a:p>
        </p:txBody>
      </p:sp>
      <p:sp>
        <p:nvSpPr>
          <p:cNvPr id="9" name="Shape 7"/>
          <p:cNvSpPr/>
          <p:nvPr/>
        </p:nvSpPr>
        <p:spPr>
          <a:xfrm>
            <a:off x="457200" y="2057400"/>
            <a:ext cx="11292840" cy="548640"/>
          </a:xfrm>
          <a:prstGeom prst="rect">
            <a:avLst/>
          </a:prstGeom>
          <a:solidFill>
            <a:srgbClr val="FFFFFF"/>
          </a:solidFill>
          <a:ln w="9525">
            <a:solidFill>
              <a:srgbClr val="DDDDDD"/>
            </a:solidFill>
            <a:prstDash val="solid"/>
          </a:ln>
        </p:spPr>
        <p:txBody>
          <a:bodyPr/>
          <a:lstStyle/>
          <a:p>
            <a:endParaRPr lang="en-US"/>
          </a:p>
        </p:txBody>
      </p:sp>
      <p:sp>
        <p:nvSpPr>
          <p:cNvPr id="10" name="Text 8"/>
          <p:cNvSpPr/>
          <p:nvPr/>
        </p:nvSpPr>
        <p:spPr>
          <a:xfrm>
            <a:off x="594360" y="2057400"/>
            <a:ext cx="4572000" cy="548640"/>
          </a:xfrm>
          <a:prstGeom prst="rect">
            <a:avLst/>
          </a:prstGeom>
          <a:noFill/>
          <a:ln/>
        </p:spPr>
        <p:txBody>
          <a:bodyPr wrap="square" rtlCol="0" anchor="ctr"/>
          <a:lstStyle/>
          <a:p>
            <a:pPr marL="0" indent="0">
              <a:buNone/>
            </a:pPr>
            <a:r>
              <a:rPr lang="en-US" sz="1350" b="1" dirty="0">
                <a:solidFill>
                  <a:srgbClr val="2E2E2E"/>
                </a:solidFill>
                <a:latin typeface="Calibri" pitchFamily="34" charset="0"/>
                <a:ea typeface="Calibri" pitchFamily="34" charset="-122"/>
                <a:cs typeface="Calibri" pitchFamily="34" charset="-120"/>
              </a:rPr>
              <a:t>Health / socioeconomic exploratory analysis</a:t>
            </a:r>
            <a:endParaRPr lang="en-US" sz="1350" dirty="0"/>
          </a:p>
        </p:txBody>
      </p:sp>
      <p:sp>
        <p:nvSpPr>
          <p:cNvPr id="11" name="Shape 9"/>
          <p:cNvSpPr/>
          <p:nvPr/>
        </p:nvSpPr>
        <p:spPr>
          <a:xfrm>
            <a:off x="5257800" y="2176272"/>
            <a:ext cx="1371600" cy="310896"/>
          </a:xfrm>
          <a:prstGeom prst="roundRect">
            <a:avLst>
              <a:gd name="adj" fmla="val 23529"/>
            </a:avLst>
          </a:prstGeom>
          <a:solidFill>
            <a:srgbClr val="2C5F2D"/>
          </a:solidFill>
          <a:ln/>
        </p:spPr>
        <p:txBody>
          <a:bodyPr/>
          <a:lstStyle/>
          <a:p>
            <a:endParaRPr lang="en-US"/>
          </a:p>
        </p:txBody>
      </p:sp>
      <p:sp>
        <p:nvSpPr>
          <p:cNvPr id="12" name="Text 10"/>
          <p:cNvSpPr/>
          <p:nvPr/>
        </p:nvSpPr>
        <p:spPr>
          <a:xfrm>
            <a:off x="5257800" y="2176272"/>
            <a:ext cx="137160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Preliminary</a:t>
            </a:r>
            <a:endParaRPr lang="en-US" sz="1100" dirty="0"/>
          </a:p>
        </p:txBody>
      </p:sp>
      <p:sp>
        <p:nvSpPr>
          <p:cNvPr id="13" name="Text 11"/>
          <p:cNvSpPr/>
          <p:nvPr/>
        </p:nvSpPr>
        <p:spPr>
          <a:xfrm>
            <a:off x="6812280" y="2057400"/>
            <a:ext cx="4846320" cy="548640"/>
          </a:xfrm>
          <a:prstGeom prst="rect">
            <a:avLst/>
          </a:prstGeom>
          <a:noFill/>
          <a:ln/>
        </p:spPr>
        <p:txBody>
          <a:bodyPr wrap="square" rtlCol="0" anchor="ctr"/>
          <a:lstStyle/>
          <a:p>
            <a:pPr marL="0" indent="0">
              <a:buNone/>
            </a:pPr>
            <a:r>
              <a:rPr lang="en-US" sz="1200" dirty="0">
                <a:solidFill>
                  <a:srgbClr val="2E2E2E"/>
                </a:solidFill>
                <a:latin typeface="Calibri" pitchFamily="34" charset="0"/>
                <a:ea typeface="Calibri" pitchFamily="34" charset="-122"/>
                <a:cs typeface="Calibri" pitchFamily="34" charset="-120"/>
              </a:rPr>
              <a:t>Descriptive statistics and correlations done; no variables finalized</a:t>
            </a:r>
            <a:endParaRPr lang="en-US" sz="1200" dirty="0"/>
          </a:p>
        </p:txBody>
      </p:sp>
      <p:sp>
        <p:nvSpPr>
          <p:cNvPr id="14" name="Shape 12"/>
          <p:cNvSpPr/>
          <p:nvPr/>
        </p:nvSpPr>
        <p:spPr>
          <a:xfrm>
            <a:off x="457200" y="2697480"/>
            <a:ext cx="11292840" cy="548640"/>
          </a:xfrm>
          <a:prstGeom prst="rect">
            <a:avLst/>
          </a:prstGeom>
          <a:solidFill>
            <a:srgbClr val="F6F5F0"/>
          </a:solidFill>
          <a:ln w="9525">
            <a:solidFill>
              <a:srgbClr val="DDDDDD"/>
            </a:solidFill>
            <a:prstDash val="solid"/>
          </a:ln>
        </p:spPr>
        <p:txBody>
          <a:bodyPr/>
          <a:lstStyle/>
          <a:p>
            <a:endParaRPr lang="en-US"/>
          </a:p>
        </p:txBody>
      </p:sp>
      <p:sp>
        <p:nvSpPr>
          <p:cNvPr id="15" name="Text 13"/>
          <p:cNvSpPr/>
          <p:nvPr/>
        </p:nvSpPr>
        <p:spPr>
          <a:xfrm>
            <a:off x="594360" y="2697480"/>
            <a:ext cx="4572000" cy="548640"/>
          </a:xfrm>
          <a:prstGeom prst="rect">
            <a:avLst/>
          </a:prstGeom>
          <a:noFill/>
          <a:ln/>
        </p:spPr>
        <p:txBody>
          <a:bodyPr wrap="square" rtlCol="0" anchor="ctr"/>
          <a:lstStyle/>
          <a:p>
            <a:pPr marL="0" indent="0">
              <a:buNone/>
            </a:pPr>
            <a:r>
              <a:rPr lang="en-US" sz="1350" b="1" dirty="0">
                <a:solidFill>
                  <a:srgbClr val="2E2E2E"/>
                </a:solidFill>
                <a:latin typeface="Calibri" pitchFamily="34" charset="0"/>
                <a:ea typeface="Calibri" pitchFamily="34" charset="-122"/>
                <a:cs typeface="Calibri" pitchFamily="34" charset="-120"/>
              </a:rPr>
              <a:t>USDA food-access extraction</a:t>
            </a:r>
            <a:endParaRPr lang="en-US" sz="1350" dirty="0"/>
          </a:p>
        </p:txBody>
      </p:sp>
      <p:sp>
        <p:nvSpPr>
          <p:cNvPr id="16" name="Shape 14"/>
          <p:cNvSpPr/>
          <p:nvPr/>
        </p:nvSpPr>
        <p:spPr>
          <a:xfrm>
            <a:off x="5257800" y="2816352"/>
            <a:ext cx="1371600" cy="310896"/>
          </a:xfrm>
          <a:prstGeom prst="roundRect">
            <a:avLst>
              <a:gd name="adj" fmla="val 23529"/>
            </a:avLst>
          </a:prstGeom>
          <a:solidFill>
            <a:srgbClr val="C98A2B"/>
          </a:solidFill>
          <a:ln/>
        </p:spPr>
        <p:txBody>
          <a:bodyPr/>
          <a:lstStyle/>
          <a:p>
            <a:endParaRPr lang="en-US"/>
          </a:p>
        </p:txBody>
      </p:sp>
      <p:sp>
        <p:nvSpPr>
          <p:cNvPr id="17" name="Text 15"/>
          <p:cNvSpPr/>
          <p:nvPr/>
        </p:nvSpPr>
        <p:spPr>
          <a:xfrm>
            <a:off x="5257800" y="2816352"/>
            <a:ext cx="137160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Preliminary</a:t>
            </a:r>
            <a:endParaRPr lang="en-US" sz="1100" dirty="0"/>
          </a:p>
        </p:txBody>
      </p:sp>
      <p:sp>
        <p:nvSpPr>
          <p:cNvPr id="18" name="Text 16"/>
          <p:cNvSpPr/>
          <p:nvPr/>
        </p:nvSpPr>
        <p:spPr>
          <a:xfrm>
            <a:off x="6812280" y="2697480"/>
            <a:ext cx="4846320" cy="548640"/>
          </a:xfrm>
          <a:prstGeom prst="rect">
            <a:avLst/>
          </a:prstGeom>
          <a:noFill/>
          <a:ln/>
        </p:spPr>
        <p:txBody>
          <a:bodyPr wrap="square" rtlCol="0" anchor="ctr"/>
          <a:lstStyle/>
          <a:p>
            <a:pPr marL="0" indent="0">
              <a:buNone/>
            </a:pPr>
            <a:r>
              <a:rPr lang="en-US" sz="1200" dirty="0">
                <a:solidFill>
                  <a:srgbClr val="2E2E2E"/>
                </a:solidFill>
                <a:latin typeface="Calibri" pitchFamily="34" charset="0"/>
                <a:ea typeface="Calibri" pitchFamily="34" charset="-122"/>
                <a:cs typeface="Calibri" pitchFamily="34" charset="-120"/>
              </a:rPr>
              <a:t>607 records extracted; variable selection pending</a:t>
            </a:r>
            <a:endParaRPr lang="en-US" sz="1200" dirty="0"/>
          </a:p>
        </p:txBody>
      </p:sp>
      <p:sp>
        <p:nvSpPr>
          <p:cNvPr id="19" name="Shape 17"/>
          <p:cNvSpPr/>
          <p:nvPr/>
        </p:nvSpPr>
        <p:spPr>
          <a:xfrm>
            <a:off x="457200" y="3337560"/>
            <a:ext cx="11292840" cy="548640"/>
          </a:xfrm>
          <a:prstGeom prst="rect">
            <a:avLst/>
          </a:prstGeom>
          <a:solidFill>
            <a:srgbClr val="FFFFFF"/>
          </a:solidFill>
          <a:ln w="9525">
            <a:solidFill>
              <a:srgbClr val="DDDDDD"/>
            </a:solidFill>
            <a:prstDash val="solid"/>
          </a:ln>
        </p:spPr>
        <p:txBody>
          <a:bodyPr/>
          <a:lstStyle/>
          <a:p>
            <a:endParaRPr lang="en-US"/>
          </a:p>
        </p:txBody>
      </p:sp>
      <p:sp>
        <p:nvSpPr>
          <p:cNvPr id="20" name="Text 18"/>
          <p:cNvSpPr/>
          <p:nvPr/>
        </p:nvSpPr>
        <p:spPr>
          <a:xfrm>
            <a:off x="594360" y="3337560"/>
            <a:ext cx="4572000" cy="548640"/>
          </a:xfrm>
          <a:prstGeom prst="rect">
            <a:avLst/>
          </a:prstGeom>
          <a:noFill/>
          <a:ln/>
        </p:spPr>
        <p:txBody>
          <a:bodyPr wrap="square" rtlCol="0" anchor="ctr"/>
          <a:lstStyle/>
          <a:p>
            <a:pPr marL="0" indent="0">
              <a:buNone/>
            </a:pPr>
            <a:r>
              <a:rPr lang="en-US" sz="1350" b="1" dirty="0">
                <a:solidFill>
                  <a:srgbClr val="2E2E2E"/>
                </a:solidFill>
                <a:latin typeface="Calibri" pitchFamily="34" charset="0"/>
                <a:ea typeface="Calibri" pitchFamily="34" charset="-122"/>
                <a:cs typeface="Calibri" pitchFamily="34" charset="-120"/>
              </a:rPr>
              <a:t>Census-tract geography harmonization</a:t>
            </a:r>
            <a:endParaRPr lang="en-US" sz="1350" dirty="0"/>
          </a:p>
        </p:txBody>
      </p:sp>
      <p:sp>
        <p:nvSpPr>
          <p:cNvPr id="21" name="Shape 19"/>
          <p:cNvSpPr/>
          <p:nvPr/>
        </p:nvSpPr>
        <p:spPr>
          <a:xfrm>
            <a:off x="5257800" y="3456432"/>
            <a:ext cx="1371600" cy="310896"/>
          </a:xfrm>
          <a:prstGeom prst="roundRect">
            <a:avLst>
              <a:gd name="adj" fmla="val 23529"/>
            </a:avLst>
          </a:prstGeom>
          <a:solidFill>
            <a:srgbClr val="A33B2F"/>
          </a:solidFill>
          <a:ln/>
        </p:spPr>
        <p:txBody>
          <a:bodyPr/>
          <a:lstStyle/>
          <a:p>
            <a:endParaRPr lang="en-US"/>
          </a:p>
        </p:txBody>
      </p:sp>
      <p:sp>
        <p:nvSpPr>
          <p:cNvPr id="22" name="Text 20"/>
          <p:cNvSpPr/>
          <p:nvPr/>
        </p:nvSpPr>
        <p:spPr>
          <a:xfrm>
            <a:off x="5257800" y="3456432"/>
            <a:ext cx="137160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Unresolved</a:t>
            </a:r>
            <a:endParaRPr lang="en-US" sz="1100" dirty="0"/>
          </a:p>
        </p:txBody>
      </p:sp>
      <p:sp>
        <p:nvSpPr>
          <p:cNvPr id="23" name="Text 21"/>
          <p:cNvSpPr/>
          <p:nvPr/>
        </p:nvSpPr>
        <p:spPr>
          <a:xfrm>
            <a:off x="6812280" y="3337560"/>
            <a:ext cx="4846320" cy="548640"/>
          </a:xfrm>
          <a:prstGeom prst="rect">
            <a:avLst/>
          </a:prstGeom>
          <a:noFill/>
          <a:ln/>
        </p:spPr>
        <p:txBody>
          <a:bodyPr wrap="square" rtlCol="0" anchor="ctr"/>
          <a:lstStyle/>
          <a:p>
            <a:r>
              <a:rPr lang="en-US" sz="1200" dirty="0"/>
              <a:t>Project IDs use 2010-era tracts; USDA uses 2020 IDs. Exact ID matches: 430. 86 project IDs and 177 USDA IDs have no exact match. Reconciliation is required before merging.</a:t>
            </a:r>
          </a:p>
        </p:txBody>
      </p:sp>
      <p:sp>
        <p:nvSpPr>
          <p:cNvPr id="24" name="Shape 22"/>
          <p:cNvSpPr/>
          <p:nvPr/>
        </p:nvSpPr>
        <p:spPr>
          <a:xfrm>
            <a:off x="457200" y="3977640"/>
            <a:ext cx="11292840" cy="548640"/>
          </a:xfrm>
          <a:prstGeom prst="rect">
            <a:avLst/>
          </a:prstGeom>
          <a:solidFill>
            <a:srgbClr val="F6F5F0"/>
          </a:solidFill>
          <a:ln w="9525">
            <a:solidFill>
              <a:srgbClr val="DDDDDD"/>
            </a:solidFill>
            <a:prstDash val="solid"/>
          </a:ln>
        </p:spPr>
        <p:txBody>
          <a:bodyPr/>
          <a:lstStyle/>
          <a:p>
            <a:endParaRPr lang="en-US"/>
          </a:p>
        </p:txBody>
      </p:sp>
      <p:sp>
        <p:nvSpPr>
          <p:cNvPr id="25" name="Text 23"/>
          <p:cNvSpPr/>
          <p:nvPr/>
        </p:nvSpPr>
        <p:spPr>
          <a:xfrm>
            <a:off x="594360" y="3977640"/>
            <a:ext cx="4572000" cy="548640"/>
          </a:xfrm>
          <a:prstGeom prst="rect">
            <a:avLst/>
          </a:prstGeom>
          <a:noFill/>
          <a:ln/>
        </p:spPr>
        <p:txBody>
          <a:bodyPr wrap="square" rtlCol="0" anchor="ctr"/>
          <a:lstStyle/>
          <a:p>
            <a:pPr marL="0" indent="0">
              <a:buNone/>
            </a:pPr>
            <a:r>
              <a:rPr lang="en-US" sz="1350" b="1" dirty="0">
                <a:solidFill>
                  <a:srgbClr val="2E2E2E"/>
                </a:solidFill>
                <a:latin typeface="Calibri" pitchFamily="34" charset="0"/>
                <a:ea typeface="Calibri" pitchFamily="34" charset="-122"/>
                <a:cs typeface="Calibri" pitchFamily="34" charset="-120"/>
              </a:rPr>
              <a:t>Transit source validation</a:t>
            </a:r>
            <a:endParaRPr lang="en-US" sz="1350" dirty="0"/>
          </a:p>
        </p:txBody>
      </p:sp>
      <p:sp>
        <p:nvSpPr>
          <p:cNvPr id="26" name="Shape 24"/>
          <p:cNvSpPr/>
          <p:nvPr/>
        </p:nvSpPr>
        <p:spPr>
          <a:xfrm>
            <a:off x="5257800" y="4096512"/>
            <a:ext cx="1371600" cy="310896"/>
          </a:xfrm>
          <a:prstGeom prst="roundRect">
            <a:avLst>
              <a:gd name="adj" fmla="val 23529"/>
            </a:avLst>
          </a:prstGeom>
          <a:solidFill>
            <a:srgbClr val="C98A2B"/>
          </a:solidFill>
          <a:ln/>
        </p:spPr>
        <p:txBody>
          <a:bodyPr/>
          <a:lstStyle/>
          <a:p>
            <a:endParaRPr lang="en-US"/>
          </a:p>
        </p:txBody>
      </p:sp>
      <p:sp>
        <p:nvSpPr>
          <p:cNvPr id="27" name="Text 25"/>
          <p:cNvSpPr/>
          <p:nvPr/>
        </p:nvSpPr>
        <p:spPr>
          <a:xfrm>
            <a:off x="5257800" y="4096512"/>
            <a:ext cx="137160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In progress</a:t>
            </a:r>
            <a:endParaRPr lang="en-US" sz="1100" dirty="0"/>
          </a:p>
        </p:txBody>
      </p:sp>
      <p:sp>
        <p:nvSpPr>
          <p:cNvPr id="28" name="Text 26"/>
          <p:cNvSpPr/>
          <p:nvPr/>
        </p:nvSpPr>
        <p:spPr>
          <a:xfrm>
            <a:off x="6812280" y="3977640"/>
            <a:ext cx="4846320" cy="548640"/>
          </a:xfrm>
          <a:prstGeom prst="rect">
            <a:avLst/>
          </a:prstGeom>
          <a:noFill/>
          <a:ln/>
        </p:spPr>
        <p:txBody>
          <a:bodyPr wrap="square" rtlCol="0" anchor="ctr"/>
          <a:lstStyle/>
          <a:p>
            <a:pPr marL="0" indent="0">
              <a:buNone/>
            </a:pPr>
            <a:r>
              <a:rPr lang="en-US" sz="1200" dirty="0">
                <a:solidFill>
                  <a:srgbClr val="2E2E2E"/>
                </a:solidFill>
                <a:latin typeface="Calibri" pitchFamily="34" charset="0"/>
                <a:ea typeface="Calibri" pitchFamily="34" charset="-122"/>
                <a:cs typeface="Calibri" pitchFamily="34" charset="-120"/>
              </a:rPr>
              <a:t>GTFS covers only part of the area; MARC layer unvalidated</a:t>
            </a:r>
            <a:endParaRPr lang="en-US" sz="1200" dirty="0"/>
          </a:p>
        </p:txBody>
      </p:sp>
      <p:sp>
        <p:nvSpPr>
          <p:cNvPr id="29" name="Shape 27"/>
          <p:cNvSpPr/>
          <p:nvPr/>
        </p:nvSpPr>
        <p:spPr>
          <a:xfrm>
            <a:off x="457200" y="4617720"/>
            <a:ext cx="11292840" cy="548640"/>
          </a:xfrm>
          <a:prstGeom prst="rect">
            <a:avLst/>
          </a:prstGeom>
          <a:solidFill>
            <a:srgbClr val="FFFFFF"/>
          </a:solidFill>
          <a:ln w="9525">
            <a:solidFill>
              <a:srgbClr val="DDDDDD"/>
            </a:solidFill>
            <a:prstDash val="solid"/>
          </a:ln>
        </p:spPr>
        <p:txBody>
          <a:bodyPr/>
          <a:lstStyle/>
          <a:p>
            <a:endParaRPr lang="en-US"/>
          </a:p>
        </p:txBody>
      </p:sp>
      <p:sp>
        <p:nvSpPr>
          <p:cNvPr id="30" name="Text 28"/>
          <p:cNvSpPr/>
          <p:nvPr/>
        </p:nvSpPr>
        <p:spPr>
          <a:xfrm>
            <a:off x="594360" y="4617720"/>
            <a:ext cx="4572000" cy="548640"/>
          </a:xfrm>
          <a:prstGeom prst="rect">
            <a:avLst/>
          </a:prstGeom>
          <a:noFill/>
          <a:ln/>
        </p:spPr>
        <p:txBody>
          <a:bodyPr wrap="square" rtlCol="0" anchor="ctr"/>
          <a:lstStyle/>
          <a:p>
            <a:pPr marL="0" indent="0">
              <a:buNone/>
            </a:pPr>
            <a:r>
              <a:rPr lang="en-US" sz="1350" b="1" dirty="0">
                <a:solidFill>
                  <a:srgbClr val="2E2E2E"/>
                </a:solidFill>
                <a:latin typeface="Calibri" pitchFamily="34" charset="0"/>
                <a:ea typeface="Calibri" pitchFamily="34" charset="-122"/>
                <a:cs typeface="Calibri" pitchFamily="34" charset="-120"/>
              </a:rPr>
              <a:t>Vacant-land / parcel collection</a:t>
            </a:r>
            <a:endParaRPr lang="en-US" sz="1350" dirty="0"/>
          </a:p>
        </p:txBody>
      </p:sp>
      <p:sp>
        <p:nvSpPr>
          <p:cNvPr id="31" name="Shape 29"/>
          <p:cNvSpPr/>
          <p:nvPr/>
        </p:nvSpPr>
        <p:spPr>
          <a:xfrm>
            <a:off x="5257800" y="4736592"/>
            <a:ext cx="1371600" cy="310896"/>
          </a:xfrm>
          <a:prstGeom prst="roundRect">
            <a:avLst>
              <a:gd name="adj" fmla="val 23529"/>
            </a:avLst>
          </a:prstGeom>
          <a:solidFill>
            <a:srgbClr val="7A7F85"/>
          </a:solidFill>
          <a:ln/>
        </p:spPr>
        <p:txBody>
          <a:bodyPr/>
          <a:lstStyle/>
          <a:p>
            <a:endParaRPr lang="en-US"/>
          </a:p>
        </p:txBody>
      </p:sp>
      <p:sp>
        <p:nvSpPr>
          <p:cNvPr id="32" name="Text 30"/>
          <p:cNvSpPr/>
          <p:nvPr/>
        </p:nvSpPr>
        <p:spPr>
          <a:xfrm>
            <a:off x="5257800" y="4736592"/>
            <a:ext cx="137160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Pending</a:t>
            </a:r>
            <a:endParaRPr lang="en-US" sz="1100" dirty="0"/>
          </a:p>
        </p:txBody>
      </p:sp>
      <p:sp>
        <p:nvSpPr>
          <p:cNvPr id="33" name="Text 31"/>
          <p:cNvSpPr/>
          <p:nvPr/>
        </p:nvSpPr>
        <p:spPr>
          <a:xfrm>
            <a:off x="6812280" y="4617720"/>
            <a:ext cx="4846320" cy="548640"/>
          </a:xfrm>
          <a:prstGeom prst="rect">
            <a:avLst/>
          </a:prstGeom>
          <a:noFill/>
          <a:ln/>
        </p:spPr>
        <p:txBody>
          <a:bodyPr wrap="square" rtlCol="0" anchor="ctr"/>
          <a:lstStyle/>
          <a:p>
            <a:pPr marL="0" indent="0">
              <a:buNone/>
            </a:pPr>
            <a:r>
              <a:rPr lang="en-US" sz="1200" dirty="0">
                <a:solidFill>
                  <a:srgbClr val="2E2E2E"/>
                </a:solidFill>
                <a:latin typeface="Calibri" pitchFamily="34" charset="0"/>
                <a:ea typeface="Calibri" pitchFamily="34" charset="-122"/>
                <a:cs typeface="Calibri" pitchFamily="34" charset="-120"/>
              </a:rPr>
              <a:t>Kansas ORKA and KCMO Parcel Viewer</a:t>
            </a:r>
            <a:endParaRPr lang="en-US" sz="1200" dirty="0"/>
          </a:p>
        </p:txBody>
      </p:sp>
      <p:sp>
        <p:nvSpPr>
          <p:cNvPr id="34" name="Shape 32"/>
          <p:cNvSpPr/>
          <p:nvPr/>
        </p:nvSpPr>
        <p:spPr>
          <a:xfrm>
            <a:off x="457200" y="5257800"/>
            <a:ext cx="11292840" cy="548640"/>
          </a:xfrm>
          <a:prstGeom prst="rect">
            <a:avLst/>
          </a:prstGeom>
          <a:solidFill>
            <a:srgbClr val="F6F5F0"/>
          </a:solidFill>
          <a:ln w="9525">
            <a:solidFill>
              <a:srgbClr val="DDDDDD"/>
            </a:solidFill>
            <a:prstDash val="solid"/>
          </a:ln>
        </p:spPr>
        <p:txBody>
          <a:bodyPr/>
          <a:lstStyle/>
          <a:p>
            <a:endParaRPr lang="en-US"/>
          </a:p>
        </p:txBody>
      </p:sp>
      <p:sp>
        <p:nvSpPr>
          <p:cNvPr id="35" name="Text 33"/>
          <p:cNvSpPr/>
          <p:nvPr/>
        </p:nvSpPr>
        <p:spPr>
          <a:xfrm>
            <a:off x="594360" y="5257800"/>
            <a:ext cx="4572000" cy="548640"/>
          </a:xfrm>
          <a:prstGeom prst="rect">
            <a:avLst/>
          </a:prstGeom>
          <a:noFill/>
          <a:ln/>
        </p:spPr>
        <p:txBody>
          <a:bodyPr wrap="square" rtlCol="0" anchor="ctr"/>
          <a:lstStyle/>
          <a:p>
            <a:pPr marL="0" indent="0">
              <a:buNone/>
            </a:pPr>
            <a:r>
              <a:rPr lang="en-US" sz="1350" b="1" dirty="0">
                <a:solidFill>
                  <a:srgbClr val="2E2E2E"/>
                </a:solidFill>
                <a:latin typeface="Calibri" pitchFamily="34" charset="0"/>
                <a:ea typeface="Calibri" pitchFamily="34" charset="-122"/>
                <a:cs typeface="Calibri" pitchFamily="34" charset="-120"/>
              </a:rPr>
              <a:t>Final suitability scoring and dashboard</a:t>
            </a:r>
            <a:endParaRPr lang="en-US" sz="1350" dirty="0"/>
          </a:p>
        </p:txBody>
      </p:sp>
      <p:sp>
        <p:nvSpPr>
          <p:cNvPr id="36" name="Shape 34"/>
          <p:cNvSpPr/>
          <p:nvPr/>
        </p:nvSpPr>
        <p:spPr>
          <a:xfrm>
            <a:off x="5257800" y="5376672"/>
            <a:ext cx="1371600" cy="310896"/>
          </a:xfrm>
          <a:prstGeom prst="roundRect">
            <a:avLst>
              <a:gd name="adj" fmla="val 23529"/>
            </a:avLst>
          </a:prstGeom>
          <a:solidFill>
            <a:srgbClr val="7A7F85"/>
          </a:solidFill>
          <a:ln/>
        </p:spPr>
        <p:txBody>
          <a:bodyPr/>
          <a:lstStyle/>
          <a:p>
            <a:endParaRPr lang="en-US"/>
          </a:p>
        </p:txBody>
      </p:sp>
      <p:sp>
        <p:nvSpPr>
          <p:cNvPr id="37" name="Text 35"/>
          <p:cNvSpPr/>
          <p:nvPr/>
        </p:nvSpPr>
        <p:spPr>
          <a:xfrm>
            <a:off x="5257800" y="5376672"/>
            <a:ext cx="1371600" cy="310896"/>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Future work</a:t>
            </a:r>
            <a:endParaRPr lang="en-US" sz="1100" dirty="0"/>
          </a:p>
        </p:txBody>
      </p:sp>
      <p:sp>
        <p:nvSpPr>
          <p:cNvPr id="38" name="Text 36"/>
          <p:cNvSpPr/>
          <p:nvPr/>
        </p:nvSpPr>
        <p:spPr>
          <a:xfrm>
            <a:off x="6812280" y="5257800"/>
            <a:ext cx="4846320" cy="548640"/>
          </a:xfrm>
          <a:prstGeom prst="rect">
            <a:avLst/>
          </a:prstGeom>
          <a:noFill/>
          <a:ln/>
        </p:spPr>
        <p:txBody>
          <a:bodyPr wrap="square" rtlCol="0" anchor="ctr"/>
          <a:lstStyle/>
          <a:p>
            <a:pPr marL="0" indent="0">
              <a:buNone/>
            </a:pPr>
            <a:r>
              <a:rPr lang="en-US" sz="1200" dirty="0">
                <a:solidFill>
                  <a:srgbClr val="2E2E2E"/>
                </a:solidFill>
                <a:latin typeface="Calibri" pitchFamily="34" charset="0"/>
                <a:ea typeface="Calibri" pitchFamily="34" charset="-122"/>
                <a:cs typeface="Calibri" pitchFamily="34" charset="-120"/>
              </a:rPr>
              <a:t>After data collection and validation</a:t>
            </a:r>
            <a:endParaRPr lang="en-US" sz="1200" dirty="0"/>
          </a:p>
        </p:txBody>
      </p:sp>
      <p:sp>
        <p:nvSpPr>
          <p:cNvPr id="39" name="Text 37"/>
          <p:cNvSpPr/>
          <p:nvPr/>
        </p:nvSpPr>
        <p:spPr>
          <a:xfrm>
            <a:off x="457200" y="5943600"/>
            <a:ext cx="11247120" cy="320040"/>
          </a:xfrm>
          <a:prstGeom prst="rect">
            <a:avLst/>
          </a:prstGeom>
          <a:noFill/>
          <a:ln/>
        </p:spPr>
        <p:txBody>
          <a:bodyPr wrap="square" rtlCol="0" anchor="ctr"/>
          <a:lstStyle/>
          <a:p>
            <a:pPr marL="0" indent="0">
              <a:buNone/>
            </a:pPr>
            <a:r>
              <a:rPr lang="en-US" sz="1200" i="1" dirty="0">
                <a:solidFill>
                  <a:srgbClr val="6B6B6B"/>
                </a:solidFill>
                <a:latin typeface="Calibri" pitchFamily="34" charset="0"/>
                <a:ea typeface="Calibri" pitchFamily="34" charset="-122"/>
                <a:cs typeface="Calibri" pitchFamily="34" charset="-120"/>
              </a:rPr>
              <a:t>“Completed” refers to the step named, not to overall data integration, which is not finished.</a:t>
            </a:r>
            <a:endParaRPr lang="en-US" sz="1200" dirty="0"/>
          </a:p>
        </p:txBody>
      </p:sp>
      <p:sp>
        <p:nvSpPr>
          <p:cNvPr id="40" name="Text 38"/>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41" name="Text 39"/>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320040"/>
            <a:ext cx="9144000" cy="640080"/>
          </a:xfrm>
          <a:prstGeom prst="rect">
            <a:avLst/>
          </a:prstGeom>
          <a:noFill/>
          <a:ln/>
        </p:spPr>
        <p:txBody>
          <a:bodyPr wrap="square" rtlCol="0" anchor="ctr"/>
          <a:lstStyle/>
          <a:p>
            <a:pPr marL="0" indent="0">
              <a:buNone/>
            </a:pPr>
            <a:r>
              <a:rPr lang="en-US" sz="3000" dirty="0">
                <a:solidFill>
                  <a:srgbClr val="2E2E2E"/>
                </a:solidFill>
                <a:latin typeface="Cambria" pitchFamily="34" charset="0"/>
                <a:ea typeface="Cambria" pitchFamily="34" charset="-122"/>
                <a:cs typeface="Cambria" pitchFamily="34" charset="-120"/>
              </a:rPr>
              <a:t>Next Week Plans (10/21/2026)</a:t>
            </a:r>
            <a:endParaRPr lang="en-US" sz="3000" dirty="0"/>
          </a:p>
        </p:txBody>
      </p:sp>
      <p:sp>
        <p:nvSpPr>
          <p:cNvPr id="3" name="Text 1"/>
          <p:cNvSpPr/>
          <p:nvPr/>
        </p:nvSpPr>
        <p:spPr>
          <a:xfrm>
            <a:off x="457200" y="1097280"/>
            <a:ext cx="9144000" cy="365760"/>
          </a:xfrm>
          <a:prstGeom prst="rect">
            <a:avLst/>
          </a:prstGeom>
          <a:noFill/>
          <a:ln/>
        </p:spPr>
        <p:txBody>
          <a:bodyPr wrap="square" rtlCol="0" anchor="ctr"/>
          <a:lstStyle/>
          <a:p>
            <a:pPr marL="0" indent="0">
              <a:buNone/>
            </a:pPr>
            <a:r>
              <a:rPr lang="en-US" sz="1800" dirty="0">
                <a:solidFill>
                  <a:srgbClr val="2E2E2E"/>
                </a:solidFill>
                <a:latin typeface="Calibri" pitchFamily="34" charset="0"/>
                <a:ea typeface="Calibri" pitchFamily="34" charset="-122"/>
                <a:cs typeface="Calibri" pitchFamily="34" charset="-120"/>
              </a:rPr>
              <a:t>Activities/Tasks</a:t>
            </a:r>
            <a:endParaRPr lang="en-US" sz="1800" dirty="0"/>
          </a:p>
        </p:txBody>
      </p:sp>
      <p:sp>
        <p:nvSpPr>
          <p:cNvPr id="4" name="Text 2"/>
          <p:cNvSpPr/>
          <p:nvPr/>
        </p:nvSpPr>
        <p:spPr>
          <a:xfrm>
            <a:off x="502920" y="1508760"/>
            <a:ext cx="11155680" cy="2377440"/>
          </a:xfrm>
          <a:prstGeom prst="rect">
            <a:avLst/>
          </a:prstGeom>
          <a:noFill/>
          <a:ln/>
        </p:spPr>
        <p:txBody>
          <a:bodyPr wrap="square" rtlCol="0" anchor="t"/>
          <a:lstStyle/>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Verify the correct census-tract geography and document how 2010 and 2020 tract IDs will be reconciled</a:t>
            </a:r>
            <a:endParaRPr lang="en-US" sz="1400" dirty="0"/>
          </a:p>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Validate the regional transit-access source and its methodology</a:t>
            </a:r>
            <a:endParaRPr lang="en-US" sz="1400" dirty="0"/>
          </a:p>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Collect and inspect vacant-land / parcel data from Kansas ORKA and the KCMO Parcel Viewer</a:t>
            </a:r>
            <a:endParaRPr lang="en-US" sz="1400" dirty="0"/>
          </a:p>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Finalize a defensible variable shortlist, accounting for redundancy and missing values</a:t>
            </a:r>
            <a:endParaRPr lang="en-US" sz="1400" dirty="0"/>
          </a:p>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Build a data inventory: source, year, geography, variable definition, validation status</a:t>
            </a:r>
            <a:endParaRPr lang="en-US" sz="1400" dirty="0"/>
          </a:p>
        </p:txBody>
      </p:sp>
      <p:sp>
        <p:nvSpPr>
          <p:cNvPr id="5" name="Text 3"/>
          <p:cNvSpPr/>
          <p:nvPr/>
        </p:nvSpPr>
        <p:spPr>
          <a:xfrm>
            <a:off x="457200" y="3204376"/>
            <a:ext cx="9144000" cy="365760"/>
          </a:xfrm>
          <a:prstGeom prst="rect">
            <a:avLst/>
          </a:prstGeom>
          <a:noFill/>
          <a:ln/>
        </p:spPr>
        <p:txBody>
          <a:bodyPr wrap="square" rtlCol="0" anchor="ctr"/>
          <a:lstStyle/>
          <a:p>
            <a:pPr marL="0" indent="0">
              <a:buNone/>
            </a:pPr>
            <a:r>
              <a:rPr lang="en-US" sz="1800" dirty="0">
                <a:solidFill>
                  <a:srgbClr val="2E2E2E"/>
                </a:solidFill>
                <a:latin typeface="Calibri" pitchFamily="34" charset="0"/>
                <a:ea typeface="Calibri" pitchFamily="34" charset="-122"/>
                <a:cs typeface="Calibri" pitchFamily="34" charset="-120"/>
              </a:rPr>
              <a:t>Expected Outcomes</a:t>
            </a:r>
            <a:endParaRPr lang="en-US" sz="1800" dirty="0"/>
          </a:p>
        </p:txBody>
      </p:sp>
      <p:sp>
        <p:nvSpPr>
          <p:cNvPr id="6" name="Text 4"/>
          <p:cNvSpPr/>
          <p:nvPr/>
        </p:nvSpPr>
        <p:spPr>
          <a:xfrm>
            <a:off x="502920" y="3610555"/>
            <a:ext cx="11155680" cy="1188720"/>
          </a:xfrm>
          <a:prstGeom prst="rect">
            <a:avLst/>
          </a:prstGeom>
          <a:noFill/>
          <a:ln/>
        </p:spPr>
        <p:txBody>
          <a:bodyPr wrap="square" rtlCol="0" anchor="t"/>
          <a:lstStyle/>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A documented approach for reconciling census-tract vintages</a:t>
            </a:r>
            <a:endParaRPr lang="en-US" sz="1400" dirty="0"/>
          </a:p>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A decision on whether the transit source can be used</a:t>
            </a:r>
            <a:endParaRPr lang="en-US" sz="1400" dirty="0"/>
          </a:p>
          <a:p>
            <a:pPr marL="342900" indent="-342900">
              <a:spcAft>
                <a:spcPts val="700"/>
              </a:spcAft>
              <a:buSzPct val="100000"/>
              <a:buChar char="•"/>
            </a:pPr>
            <a:r>
              <a:rPr lang="en-US" sz="1400" dirty="0">
                <a:solidFill>
                  <a:srgbClr val="2E2E2E"/>
                </a:solidFill>
                <a:latin typeface="Calibri" pitchFamily="34" charset="0"/>
                <a:ea typeface="Calibri" pitchFamily="34" charset="-122"/>
                <a:cs typeface="Calibri" pitchFamily="34" charset="-120"/>
              </a:rPr>
              <a:t>A first look at vacant-land / parcel data and its coverage</a:t>
            </a:r>
            <a:endParaRPr lang="en-US" sz="1400" dirty="0"/>
          </a:p>
        </p:txBody>
      </p:sp>
      <p:sp>
        <p:nvSpPr>
          <p:cNvPr id="7" name="Text 5"/>
          <p:cNvSpPr/>
          <p:nvPr/>
        </p:nvSpPr>
        <p:spPr>
          <a:xfrm>
            <a:off x="457200" y="4656814"/>
            <a:ext cx="9144000" cy="365760"/>
          </a:xfrm>
          <a:prstGeom prst="rect">
            <a:avLst/>
          </a:prstGeom>
          <a:noFill/>
          <a:ln/>
        </p:spPr>
        <p:txBody>
          <a:bodyPr wrap="square" rtlCol="0" anchor="ctr"/>
          <a:lstStyle/>
          <a:p>
            <a:pPr marL="0" indent="0">
              <a:buNone/>
            </a:pPr>
            <a:r>
              <a:rPr lang="en-US" sz="1800" dirty="0">
                <a:solidFill>
                  <a:srgbClr val="2E2E2E"/>
                </a:solidFill>
                <a:latin typeface="Calibri" pitchFamily="34" charset="0"/>
                <a:ea typeface="Calibri" pitchFamily="34" charset="-122"/>
                <a:cs typeface="Calibri" pitchFamily="34" charset="-120"/>
              </a:rPr>
              <a:t>Deliverable</a:t>
            </a:r>
            <a:endParaRPr lang="en-US" sz="1800" dirty="0"/>
          </a:p>
        </p:txBody>
      </p:sp>
      <p:sp>
        <p:nvSpPr>
          <p:cNvPr id="8" name="Text 6"/>
          <p:cNvSpPr/>
          <p:nvPr/>
        </p:nvSpPr>
        <p:spPr>
          <a:xfrm>
            <a:off x="502920" y="5022574"/>
            <a:ext cx="11155680" cy="457200"/>
          </a:xfrm>
          <a:prstGeom prst="rect">
            <a:avLst/>
          </a:prstGeom>
          <a:noFill/>
          <a:ln/>
        </p:spPr>
        <p:txBody>
          <a:bodyPr wrap="square" rtlCol="0" anchor="t"/>
          <a:lstStyle/>
          <a:p>
            <a:pPr marL="342900" indent="-342900">
              <a:buSzPct val="100000"/>
              <a:buChar char="•"/>
            </a:pPr>
            <a:r>
              <a:rPr lang="en-US" sz="1400" dirty="0">
                <a:solidFill>
                  <a:srgbClr val="2E2E2E"/>
                </a:solidFill>
                <a:latin typeface="Calibri" pitchFamily="34" charset="0"/>
                <a:ea typeface="Calibri" pitchFamily="34" charset="-122"/>
                <a:cs typeface="Calibri" pitchFamily="34" charset="-120"/>
              </a:rPr>
              <a:t>Data inventory, documented geography approach, variable shortlist, and progress presentation</a:t>
            </a:r>
            <a:endParaRPr lang="en-US" sz="1400" dirty="0"/>
          </a:p>
        </p:txBody>
      </p:sp>
      <p:sp>
        <p:nvSpPr>
          <p:cNvPr id="9" name="Text 7"/>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10" name="Text 8"/>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Appendix — Code and Outputs</a:t>
            </a:r>
            <a:endParaRPr lang="en-US" sz="2800" dirty="0"/>
          </a:p>
        </p:txBody>
      </p:sp>
      <p:sp>
        <p:nvSpPr>
          <p:cNvPr id="4" name="Text 2"/>
          <p:cNvSpPr/>
          <p:nvPr/>
        </p:nvSpPr>
        <p:spPr>
          <a:xfrm>
            <a:off x="457200" y="1188720"/>
            <a:ext cx="5486400" cy="4480560"/>
          </a:xfrm>
          <a:prstGeom prst="rect">
            <a:avLst/>
          </a:prstGeom>
          <a:noFill/>
          <a:ln/>
        </p:spPr>
        <p:txBody>
          <a:bodyPr wrap="square" rtlCol="0" anchor="ctr"/>
          <a:lstStyle/>
          <a:p>
            <a:pPr marL="0" indent="0" algn="ctr">
              <a:buNone/>
            </a:pPr>
            <a:endParaRPr lang="en-US" sz="1600" dirty="0"/>
          </a:p>
        </p:txBody>
      </p:sp>
      <p:sp>
        <p:nvSpPr>
          <p:cNvPr id="6" name="Text 4"/>
          <p:cNvSpPr/>
          <p:nvPr/>
        </p:nvSpPr>
        <p:spPr>
          <a:xfrm>
            <a:off x="6217920" y="1188720"/>
            <a:ext cx="5486400" cy="4480560"/>
          </a:xfrm>
          <a:prstGeom prst="rect">
            <a:avLst/>
          </a:prstGeom>
          <a:noFill/>
          <a:ln/>
        </p:spPr>
        <p:txBody>
          <a:bodyPr wrap="square" rtlCol="0" anchor="ctr"/>
          <a:lstStyle/>
          <a:p>
            <a:pPr marL="0" indent="0" algn="ctr">
              <a:buNone/>
            </a:pPr>
            <a:endParaRPr lang="en-US" sz="1600" dirty="0"/>
          </a:p>
        </p:txBody>
      </p:sp>
      <p:sp>
        <p:nvSpPr>
          <p:cNvPr id="7" name="Text 5"/>
          <p:cNvSpPr/>
          <p:nvPr/>
        </p:nvSpPr>
        <p:spPr>
          <a:xfrm>
            <a:off x="365760" y="6537960"/>
            <a:ext cx="7315200" cy="274320"/>
          </a:xfrm>
          <a:prstGeom prst="rect">
            <a:avLst/>
          </a:prstGeom>
          <a:noFill/>
          <a:ln/>
        </p:spPr>
        <p:txBody>
          <a:bodyPr wrap="square" rtlCol="0" anchor="ctr"/>
          <a:lstStyle/>
          <a:p>
            <a:pPr marL="0" indent="0">
              <a:buNone/>
            </a:pPr>
            <a:r>
              <a:rPr lang="en-US" sz="1000" i="1" dirty="0">
                <a:solidFill>
                  <a:srgbClr val="6B6B6B"/>
                </a:solidFill>
                <a:latin typeface="Calibri" pitchFamily="34" charset="0"/>
                <a:ea typeface="Calibri" pitchFamily="34" charset="-122"/>
                <a:cs typeface="Calibri" pitchFamily="34" charset="-120"/>
              </a:rPr>
              <a:t>Decision Dashboard for Urban Food Production — Weekly Progress</a:t>
            </a:r>
            <a:endParaRPr lang="en-US" sz="1000" dirty="0"/>
          </a:p>
        </p:txBody>
      </p:sp>
      <p:sp>
        <p:nvSpPr>
          <p:cNvPr id="8" name="Text 6"/>
          <p:cNvSpPr/>
          <p:nvPr/>
        </p:nvSpPr>
        <p:spPr>
          <a:xfrm>
            <a:off x="11521440" y="6537960"/>
            <a:ext cx="365760" cy="274320"/>
          </a:xfrm>
          <a:prstGeom prst="rect">
            <a:avLst/>
          </a:prstGeom>
          <a:noFill/>
          <a:ln/>
        </p:spPr>
        <p:txBody>
          <a:bodyPr wrap="square" rtlCol="0" anchor="ctr"/>
          <a:lstStyle/>
          <a:p>
            <a:pPr marL="0" indent="0" algn="r">
              <a:buNone/>
            </a:pPr>
            <a:r>
              <a:rPr lang="en-US" sz="1000" dirty="0">
                <a:solidFill>
                  <a:srgbClr val="6B6B6B"/>
                </a:solidFill>
                <a:latin typeface="Calibri" pitchFamily="34" charset="0"/>
                <a:ea typeface="Calibri" pitchFamily="34" charset="-122"/>
                <a:cs typeface="Calibri" pitchFamily="34" charset="-120"/>
              </a:rPr>
              <a:t>10</a:t>
            </a:r>
            <a:endParaRPr lang="en-US" sz="1000" dirty="0"/>
          </a:p>
        </p:txBody>
      </p:sp>
      <p:pic>
        <p:nvPicPr>
          <p:cNvPr id="11" name="Picture 10">
            <a:extLst>
              <a:ext uri="{FF2B5EF4-FFF2-40B4-BE49-F238E27FC236}">
                <a16:creationId xmlns:a16="http://schemas.microsoft.com/office/drawing/2014/main" id="{2DE2B50D-2095-FF4A-C25D-C97957502AAE}"/>
              </a:ext>
            </a:extLst>
          </p:cNvPr>
          <p:cNvPicPr>
            <a:picLocks noChangeAspect="1"/>
          </p:cNvPicPr>
          <p:nvPr/>
        </p:nvPicPr>
        <p:blipFill>
          <a:blip r:embed="rId3"/>
          <a:stretch>
            <a:fillRect/>
          </a:stretch>
        </p:blipFill>
        <p:spPr>
          <a:xfrm>
            <a:off x="564017" y="914400"/>
            <a:ext cx="4966819" cy="2630557"/>
          </a:xfrm>
          <a:prstGeom prst="rect">
            <a:avLst/>
          </a:prstGeom>
        </p:spPr>
      </p:pic>
      <p:pic>
        <p:nvPicPr>
          <p:cNvPr id="14" name="Picture 13">
            <a:extLst>
              <a:ext uri="{FF2B5EF4-FFF2-40B4-BE49-F238E27FC236}">
                <a16:creationId xmlns:a16="http://schemas.microsoft.com/office/drawing/2014/main" id="{2FA0A115-1788-94ED-BC25-B4C5BA6519DF}"/>
              </a:ext>
            </a:extLst>
          </p:cNvPr>
          <p:cNvPicPr>
            <a:picLocks noChangeAspect="1"/>
          </p:cNvPicPr>
          <p:nvPr/>
        </p:nvPicPr>
        <p:blipFill>
          <a:blip r:embed="rId4"/>
          <a:stretch>
            <a:fillRect/>
          </a:stretch>
        </p:blipFill>
        <p:spPr>
          <a:xfrm>
            <a:off x="5857461" y="914400"/>
            <a:ext cx="5354586" cy="5553116"/>
          </a:xfrm>
          <a:prstGeom prst="rect">
            <a:avLst/>
          </a:prstGeom>
        </p:spPr>
      </p:pic>
      <p:pic>
        <p:nvPicPr>
          <p:cNvPr id="16" name="Picture 15">
            <a:extLst>
              <a:ext uri="{FF2B5EF4-FFF2-40B4-BE49-F238E27FC236}">
                <a16:creationId xmlns:a16="http://schemas.microsoft.com/office/drawing/2014/main" id="{537CD9D5-05A7-C6BE-B198-DFB31BDBBDCF}"/>
              </a:ext>
            </a:extLst>
          </p:cNvPr>
          <p:cNvPicPr>
            <a:picLocks noChangeAspect="1"/>
          </p:cNvPicPr>
          <p:nvPr/>
        </p:nvPicPr>
        <p:blipFill>
          <a:blip r:embed="rId5"/>
          <a:stretch>
            <a:fillRect/>
          </a:stretch>
        </p:blipFill>
        <p:spPr>
          <a:xfrm>
            <a:off x="564018" y="3619925"/>
            <a:ext cx="4966818" cy="291803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B641C5A0-6F35-FC68-B338-428BAE4FBC8E}"/>
              </a:ext>
            </a:extLst>
          </p:cNvPr>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Appendix — Code and Outputs</a:t>
            </a:r>
            <a:endParaRPr lang="en-US" sz="2800" dirty="0"/>
          </a:p>
        </p:txBody>
      </p:sp>
      <p:pic>
        <p:nvPicPr>
          <p:cNvPr id="7" name="Picture 6">
            <a:extLst>
              <a:ext uri="{FF2B5EF4-FFF2-40B4-BE49-F238E27FC236}">
                <a16:creationId xmlns:a16="http://schemas.microsoft.com/office/drawing/2014/main" id="{34981CDF-D3E5-56CA-7013-8F4EF66FA7D2}"/>
              </a:ext>
            </a:extLst>
          </p:cNvPr>
          <p:cNvPicPr>
            <a:picLocks noChangeAspect="1"/>
          </p:cNvPicPr>
          <p:nvPr/>
        </p:nvPicPr>
        <p:blipFill>
          <a:blip r:embed="rId2"/>
          <a:stretch>
            <a:fillRect/>
          </a:stretch>
        </p:blipFill>
        <p:spPr>
          <a:xfrm>
            <a:off x="457200" y="914401"/>
            <a:ext cx="5356542" cy="5191162"/>
          </a:xfrm>
          <a:prstGeom prst="rect">
            <a:avLst/>
          </a:prstGeom>
        </p:spPr>
      </p:pic>
      <p:pic>
        <p:nvPicPr>
          <p:cNvPr id="9" name="Picture 8">
            <a:extLst>
              <a:ext uri="{FF2B5EF4-FFF2-40B4-BE49-F238E27FC236}">
                <a16:creationId xmlns:a16="http://schemas.microsoft.com/office/drawing/2014/main" id="{4E53DA92-FCCD-57D6-3FD8-F582C493F292}"/>
              </a:ext>
            </a:extLst>
          </p:cNvPr>
          <p:cNvPicPr>
            <a:picLocks noChangeAspect="1"/>
          </p:cNvPicPr>
          <p:nvPr/>
        </p:nvPicPr>
        <p:blipFill>
          <a:blip r:embed="rId3"/>
          <a:stretch>
            <a:fillRect/>
          </a:stretch>
        </p:blipFill>
        <p:spPr>
          <a:xfrm>
            <a:off x="5992812" y="914401"/>
            <a:ext cx="5532438" cy="3581399"/>
          </a:xfrm>
          <a:prstGeom prst="rect">
            <a:avLst/>
          </a:prstGeom>
        </p:spPr>
      </p:pic>
      <p:pic>
        <p:nvPicPr>
          <p:cNvPr id="11" name="Picture 10">
            <a:extLst>
              <a:ext uri="{FF2B5EF4-FFF2-40B4-BE49-F238E27FC236}">
                <a16:creationId xmlns:a16="http://schemas.microsoft.com/office/drawing/2014/main" id="{E1239030-FC52-77AF-3011-CE1C902A99B6}"/>
              </a:ext>
            </a:extLst>
          </p:cNvPr>
          <p:cNvPicPr>
            <a:picLocks noChangeAspect="1"/>
          </p:cNvPicPr>
          <p:nvPr/>
        </p:nvPicPr>
        <p:blipFill>
          <a:blip r:embed="rId4"/>
          <a:stretch>
            <a:fillRect/>
          </a:stretch>
        </p:blipFill>
        <p:spPr>
          <a:xfrm>
            <a:off x="5992812" y="4564056"/>
            <a:ext cx="5532438" cy="1541507"/>
          </a:xfrm>
          <a:prstGeom prst="rect">
            <a:avLst/>
          </a:prstGeom>
        </p:spPr>
      </p:pic>
    </p:spTree>
    <p:extLst>
      <p:ext uri="{BB962C8B-B14F-4D97-AF65-F5344CB8AC3E}">
        <p14:creationId xmlns:p14="http://schemas.microsoft.com/office/powerpoint/2010/main" val="1022530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8221F883-45F2-8722-8E1F-81BEE5ED28A2}"/>
              </a:ext>
            </a:extLst>
          </p:cNvPr>
          <p:cNvSpPr/>
          <p:nvPr/>
        </p:nvSpPr>
        <p:spPr>
          <a:xfrm>
            <a:off x="457200" y="274320"/>
            <a:ext cx="11247120" cy="640080"/>
          </a:xfrm>
          <a:prstGeom prst="rect">
            <a:avLst/>
          </a:prstGeom>
          <a:noFill/>
          <a:ln/>
        </p:spPr>
        <p:txBody>
          <a:bodyPr wrap="square" rtlCol="0" anchor="ctr"/>
          <a:lstStyle/>
          <a:p>
            <a:pPr marL="0" indent="0">
              <a:buNone/>
            </a:pPr>
            <a:r>
              <a:rPr lang="en-US" sz="2800" dirty="0">
                <a:solidFill>
                  <a:srgbClr val="2E2E2E"/>
                </a:solidFill>
                <a:latin typeface="Cambria" pitchFamily="34" charset="0"/>
                <a:ea typeface="Cambria" pitchFamily="34" charset="-122"/>
                <a:cs typeface="Cambria" pitchFamily="34" charset="-120"/>
              </a:rPr>
              <a:t>Appendix — Code and Outputs</a:t>
            </a:r>
            <a:endParaRPr lang="en-US" sz="2800" dirty="0"/>
          </a:p>
        </p:txBody>
      </p:sp>
      <p:pic>
        <p:nvPicPr>
          <p:cNvPr id="5" name="Picture 4">
            <a:extLst>
              <a:ext uri="{FF2B5EF4-FFF2-40B4-BE49-F238E27FC236}">
                <a16:creationId xmlns:a16="http://schemas.microsoft.com/office/drawing/2014/main" id="{E6B30509-70CD-E948-7E0A-1EF4636976B0}"/>
              </a:ext>
            </a:extLst>
          </p:cNvPr>
          <p:cNvPicPr>
            <a:picLocks noChangeAspect="1"/>
          </p:cNvPicPr>
          <p:nvPr/>
        </p:nvPicPr>
        <p:blipFill>
          <a:blip r:embed="rId2"/>
          <a:stretch>
            <a:fillRect/>
          </a:stretch>
        </p:blipFill>
        <p:spPr>
          <a:xfrm>
            <a:off x="457200" y="914400"/>
            <a:ext cx="5334000" cy="5669280"/>
          </a:xfrm>
          <a:prstGeom prst="rect">
            <a:avLst/>
          </a:prstGeom>
        </p:spPr>
      </p:pic>
      <p:pic>
        <p:nvPicPr>
          <p:cNvPr id="7" name="Picture 6">
            <a:extLst>
              <a:ext uri="{FF2B5EF4-FFF2-40B4-BE49-F238E27FC236}">
                <a16:creationId xmlns:a16="http://schemas.microsoft.com/office/drawing/2014/main" id="{7DE9280A-7272-0481-3E7E-4047686719BB}"/>
              </a:ext>
            </a:extLst>
          </p:cNvPr>
          <p:cNvPicPr>
            <a:picLocks noChangeAspect="1"/>
          </p:cNvPicPr>
          <p:nvPr/>
        </p:nvPicPr>
        <p:blipFill>
          <a:blip r:embed="rId3"/>
          <a:stretch>
            <a:fillRect/>
          </a:stretch>
        </p:blipFill>
        <p:spPr>
          <a:xfrm>
            <a:off x="6094412" y="914400"/>
            <a:ext cx="4741877" cy="2400300"/>
          </a:xfrm>
          <a:prstGeom prst="rect">
            <a:avLst/>
          </a:prstGeom>
        </p:spPr>
      </p:pic>
      <p:pic>
        <p:nvPicPr>
          <p:cNvPr id="9" name="Picture 8">
            <a:extLst>
              <a:ext uri="{FF2B5EF4-FFF2-40B4-BE49-F238E27FC236}">
                <a16:creationId xmlns:a16="http://schemas.microsoft.com/office/drawing/2014/main" id="{EB532058-1BB3-4FF1-0FD5-FB2DB5FD829E}"/>
              </a:ext>
            </a:extLst>
          </p:cNvPr>
          <p:cNvPicPr>
            <a:picLocks noChangeAspect="1"/>
          </p:cNvPicPr>
          <p:nvPr/>
        </p:nvPicPr>
        <p:blipFill>
          <a:blip r:embed="rId4"/>
          <a:stretch>
            <a:fillRect/>
          </a:stretch>
        </p:blipFill>
        <p:spPr>
          <a:xfrm>
            <a:off x="6094412" y="3429000"/>
            <a:ext cx="4697427" cy="3154680"/>
          </a:xfrm>
          <a:prstGeom prst="rect">
            <a:avLst/>
          </a:prstGeom>
        </p:spPr>
      </p:pic>
    </p:spTree>
    <p:extLst>
      <p:ext uri="{BB962C8B-B14F-4D97-AF65-F5344CB8AC3E}">
        <p14:creationId xmlns:p14="http://schemas.microsoft.com/office/powerpoint/2010/main" val="95744701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148</TotalTime>
  <Words>2457</Words>
  <Application>Microsoft Office PowerPoint</Application>
  <PresentationFormat>Custom</PresentationFormat>
  <Paragraphs>208</Paragraphs>
  <Slides>12</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Savaram Chiranjeevi Venkata Shiva Ruthvik</cp:lastModifiedBy>
  <cp:revision>7</cp:revision>
  <dcterms:created xsi:type="dcterms:W3CDTF">2026-10-12T01:35:26Z</dcterms:created>
  <dcterms:modified xsi:type="dcterms:W3CDTF">2026-10-14T04:36:13Z</dcterms:modified>
</cp:coreProperties>
</file>