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5" d="100"/>
          <a:sy n="75" d="100"/>
        </p:scale>
        <p:origin x="303" y="2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6143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This is my Week 6 update. There were two workstreams. First, I prepared and validated the USDA food-access data, including a census-tract geography compatibility problem I had to work through. Second, I acquired the Kansas City, Missouri parcel data and did a preliminary vacant-land screening. Both feed the same goal: reliable health, socioeconomic, food-access, and parcel data for a suitability analysis later. Everything is preliminary.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week I had the health, socioeconomic, and food-access data and a preliminary map, and the parcel category hadn't started. This week had two parts. On USDA: I inventoried the fields, checked that the tract geography is compatible with my 516 tracts, validated the data, and compared candidate indicators. On parcels: I acquired the KCMO parcel data, screened candidates, and merged counts into the tract file. The crosswalk analysis for the tract-vintage issue is still in progress, and Kansas parcel data hasn't started.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overall goal is to understand where urban food production opportunities may exist by combining food-access need, health and socioeconomic indicators, and land availability. I'm still in the data preparation and validation stage, now including parcel screening. After that come AHP and MCDA scoring, then the dashboard. My dataset has 516 tracts with health, ACS, and USDA food-access variables. This week I validated the USDA data and added parcels as a new source.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pieces of USDA work, on two different workbooks. First, the field inventory, from the 2019 Food Access Research Atlas workbook: 147 fields inventoried, definitions found for 146, and seven candidate indicators marked for evaluation: LA1and10, LAhalfand10, LILATracts_1And10, lapop1share, LAPOP1_10, LALOWI1_10, and lalowi1share. These are candidates for evaluation, not seven final choices. I inspect definitions because similarly named indicators can describe different populations, distance thresholds, or types of access. Second, the input validation, which I ran on the 2025 workbook, 2025-sram-fara-data.xlsx, using the 2020 tract IDs: 84,119 records in the driving-distance sheet and 84,119 in the population sheet (the full workbook, not records for my 516 tracts), no duplicate tract IDs in either, no missing values in the low-access count or POP2020 fields, no low-access count exceeding its population, and all 532 older tracts in the crosswalk passed the overlap-share check. These checks cover only what the script tests. They don't validate every field, and they aren't about the 2019 workbook.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the main problem. Census tract IDs and boundaries change between vintages, so a direct ID match doesn't guarantee geographic equivalence. My working geography has 516 tracts and matched all 516 of the 2019 boundary IDs. A direct comparison with 2020 boundary IDs matched only 430, leaving 86 unmatched. I also checked the crosswalk: 958 relationship rows covering 532 distinct older tracts, and all 532 passed the overlap-share check. The crosswalk is a relationship table — one older tract can relate to several newer tracts — so the number of older tracts need not equal my 516. Matching my 516 tracts to the 2019 boundary IDs validates my project geography; aligning the USDA indicators across tract vintages is a separate step that still requires crosswalk evaluation. I'm not claiming a one-to-one mapping, and population allocation still needs a suitable method; I won't use land-area shares alone because land area isn't where people live.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 compared candidate food-access indicators on completeness across my 516 tracts. LA1and10 is available for all 516. lapop1share has 415 available and 101 missing. LAPOP1_10 has 354 available and 162 missing. LA1and10 has a mean of 0.432. That's a binary flag, so it means 43.2 percent of the tracts have the flag — about 223 tracts — not that 43.2 percent of the population has low food access. Missing values mean unknown or unavailable, so I don't convert them to zero. LA1and10 is my initial candidate because it's complete, but I'm not claiming it's the best measure; I'm still comparing definitions and completeness.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downloaded the KCMO Cadastre geodatabase, about 200 MB, and inspected the Parcels layer. It has 269,834 records and 42 columns, as MultiPolygon geometries. Quality checks: about a quarter of the records, 69,150, have no land-use code. 3,873 have no parcel ID, and 3,909 rows are flagged as duplicate IDs. 78 geometries are invalid and one is missing. These matter because missing codes can hide vacant parcels, duplicate IDs can double-count, and invalid geometries can break spatial operations. I haven't deleted anything automatically — I flag and investigate first. One detail: the duplicate count likely includes blank IDs counted as repeats, so it isn't 3,909 genuinely repeated parcels; I want to separate those next.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city's GIS documentation I identified several land-use codes. For this first screen I picked 9500, Vacant Residential, and 9600, Vacant Non-Residential, as candidate vacant land. That gives 18,999 and 3,179 records, 22,178 in total; 22,177 have valid geometry. This is only an initial screening criterion. It does not prove a parcel is available or suitable for urban food production, and I did not use zero improvement value as the only vacancy test. On size: residential parcels have a mean of about 29,600 square feet and a median of about 6,000. Non-residential has a mean of about 107,400 and a median of about 12,300. In both groups the mean is far above the median, so a few very large parcels pull the mean up. I'm not saying larger parcels are more suitable.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pipeline. I started with 269,834 parcels, filtered to the two vacant codes for 22,178 records, and tested them against my study-area tract boundaries: 22,141 intersect and 37 are outside. I transformed both layers to a common projected coordinate system before that spatial test. Then I assigned each parcel to a tract using a representative point inside the parcel: 22,139 were assigned and 2 were not. Each parcel goes to one tract and isn't split — that's a methodological choice and a limitation. Finally I merged tract-level counts into my dataset: all 516 tracts are preserved, 171 have at least one candidate parcel, and 345 have zero recorded candidates. Zero means none under these two codes in this source, not that there's no vacant land.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for both workstreams. USDA: the 2019 Atlas is based on older source geography and reference data, including a 2019 supermarket list and 2010 Census information. The crosswalk has 958 relationship rows covering 532 older tracts, all passing the overlap-share check, but population allocation still needs a suitable method and I'm not claiming one-to-one mapping. The alternative indicators have missing tracts, and missing isn't zero. LA1and10 is a binary flag, not a population share. Parcels: the source is Kansas City, Missouri only. Zero recorded candidates doesn't mean no vacant land. The land-use codes are only an initial screen. Parcels are assigned to one tract by a representative point; two weren't assigned and six rows have repeated IDs. And parcel size is skewed.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week: continue the crosswalk investigation and document verified versus unverified matches, confirm the seven USDA candidates and compare them before choosing an indicator, investigate the repeated parcel IDs and unassigned records, and get Kansas parcel data from ORKA. I'll also continue the Week 5 carry-over items: transit validation, the variable shortlist, and the data inventory. Scoring and the dashboard come after the data is validated.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194560"/>
            <a:ext cx="10725912" cy="822960"/>
          </a:xfrm>
          <a:prstGeom prst="rect">
            <a:avLst/>
          </a:prstGeom>
          <a:noFill/>
          <a:ln/>
        </p:spPr>
        <p:txBody>
          <a:bodyPr wrap="square" rtlCol="0" anchor="ctr"/>
          <a:lstStyle/>
          <a:p>
            <a:pPr marL="0" indent="0" algn="ctr">
              <a:buNone/>
            </a:pPr>
            <a:r>
              <a:rPr lang="en-US" sz="3400" b="1" dirty="0">
                <a:solidFill>
                  <a:srgbClr val="2E2E2E"/>
                </a:solidFill>
                <a:latin typeface="Cambria" pitchFamily="34" charset="0"/>
                <a:ea typeface="Cambria" pitchFamily="34" charset="-122"/>
                <a:cs typeface="Cambria" pitchFamily="34" charset="-120"/>
              </a:rPr>
              <a:t>Decision Dashboard for Urban Food Production</a:t>
            </a:r>
            <a:endParaRPr lang="en-US" sz="3400" dirty="0"/>
          </a:p>
        </p:txBody>
      </p:sp>
      <p:sp>
        <p:nvSpPr>
          <p:cNvPr id="3" name="Text 1"/>
          <p:cNvSpPr/>
          <p:nvPr/>
        </p:nvSpPr>
        <p:spPr>
          <a:xfrm>
            <a:off x="731520" y="2926080"/>
            <a:ext cx="10725912" cy="640080"/>
          </a:xfrm>
          <a:prstGeom prst="rect">
            <a:avLst/>
          </a:prstGeom>
          <a:noFill/>
          <a:ln/>
        </p:spPr>
        <p:txBody>
          <a:bodyPr wrap="square" rtlCol="0" anchor="ctr"/>
          <a:lstStyle/>
          <a:p>
            <a:pPr marL="0" indent="0" algn="ctr">
              <a:buNone/>
            </a:pPr>
            <a:r>
              <a:rPr lang="en-US" sz="2800" b="1" dirty="0">
                <a:solidFill>
                  <a:srgbClr val="2E2E2E"/>
                </a:solidFill>
                <a:latin typeface="Cambria" pitchFamily="34" charset="0"/>
                <a:ea typeface="Cambria" pitchFamily="34" charset="-122"/>
                <a:cs typeface="Cambria" pitchFamily="34" charset="-120"/>
              </a:rPr>
              <a:t>Weekly Progress Update — Week 6</a:t>
            </a:r>
            <a:endParaRPr lang="en-US" sz="2800" dirty="0"/>
          </a:p>
        </p:txBody>
      </p:sp>
      <p:sp>
        <p:nvSpPr>
          <p:cNvPr id="4" name="Text 2"/>
          <p:cNvSpPr/>
          <p:nvPr/>
        </p:nvSpPr>
        <p:spPr>
          <a:xfrm>
            <a:off x="731520" y="3657600"/>
            <a:ext cx="10725912" cy="411480"/>
          </a:xfrm>
          <a:prstGeom prst="rect">
            <a:avLst/>
          </a:prstGeom>
          <a:noFill/>
          <a:ln/>
        </p:spPr>
        <p:txBody>
          <a:bodyPr wrap="square" rtlCol="0" anchor="ctr"/>
          <a:lstStyle/>
          <a:p>
            <a:pPr marL="0" indent="0" algn="ctr">
              <a:buNone/>
            </a:pPr>
            <a:r>
              <a:rPr lang="en-US" sz="1800" dirty="0">
                <a:solidFill>
                  <a:srgbClr val="2C5F2D"/>
                </a:solidFill>
                <a:latin typeface="Calibri" pitchFamily="34" charset="0"/>
                <a:ea typeface="Calibri" pitchFamily="34" charset="-122"/>
                <a:cs typeface="Calibri" pitchFamily="34" charset="-120"/>
              </a:rPr>
              <a:t>Focus: USDA Food-Access Data Validation and Parcel Screening</a:t>
            </a:r>
            <a:endParaRPr lang="en-US" sz="1800" dirty="0"/>
          </a:p>
        </p:txBody>
      </p:sp>
      <p:sp>
        <p:nvSpPr>
          <p:cNvPr id="5" name="Text 3"/>
          <p:cNvSpPr/>
          <p:nvPr/>
        </p:nvSpPr>
        <p:spPr>
          <a:xfrm>
            <a:off x="731520" y="4297680"/>
            <a:ext cx="10725912" cy="365760"/>
          </a:xfrm>
          <a:prstGeom prst="rect">
            <a:avLst/>
          </a:prstGeom>
          <a:noFill/>
          <a:ln/>
        </p:spPr>
        <p:txBody>
          <a:bodyPr wrap="square" rtlCol="0" anchor="ctr"/>
          <a:lstStyle/>
          <a:p>
            <a:pPr marL="0" indent="0" algn="ctr">
              <a:buNone/>
            </a:pPr>
            <a:r>
              <a:rPr lang="en-US" sz="1600" dirty="0">
                <a:solidFill>
                  <a:srgbClr val="2E2E2E"/>
                </a:solidFill>
                <a:latin typeface="Calibri" pitchFamily="34" charset="0"/>
                <a:ea typeface="Calibri" pitchFamily="34" charset="-122"/>
                <a:cs typeface="Calibri" pitchFamily="34" charset="-120"/>
              </a:rPr>
              <a:t>Chiranjeevi Venkata Shiva Ruthvik Savaram, Y247K345, 10/21/2026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5486400" cy="640080"/>
          </a:xfrm>
          <a:prstGeom prst="rect">
            <a:avLst/>
          </a:prstGeom>
          <a:noFill/>
          <a:ln/>
        </p:spPr>
        <p:txBody>
          <a:bodyPr wrap="square" rtlCol="0" anchor="ctr"/>
          <a:lstStyle/>
          <a:p>
            <a:pPr marL="0" indent="0">
              <a:buNone/>
            </a:pPr>
            <a:r>
              <a:rPr lang="en-US" sz="3000" dirty="0">
                <a:solidFill>
                  <a:srgbClr val="2E2E2E"/>
                </a:solidFill>
                <a:latin typeface="Cambria" pitchFamily="34" charset="0"/>
                <a:ea typeface="Cambria" pitchFamily="34" charset="-122"/>
                <a:cs typeface="Cambria" pitchFamily="34" charset="-120"/>
              </a:rPr>
              <a:t>Tasks</a:t>
            </a:r>
            <a:endParaRPr lang="en-US" sz="3000" dirty="0"/>
          </a:p>
        </p:txBody>
      </p:sp>
      <p:sp>
        <p:nvSpPr>
          <p:cNvPr id="3" name="Text 1"/>
          <p:cNvSpPr/>
          <p:nvPr/>
        </p:nvSpPr>
        <p:spPr>
          <a:xfrm>
            <a:off x="457200" y="1097280"/>
            <a:ext cx="4754880" cy="365760"/>
          </a:xfrm>
          <a:prstGeom prst="rect">
            <a:avLst/>
          </a:prstGeom>
          <a:noFill/>
          <a:ln/>
        </p:spPr>
        <p:txBody>
          <a:bodyPr wrap="square" rtlCol="0" anchor="ctr"/>
          <a:lstStyle/>
          <a:p>
            <a:pPr marL="0" indent="0">
              <a:buNone/>
            </a:pPr>
            <a:r>
              <a:rPr lang="en-US" sz="1800" dirty="0">
                <a:solidFill>
                  <a:srgbClr val="2E2E2E"/>
                </a:solidFill>
                <a:latin typeface="Calibri" pitchFamily="34" charset="0"/>
                <a:ea typeface="Calibri" pitchFamily="34" charset="-122"/>
                <a:cs typeface="Calibri" pitchFamily="34" charset="-120"/>
              </a:rPr>
              <a:t>Previous Week</a:t>
            </a:r>
            <a:endParaRPr lang="en-US" sz="1800" dirty="0"/>
          </a:p>
        </p:txBody>
      </p:sp>
      <p:sp>
        <p:nvSpPr>
          <p:cNvPr id="4" name="Text 2"/>
          <p:cNvSpPr/>
          <p:nvPr/>
        </p:nvSpPr>
        <p:spPr>
          <a:xfrm>
            <a:off x="502920" y="1554480"/>
            <a:ext cx="4754880" cy="4480560"/>
          </a:xfrm>
          <a:prstGeom prst="rect">
            <a:avLst/>
          </a:prstGeom>
          <a:noFill/>
          <a:ln/>
        </p:spPr>
        <p:txBody>
          <a:bodyPr wrap="square" rtlCol="0" anchor="t"/>
          <a:lstStyle/>
          <a:p>
            <a:pPr marL="342900" indent="-342900">
              <a:spcAft>
                <a:spcPts val="1000"/>
              </a:spcAft>
              <a:buSzPct val="100000"/>
              <a:buChar char="•"/>
            </a:pPr>
            <a:r>
              <a:rPr lang="en-US" sz="1300" dirty="0">
                <a:solidFill>
                  <a:srgbClr val="2E2E2E"/>
                </a:solidFill>
                <a:latin typeface="Calibri" pitchFamily="34" charset="0"/>
                <a:ea typeface="Calibri" pitchFamily="34" charset="-122"/>
                <a:cs typeface="Calibri" pitchFamily="34" charset="-120"/>
              </a:rPr>
              <a:t>Built the 516-tract dataset: CDC PLACES health, ACS 2019 socioeconomic — Completed</a:t>
            </a:r>
            <a:endParaRPr lang="en-US" sz="1300" dirty="0"/>
          </a:p>
          <a:p>
            <a:pPr marL="342900" indent="-342900">
              <a:spcAft>
                <a:spcPts val="1000"/>
              </a:spcAft>
              <a:buSzPct val="100000"/>
              <a:buChar char="•"/>
            </a:pPr>
            <a:r>
              <a:rPr lang="en-US" sz="1300" dirty="0">
                <a:solidFill>
                  <a:srgbClr val="2E2E2E"/>
                </a:solidFill>
                <a:latin typeface="Calibri" pitchFamily="34" charset="0"/>
                <a:ea typeface="Calibri" pitchFamily="34" charset="-122"/>
                <a:cs typeface="Calibri" pitchFamily="34" charset="-120"/>
              </a:rPr>
              <a:t>Preliminary map of the 516 project tracts — Completed (preliminary)</a:t>
            </a:r>
            <a:endParaRPr lang="en-US" sz="1300" dirty="0"/>
          </a:p>
          <a:p>
            <a:pPr marL="342900" indent="-342900">
              <a:spcAft>
                <a:spcPts val="1000"/>
              </a:spcAft>
              <a:buSzPct val="100000"/>
              <a:buChar char="•"/>
            </a:pPr>
            <a:r>
              <a:rPr lang="en-US" sz="1300" dirty="0">
                <a:solidFill>
                  <a:srgbClr val="2E2E2E"/>
                </a:solidFill>
                <a:latin typeface="Calibri" pitchFamily="34" charset="0"/>
                <a:ea typeface="Calibri" pitchFamily="34" charset="-122"/>
                <a:cs typeface="Calibri" pitchFamily="34" charset="-120"/>
              </a:rPr>
              <a:t>Health and socioeconomic correlation screening — Completed (preliminary)</a:t>
            </a:r>
            <a:endParaRPr lang="en-US" sz="1300" dirty="0"/>
          </a:p>
          <a:p>
            <a:pPr marL="342900" indent="-342900">
              <a:spcAft>
                <a:spcPts val="1000"/>
              </a:spcAft>
              <a:buSzPct val="100000"/>
              <a:buChar char="•"/>
            </a:pPr>
            <a:r>
              <a:rPr lang="en-US" sz="1300" dirty="0">
                <a:solidFill>
                  <a:srgbClr val="2E2E2E"/>
                </a:solidFill>
                <a:latin typeface="Calibri" pitchFamily="34" charset="0"/>
                <a:ea typeface="Calibri" pitchFamily="34" charset="-122"/>
                <a:cs typeface="Calibri" pitchFamily="34" charset="-120"/>
              </a:rPr>
              <a:t>USDA food-access extraction and tract-vintage investigation — Completed (preliminary)</a:t>
            </a:r>
            <a:endParaRPr lang="en-US" sz="1300" dirty="0"/>
          </a:p>
          <a:p>
            <a:pPr marL="342900" indent="-342900">
              <a:spcAft>
                <a:spcPts val="1000"/>
              </a:spcAft>
              <a:buSzPct val="100000"/>
              <a:buChar char="•"/>
            </a:pPr>
            <a:r>
              <a:rPr lang="en-US" sz="1300" dirty="0">
                <a:solidFill>
                  <a:srgbClr val="2E2E2E"/>
                </a:solidFill>
                <a:latin typeface="Calibri" pitchFamily="34" charset="0"/>
                <a:ea typeface="Calibri" pitchFamily="34" charset="-122"/>
                <a:cs typeface="Calibri" pitchFamily="34" charset="-120"/>
              </a:rPr>
              <a:t>Vacant-land / parcel data collection — Not Started (now begun)</a:t>
            </a:r>
            <a:endParaRPr lang="en-US" sz="1300" dirty="0"/>
          </a:p>
        </p:txBody>
      </p:sp>
      <p:sp>
        <p:nvSpPr>
          <p:cNvPr id="5" name="Text 3"/>
          <p:cNvSpPr/>
          <p:nvPr/>
        </p:nvSpPr>
        <p:spPr>
          <a:xfrm>
            <a:off x="5577840" y="1097280"/>
            <a:ext cx="6035040" cy="365760"/>
          </a:xfrm>
          <a:prstGeom prst="rect">
            <a:avLst/>
          </a:prstGeom>
          <a:noFill/>
          <a:ln/>
        </p:spPr>
        <p:txBody>
          <a:bodyPr wrap="square" rtlCol="0" anchor="ctr"/>
          <a:lstStyle/>
          <a:p>
            <a:pPr marL="0" indent="0">
              <a:buNone/>
            </a:pPr>
            <a:r>
              <a:rPr lang="en-US" sz="1800" dirty="0">
                <a:solidFill>
                  <a:srgbClr val="2E2E2E"/>
                </a:solidFill>
                <a:latin typeface="Calibri" pitchFamily="34" charset="0"/>
                <a:ea typeface="Calibri" pitchFamily="34" charset="-122"/>
                <a:cs typeface="Calibri" pitchFamily="34" charset="-120"/>
              </a:rPr>
              <a:t>This Week</a:t>
            </a:r>
            <a:endParaRPr lang="en-US" sz="1800" dirty="0"/>
          </a:p>
        </p:txBody>
      </p:sp>
      <p:sp>
        <p:nvSpPr>
          <p:cNvPr id="6" name="Text 4"/>
          <p:cNvSpPr/>
          <p:nvPr/>
        </p:nvSpPr>
        <p:spPr>
          <a:xfrm>
            <a:off x="5623560" y="1508760"/>
            <a:ext cx="6035040" cy="4754880"/>
          </a:xfrm>
          <a:prstGeom prst="rect">
            <a:avLst/>
          </a:prstGeom>
          <a:noFill/>
          <a:ln/>
        </p:spPr>
        <p:txBody>
          <a:bodyPr wrap="square" rtlCol="0" anchor="t"/>
          <a:lstStyle/>
          <a:p>
            <a:pPr marL="0" indent="0">
              <a:spcAft>
                <a:spcPts val="400"/>
              </a:spcAft>
              <a:buNone/>
            </a:pPr>
            <a:r>
              <a:rPr lang="en-US" sz="1200" b="1" dirty="0">
                <a:solidFill>
                  <a:srgbClr val="2C5F2D"/>
                </a:solidFill>
                <a:latin typeface="Calibri" pitchFamily="34" charset="0"/>
                <a:ea typeface="Calibri" pitchFamily="34" charset="-122"/>
                <a:cs typeface="Calibri" pitchFamily="34" charset="-120"/>
              </a:rPr>
              <a:t>USDA food access</a:t>
            </a:r>
            <a:endParaRPr lang="en-US" sz="1200" dirty="0"/>
          </a:p>
          <a:p>
            <a:pPr marL="342900" indent="-342900">
              <a:spcAft>
                <a:spcPts val="500"/>
              </a:spcAft>
              <a:buSzPct val="100000"/>
              <a:buChar char="•"/>
            </a:pPr>
            <a:r>
              <a:rPr lang="en-US" sz="1200" dirty="0">
                <a:solidFill>
                  <a:srgbClr val="2E2E2E"/>
                </a:solidFill>
                <a:latin typeface="Calibri" pitchFamily="34" charset="0"/>
                <a:ea typeface="Calibri" pitchFamily="34" charset="-122"/>
                <a:cs typeface="Calibri" pitchFamily="34" charset="-120"/>
              </a:rPr>
              <a:t>Inventoried the USDA Atlas 2019 fields (147 fields, 146 definitions found); identified 7 candidate indicators — Completed</a:t>
            </a:r>
            <a:endParaRPr lang="en-US" sz="1200" dirty="0"/>
          </a:p>
          <a:p>
            <a:pPr marL="342900" indent="-342900">
              <a:spcAft>
                <a:spcPts val="500"/>
              </a:spcAft>
              <a:buSzPct val="100000"/>
              <a:buChar char="•"/>
            </a:pPr>
            <a:r>
              <a:rPr lang="en-US" sz="1200" dirty="0">
                <a:solidFill>
                  <a:srgbClr val="2E2E2E"/>
                </a:solidFill>
                <a:latin typeface="Calibri" pitchFamily="34" charset="0"/>
                <a:ea typeface="Calibri" pitchFamily="34" charset="-122"/>
                <a:cs typeface="Calibri" pitchFamily="34" charset="-120"/>
              </a:rPr>
              <a:t>Checked tract geography compatibility: 2019 geography matched 516 of 516; 2020 IDs matched 430 — Completed; crosswalk analysis still in progress</a:t>
            </a:r>
            <a:endParaRPr lang="en-US" sz="1200" dirty="0"/>
          </a:p>
          <a:p>
            <a:pPr marL="342900" indent="-342900">
              <a:spcAft>
                <a:spcPts val="500"/>
              </a:spcAft>
              <a:buSzPct val="100000"/>
              <a:buChar char="•"/>
            </a:pPr>
            <a:r>
              <a:rPr lang="en-US" sz="1200" dirty="0">
                <a:solidFill>
                  <a:srgbClr val="2E2E2E"/>
                </a:solidFill>
                <a:latin typeface="Calibri" pitchFamily="34" charset="0"/>
                <a:ea typeface="Calibri" pitchFamily="34" charset="-122"/>
                <a:cs typeface="Calibri" pitchFamily="34" charset="-120"/>
              </a:rPr>
              <a:t>Ran input-validation checks on the USDA 2025 workbook (84,119 records) — Completed for the checks performed</a:t>
            </a:r>
            <a:endParaRPr lang="en-US" sz="1200" dirty="0"/>
          </a:p>
          <a:p>
            <a:pPr marL="342900" indent="-342900">
              <a:spcAft>
                <a:spcPts val="500"/>
              </a:spcAft>
              <a:buSzPct val="100000"/>
              <a:buChar char="•"/>
            </a:pPr>
            <a:r>
              <a:rPr lang="en-US" sz="1200" dirty="0">
                <a:solidFill>
                  <a:srgbClr val="2E2E2E"/>
                </a:solidFill>
                <a:latin typeface="Calibri" pitchFamily="34" charset="0"/>
                <a:ea typeface="Calibri" pitchFamily="34" charset="-122"/>
                <a:cs typeface="Calibri" pitchFamily="34" charset="-120"/>
              </a:rPr>
              <a:t>Compared food-access indicators and their missingness — Completed (preliminary)</a:t>
            </a:r>
            <a:endParaRPr lang="en-US" sz="1200" dirty="0"/>
          </a:p>
          <a:p>
            <a:pPr marL="0" indent="0">
              <a:spcAft>
                <a:spcPts val="400"/>
              </a:spcAft>
              <a:buNone/>
            </a:pPr>
            <a:r>
              <a:rPr lang="en-US" sz="1200" b="1" dirty="0">
                <a:solidFill>
                  <a:srgbClr val="2C5F2D"/>
                </a:solidFill>
                <a:latin typeface="Calibri" pitchFamily="34" charset="0"/>
                <a:ea typeface="Calibri" pitchFamily="34" charset="-122"/>
                <a:cs typeface="Calibri" pitchFamily="34" charset="-120"/>
              </a:rPr>
              <a:t>KCMO parcel data</a:t>
            </a:r>
            <a:endParaRPr lang="en-US" sz="1200" dirty="0"/>
          </a:p>
          <a:p>
            <a:pPr marL="342900" indent="-342900">
              <a:spcAft>
                <a:spcPts val="500"/>
              </a:spcAft>
              <a:buSzPct val="100000"/>
              <a:buChar char="•"/>
            </a:pPr>
            <a:r>
              <a:rPr lang="en-US" sz="1200" dirty="0">
                <a:solidFill>
                  <a:srgbClr val="2E2E2E"/>
                </a:solidFill>
                <a:latin typeface="Calibri" pitchFamily="34" charset="0"/>
                <a:ea typeface="Calibri" pitchFamily="34" charset="-122"/>
                <a:cs typeface="Calibri" pitchFamily="34" charset="-120"/>
              </a:rPr>
              <a:t>Acquired and quality-checked the KCMO parcel layer (269,834 records) — Completed</a:t>
            </a:r>
            <a:endParaRPr lang="en-US" sz="1200" dirty="0"/>
          </a:p>
          <a:p>
            <a:pPr marL="342900" indent="-342900">
              <a:spcAft>
                <a:spcPts val="500"/>
              </a:spcAft>
              <a:buSzPct val="100000"/>
              <a:buChar char="•"/>
            </a:pPr>
            <a:r>
              <a:rPr lang="en-US" sz="1200" dirty="0">
                <a:solidFill>
                  <a:srgbClr val="2E2E2E"/>
                </a:solidFill>
                <a:latin typeface="Calibri" pitchFamily="34" charset="0"/>
                <a:ea typeface="Calibri" pitchFamily="34" charset="-122"/>
                <a:cs typeface="Calibri" pitchFamily="34" charset="-120"/>
              </a:rPr>
              <a:t>Screened vacant-land candidates, tested them against the study area, assigned them to tracts, and merged counts — Completed (preliminary)</a:t>
            </a:r>
            <a:endParaRPr lang="en-US" sz="1200" dirty="0"/>
          </a:p>
          <a:p>
            <a:pPr marL="342900" indent="-342900">
              <a:spcAft>
                <a:spcPts val="500"/>
              </a:spcAft>
              <a:buSzPct val="100000"/>
              <a:buChar char="•"/>
            </a:pPr>
            <a:r>
              <a:rPr lang="en-US" sz="1200" dirty="0">
                <a:solidFill>
                  <a:srgbClr val="2E2E2E"/>
                </a:solidFill>
                <a:latin typeface="Calibri" pitchFamily="34" charset="0"/>
                <a:ea typeface="Calibri" pitchFamily="34" charset="-122"/>
                <a:cs typeface="Calibri" pitchFamily="34" charset="-120"/>
              </a:rPr>
              <a:t>Kansas parcel data — Not Started</a:t>
            </a:r>
            <a:endParaRPr lang="en-US" sz="1200" dirty="0"/>
          </a:p>
        </p:txBody>
      </p:sp>
      <p:sp>
        <p:nvSpPr>
          <p:cNvPr id="7" name="Text 5"/>
          <p:cNvSpPr/>
          <p:nvPr/>
        </p:nvSpPr>
        <p:spPr>
          <a:xfrm>
            <a:off x="365760" y="6537960"/>
            <a:ext cx="7315200" cy="274320"/>
          </a:xfrm>
          <a:prstGeom prst="rect">
            <a:avLst/>
          </a:prstGeom>
          <a:noFill/>
          <a:ln/>
        </p:spPr>
        <p:txBody>
          <a:bodyPr wrap="square"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Decision Dashboard for Urban Food Production — Weekly Progress</a:t>
            </a:r>
            <a:endParaRPr lang="en-US" sz="1000" dirty="0"/>
          </a:p>
        </p:txBody>
      </p:sp>
      <p:sp>
        <p:nvSpPr>
          <p:cNvPr id="8" name="Text 6"/>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0"/>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2C5F2D"/>
          </a:solidFill>
          <a:ln/>
        </p:spPr>
        <p:txBody>
          <a:bodyPr/>
          <a:lstStyle/>
          <a:p>
            <a:endParaRPr lang="en-US"/>
          </a:p>
        </p:txBody>
      </p:sp>
      <p:sp>
        <p:nvSpPr>
          <p:cNvPr id="3" name="Text 1"/>
          <p:cNvSpPr/>
          <p:nvPr/>
        </p:nvSpPr>
        <p:spPr>
          <a:xfrm>
            <a:off x="457200" y="256032"/>
            <a:ext cx="1124712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Project Objective and Data Foundation</a:t>
            </a:r>
            <a:endParaRPr lang="en-US" sz="2800" dirty="0"/>
          </a:p>
        </p:txBody>
      </p:sp>
      <p:sp>
        <p:nvSpPr>
          <p:cNvPr id="4" name="Text 2"/>
          <p:cNvSpPr/>
          <p:nvPr/>
        </p:nvSpPr>
        <p:spPr>
          <a:xfrm>
            <a:off x="457200" y="1234440"/>
            <a:ext cx="11247120" cy="640080"/>
          </a:xfrm>
          <a:prstGeom prst="rect">
            <a:avLst/>
          </a:prstGeom>
          <a:noFill/>
          <a:ln/>
        </p:spPr>
        <p:txBody>
          <a:bodyPr wrap="square" rtlCol="0" anchor="t"/>
          <a:lstStyle/>
          <a:p>
            <a:pPr marL="0" indent="0">
              <a:buNone/>
            </a:pPr>
            <a:r>
              <a:rPr lang="en-US" sz="1400" b="1" dirty="0">
                <a:solidFill>
                  <a:srgbClr val="2C5F2D"/>
                </a:solidFill>
                <a:latin typeface="Calibri" pitchFamily="34" charset="0"/>
                <a:ea typeface="Calibri" pitchFamily="34" charset="-122"/>
                <a:cs typeface="Calibri" pitchFamily="34" charset="-120"/>
              </a:rPr>
              <a:t>Goal: understand where urban food production opportunities may exist by combining food-access needs, health and socioeconomic indicators, and potential land availability.</a:t>
            </a:r>
            <a:endParaRPr lang="en-US" sz="1400" dirty="0"/>
          </a:p>
        </p:txBody>
      </p:sp>
      <p:sp>
        <p:nvSpPr>
          <p:cNvPr id="5" name="Shape 3"/>
          <p:cNvSpPr/>
          <p:nvPr/>
        </p:nvSpPr>
        <p:spPr>
          <a:xfrm>
            <a:off x="457200" y="1965960"/>
            <a:ext cx="2560320" cy="640080"/>
          </a:xfrm>
          <a:prstGeom prst="rect">
            <a:avLst/>
          </a:prstGeom>
          <a:solidFill>
            <a:srgbClr val="C98A2B"/>
          </a:solidFill>
          <a:ln/>
        </p:spPr>
        <p:txBody>
          <a:bodyPr/>
          <a:lstStyle/>
          <a:p>
            <a:endParaRPr lang="en-US"/>
          </a:p>
        </p:txBody>
      </p:sp>
      <p:sp>
        <p:nvSpPr>
          <p:cNvPr id="6" name="Text 4"/>
          <p:cNvSpPr/>
          <p:nvPr/>
        </p:nvSpPr>
        <p:spPr>
          <a:xfrm>
            <a:off x="457200" y="1965960"/>
            <a:ext cx="2560320" cy="6400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Data preparation and validation</a:t>
            </a:r>
            <a:endParaRPr lang="en-US" sz="1300" dirty="0"/>
          </a:p>
        </p:txBody>
      </p:sp>
      <p:sp>
        <p:nvSpPr>
          <p:cNvPr id="7" name="Shape 5"/>
          <p:cNvSpPr/>
          <p:nvPr/>
        </p:nvSpPr>
        <p:spPr>
          <a:xfrm>
            <a:off x="3044952" y="2148840"/>
            <a:ext cx="219456" cy="274320"/>
          </a:xfrm>
          <a:prstGeom prst="rightArrow">
            <a:avLst/>
          </a:prstGeom>
          <a:solidFill>
            <a:srgbClr val="97BC62"/>
          </a:solidFill>
          <a:ln/>
        </p:spPr>
        <p:txBody>
          <a:bodyPr/>
          <a:lstStyle/>
          <a:p>
            <a:endParaRPr lang="en-US"/>
          </a:p>
        </p:txBody>
      </p:sp>
      <p:sp>
        <p:nvSpPr>
          <p:cNvPr id="8" name="Shape 6"/>
          <p:cNvSpPr/>
          <p:nvPr/>
        </p:nvSpPr>
        <p:spPr>
          <a:xfrm>
            <a:off x="3291840" y="1965960"/>
            <a:ext cx="2560320" cy="640080"/>
          </a:xfrm>
          <a:prstGeom prst="rect">
            <a:avLst/>
          </a:prstGeom>
          <a:solidFill>
            <a:srgbClr val="C98A2B"/>
          </a:solidFill>
          <a:ln/>
        </p:spPr>
        <p:txBody>
          <a:bodyPr/>
          <a:lstStyle/>
          <a:p>
            <a:endParaRPr lang="en-US"/>
          </a:p>
        </p:txBody>
      </p:sp>
      <p:sp>
        <p:nvSpPr>
          <p:cNvPr id="9" name="Text 7"/>
          <p:cNvSpPr/>
          <p:nvPr/>
        </p:nvSpPr>
        <p:spPr>
          <a:xfrm>
            <a:off x="3291840" y="1965960"/>
            <a:ext cx="2560320" cy="6400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Parcel screening and integration</a:t>
            </a:r>
            <a:endParaRPr lang="en-US" sz="1300" dirty="0"/>
          </a:p>
        </p:txBody>
      </p:sp>
      <p:sp>
        <p:nvSpPr>
          <p:cNvPr id="10" name="Shape 8"/>
          <p:cNvSpPr/>
          <p:nvPr/>
        </p:nvSpPr>
        <p:spPr>
          <a:xfrm>
            <a:off x="5879592" y="2148840"/>
            <a:ext cx="219456" cy="274320"/>
          </a:xfrm>
          <a:prstGeom prst="rightArrow">
            <a:avLst/>
          </a:prstGeom>
          <a:solidFill>
            <a:srgbClr val="97BC62"/>
          </a:solidFill>
          <a:ln/>
        </p:spPr>
        <p:txBody>
          <a:bodyPr/>
          <a:lstStyle/>
          <a:p>
            <a:endParaRPr lang="en-US"/>
          </a:p>
        </p:txBody>
      </p:sp>
      <p:sp>
        <p:nvSpPr>
          <p:cNvPr id="11" name="Shape 9"/>
          <p:cNvSpPr/>
          <p:nvPr/>
        </p:nvSpPr>
        <p:spPr>
          <a:xfrm>
            <a:off x="6126480" y="1965960"/>
            <a:ext cx="2560320" cy="640080"/>
          </a:xfrm>
          <a:prstGeom prst="rect">
            <a:avLst/>
          </a:prstGeom>
          <a:solidFill>
            <a:srgbClr val="6B6B6B"/>
          </a:solidFill>
          <a:ln/>
        </p:spPr>
        <p:txBody>
          <a:bodyPr/>
          <a:lstStyle/>
          <a:p>
            <a:endParaRPr lang="en-US"/>
          </a:p>
        </p:txBody>
      </p:sp>
      <p:sp>
        <p:nvSpPr>
          <p:cNvPr id="12" name="Text 10"/>
          <p:cNvSpPr/>
          <p:nvPr/>
        </p:nvSpPr>
        <p:spPr>
          <a:xfrm>
            <a:off x="6126480" y="1965960"/>
            <a:ext cx="2560320" cy="6400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AHP / MCDA scoring</a:t>
            </a:r>
            <a:endParaRPr lang="en-US" sz="1300" dirty="0"/>
          </a:p>
        </p:txBody>
      </p:sp>
      <p:sp>
        <p:nvSpPr>
          <p:cNvPr id="13" name="Shape 11"/>
          <p:cNvSpPr/>
          <p:nvPr/>
        </p:nvSpPr>
        <p:spPr>
          <a:xfrm>
            <a:off x="8714232" y="2148840"/>
            <a:ext cx="219456" cy="274320"/>
          </a:xfrm>
          <a:prstGeom prst="rightArrow">
            <a:avLst/>
          </a:prstGeom>
          <a:solidFill>
            <a:srgbClr val="97BC62"/>
          </a:solidFill>
          <a:ln/>
        </p:spPr>
        <p:txBody>
          <a:bodyPr/>
          <a:lstStyle/>
          <a:p>
            <a:endParaRPr lang="en-US"/>
          </a:p>
        </p:txBody>
      </p:sp>
      <p:sp>
        <p:nvSpPr>
          <p:cNvPr id="14" name="Shape 12"/>
          <p:cNvSpPr/>
          <p:nvPr/>
        </p:nvSpPr>
        <p:spPr>
          <a:xfrm>
            <a:off x="8961120" y="1965960"/>
            <a:ext cx="2560320" cy="640080"/>
          </a:xfrm>
          <a:prstGeom prst="rect">
            <a:avLst/>
          </a:prstGeom>
          <a:solidFill>
            <a:srgbClr val="6B6B6B"/>
          </a:solidFill>
          <a:ln/>
        </p:spPr>
        <p:txBody>
          <a:bodyPr/>
          <a:lstStyle/>
          <a:p>
            <a:endParaRPr lang="en-US"/>
          </a:p>
        </p:txBody>
      </p:sp>
      <p:sp>
        <p:nvSpPr>
          <p:cNvPr id="15" name="Text 13"/>
          <p:cNvSpPr/>
          <p:nvPr/>
        </p:nvSpPr>
        <p:spPr>
          <a:xfrm>
            <a:off x="8961120" y="1965960"/>
            <a:ext cx="2560320" cy="6400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Dashboard</a:t>
            </a:r>
            <a:endParaRPr lang="en-US" sz="1300" dirty="0"/>
          </a:p>
        </p:txBody>
      </p:sp>
      <p:sp>
        <p:nvSpPr>
          <p:cNvPr id="16" name="Text 14"/>
          <p:cNvSpPr/>
          <p:nvPr/>
        </p:nvSpPr>
        <p:spPr>
          <a:xfrm>
            <a:off x="457200" y="2633472"/>
            <a:ext cx="5394960" cy="274320"/>
          </a:xfrm>
          <a:prstGeom prst="rect">
            <a:avLst/>
          </a:prstGeom>
          <a:noFill/>
          <a:ln/>
        </p:spPr>
        <p:txBody>
          <a:bodyPr wrap="square" rtlCol="0" anchor="ctr"/>
          <a:lstStyle/>
          <a:p>
            <a:pPr marL="0" indent="0" algn="ctr">
              <a:buNone/>
            </a:pPr>
            <a:r>
              <a:rPr lang="en-US" sz="1100" b="1" i="1" dirty="0">
                <a:solidFill>
                  <a:srgbClr val="C98A2B"/>
                </a:solidFill>
                <a:latin typeface="Calibri" pitchFamily="34" charset="0"/>
                <a:ea typeface="Calibri" pitchFamily="34" charset="-122"/>
                <a:cs typeface="Calibri" pitchFamily="34" charset="-120"/>
              </a:rPr>
              <a:t>Current focus</a:t>
            </a:r>
            <a:endParaRPr lang="en-US" sz="1100" dirty="0"/>
          </a:p>
        </p:txBody>
      </p:sp>
      <p:sp>
        <p:nvSpPr>
          <p:cNvPr id="17" name="Text 15"/>
          <p:cNvSpPr/>
          <p:nvPr/>
        </p:nvSpPr>
        <p:spPr>
          <a:xfrm>
            <a:off x="457200" y="3063240"/>
            <a:ext cx="7315200" cy="365760"/>
          </a:xfrm>
          <a:prstGeom prst="rect">
            <a:avLst/>
          </a:prstGeom>
          <a:noFill/>
          <a:ln/>
        </p:spPr>
        <p:txBody>
          <a:bodyPr wrap="square" rtlCol="0" anchor="ctr"/>
          <a:lstStyle/>
          <a:p>
            <a:pPr marL="0" indent="0">
              <a:buNone/>
            </a:pPr>
            <a:r>
              <a:rPr lang="en-US" sz="1500" b="1" dirty="0">
                <a:solidFill>
                  <a:srgbClr val="2C5F2D"/>
                </a:solidFill>
                <a:latin typeface="Calibri" pitchFamily="34" charset="0"/>
                <a:ea typeface="Calibri" pitchFamily="34" charset="-122"/>
                <a:cs typeface="Calibri" pitchFamily="34" charset="-120"/>
              </a:rPr>
              <a:t>Existing dataset: 516 unique census tracts</a:t>
            </a:r>
            <a:endParaRPr lang="en-US" sz="1500" dirty="0"/>
          </a:p>
        </p:txBody>
      </p:sp>
      <p:sp>
        <p:nvSpPr>
          <p:cNvPr id="18" name="Shape 16"/>
          <p:cNvSpPr/>
          <p:nvPr/>
        </p:nvSpPr>
        <p:spPr>
          <a:xfrm>
            <a:off x="457200" y="3520440"/>
            <a:ext cx="3657600" cy="1280160"/>
          </a:xfrm>
          <a:prstGeom prst="rect">
            <a:avLst/>
          </a:prstGeom>
          <a:solidFill>
            <a:srgbClr val="FFFFFF"/>
          </a:solidFill>
          <a:ln w="19050">
            <a:solidFill>
              <a:srgbClr val="97BC62"/>
            </a:solidFill>
            <a:prstDash val="solid"/>
          </a:ln>
        </p:spPr>
        <p:txBody>
          <a:bodyPr/>
          <a:lstStyle/>
          <a:p>
            <a:endParaRPr lang="en-US"/>
          </a:p>
        </p:txBody>
      </p:sp>
      <p:sp>
        <p:nvSpPr>
          <p:cNvPr id="19" name="Text 17"/>
          <p:cNvSpPr/>
          <p:nvPr/>
        </p:nvSpPr>
        <p:spPr>
          <a:xfrm>
            <a:off x="594360" y="3566160"/>
            <a:ext cx="3383280" cy="365760"/>
          </a:xfrm>
          <a:prstGeom prst="rect">
            <a:avLst/>
          </a:prstGeom>
          <a:noFill/>
          <a:ln/>
        </p:spPr>
        <p:txBody>
          <a:bodyPr wrap="square" rtlCol="0" anchor="ctr"/>
          <a:lstStyle/>
          <a:p>
            <a:pPr marL="0" indent="0">
              <a:buNone/>
            </a:pPr>
            <a:r>
              <a:rPr lang="en-US" sz="1400" b="1" dirty="0">
                <a:solidFill>
                  <a:srgbClr val="2E2E2E"/>
                </a:solidFill>
                <a:latin typeface="Calibri" pitchFamily="34" charset="0"/>
                <a:ea typeface="Calibri" pitchFamily="34" charset="-122"/>
                <a:cs typeface="Calibri" pitchFamily="34" charset="-120"/>
              </a:rPr>
              <a:t>CDC PLACES (2023)</a:t>
            </a:r>
            <a:endParaRPr lang="en-US" sz="1400" dirty="0"/>
          </a:p>
        </p:txBody>
      </p:sp>
      <p:sp>
        <p:nvSpPr>
          <p:cNvPr id="20" name="Text 18"/>
          <p:cNvSpPr/>
          <p:nvPr/>
        </p:nvSpPr>
        <p:spPr>
          <a:xfrm>
            <a:off x="594360" y="3931920"/>
            <a:ext cx="3383280" cy="822960"/>
          </a:xfrm>
          <a:prstGeom prst="rect">
            <a:avLst/>
          </a:prstGeom>
          <a:noFill/>
          <a:ln/>
        </p:spPr>
        <p:txBody>
          <a:bodyPr wrap="square" rtlCol="0" anchor="t"/>
          <a:lstStyle/>
          <a:p>
            <a:pPr marL="0" indent="0">
              <a:buNone/>
            </a:pPr>
            <a:r>
              <a:rPr lang="en-US" sz="1250" dirty="0">
                <a:solidFill>
                  <a:srgbClr val="2E2E2E"/>
                </a:solidFill>
                <a:latin typeface="Calibri" pitchFamily="34" charset="0"/>
                <a:ea typeface="Calibri" pitchFamily="34" charset="-122"/>
                <a:cs typeface="Calibri" pitchFamily="34" charset="-120"/>
              </a:rPr>
              <a:t>Health indicators, e.g., obesity, diabetes, high blood pressure</a:t>
            </a:r>
            <a:endParaRPr lang="en-US" sz="1250" dirty="0"/>
          </a:p>
        </p:txBody>
      </p:sp>
      <p:sp>
        <p:nvSpPr>
          <p:cNvPr id="21" name="Shape 19"/>
          <p:cNvSpPr/>
          <p:nvPr/>
        </p:nvSpPr>
        <p:spPr>
          <a:xfrm>
            <a:off x="4251960" y="3520440"/>
            <a:ext cx="3657600" cy="1280160"/>
          </a:xfrm>
          <a:prstGeom prst="rect">
            <a:avLst/>
          </a:prstGeom>
          <a:solidFill>
            <a:srgbClr val="FFFFFF"/>
          </a:solidFill>
          <a:ln w="19050">
            <a:solidFill>
              <a:srgbClr val="97BC62"/>
            </a:solidFill>
            <a:prstDash val="solid"/>
          </a:ln>
        </p:spPr>
        <p:txBody>
          <a:bodyPr/>
          <a:lstStyle/>
          <a:p>
            <a:endParaRPr lang="en-US"/>
          </a:p>
        </p:txBody>
      </p:sp>
      <p:sp>
        <p:nvSpPr>
          <p:cNvPr id="22" name="Text 20"/>
          <p:cNvSpPr/>
          <p:nvPr/>
        </p:nvSpPr>
        <p:spPr>
          <a:xfrm>
            <a:off x="4389120" y="3566160"/>
            <a:ext cx="3383280" cy="365760"/>
          </a:xfrm>
          <a:prstGeom prst="rect">
            <a:avLst/>
          </a:prstGeom>
          <a:noFill/>
          <a:ln/>
        </p:spPr>
        <p:txBody>
          <a:bodyPr wrap="square" rtlCol="0" anchor="ctr"/>
          <a:lstStyle/>
          <a:p>
            <a:pPr marL="0" indent="0">
              <a:buNone/>
            </a:pPr>
            <a:r>
              <a:rPr lang="en-US" sz="1400" b="1" dirty="0">
                <a:solidFill>
                  <a:srgbClr val="2E2E2E"/>
                </a:solidFill>
                <a:latin typeface="Calibri" pitchFamily="34" charset="0"/>
                <a:ea typeface="Calibri" pitchFamily="34" charset="-122"/>
                <a:cs typeface="Calibri" pitchFamily="34" charset="-120"/>
              </a:rPr>
              <a:t>ACS 5-year (2019)</a:t>
            </a:r>
            <a:endParaRPr lang="en-US" sz="1400" dirty="0"/>
          </a:p>
        </p:txBody>
      </p:sp>
      <p:sp>
        <p:nvSpPr>
          <p:cNvPr id="23" name="Text 21"/>
          <p:cNvSpPr/>
          <p:nvPr/>
        </p:nvSpPr>
        <p:spPr>
          <a:xfrm>
            <a:off x="4389120" y="3931920"/>
            <a:ext cx="3383280" cy="822960"/>
          </a:xfrm>
          <a:prstGeom prst="rect">
            <a:avLst/>
          </a:prstGeom>
          <a:noFill/>
          <a:ln/>
        </p:spPr>
        <p:txBody>
          <a:bodyPr wrap="square" rtlCol="0" anchor="t"/>
          <a:lstStyle/>
          <a:p>
            <a:pPr marL="0" indent="0">
              <a:buNone/>
            </a:pPr>
            <a:r>
              <a:rPr lang="en-US" sz="1250" dirty="0">
                <a:solidFill>
                  <a:srgbClr val="2E2E2E"/>
                </a:solidFill>
                <a:latin typeface="Calibri" pitchFamily="34" charset="0"/>
                <a:ea typeface="Calibri" pitchFamily="34" charset="-122"/>
                <a:cs typeface="Calibri" pitchFamily="34" charset="-120"/>
              </a:rPr>
              <a:t>Socioeconomic and demographic candidate variables</a:t>
            </a:r>
            <a:endParaRPr lang="en-US" sz="1250" dirty="0"/>
          </a:p>
        </p:txBody>
      </p:sp>
      <p:sp>
        <p:nvSpPr>
          <p:cNvPr id="24" name="Shape 22"/>
          <p:cNvSpPr/>
          <p:nvPr/>
        </p:nvSpPr>
        <p:spPr>
          <a:xfrm>
            <a:off x="8046720" y="3520440"/>
            <a:ext cx="3657600" cy="1280160"/>
          </a:xfrm>
          <a:prstGeom prst="rect">
            <a:avLst/>
          </a:prstGeom>
          <a:solidFill>
            <a:srgbClr val="FFFFFF"/>
          </a:solidFill>
          <a:ln w="19050">
            <a:solidFill>
              <a:srgbClr val="97BC62"/>
            </a:solidFill>
            <a:prstDash val="solid"/>
          </a:ln>
        </p:spPr>
        <p:txBody>
          <a:bodyPr/>
          <a:lstStyle/>
          <a:p>
            <a:endParaRPr lang="en-US"/>
          </a:p>
        </p:txBody>
      </p:sp>
      <p:sp>
        <p:nvSpPr>
          <p:cNvPr id="25" name="Text 23"/>
          <p:cNvSpPr/>
          <p:nvPr/>
        </p:nvSpPr>
        <p:spPr>
          <a:xfrm>
            <a:off x="8183880" y="3566160"/>
            <a:ext cx="3383280" cy="365760"/>
          </a:xfrm>
          <a:prstGeom prst="rect">
            <a:avLst/>
          </a:prstGeom>
          <a:noFill/>
          <a:ln/>
        </p:spPr>
        <p:txBody>
          <a:bodyPr wrap="square" rtlCol="0" anchor="ctr"/>
          <a:lstStyle/>
          <a:p>
            <a:pPr marL="0" indent="0">
              <a:buNone/>
            </a:pPr>
            <a:r>
              <a:rPr lang="en-US" sz="1400" b="1" dirty="0">
                <a:solidFill>
                  <a:srgbClr val="2E2E2E"/>
                </a:solidFill>
                <a:latin typeface="Calibri" pitchFamily="34" charset="0"/>
                <a:ea typeface="Calibri" pitchFamily="34" charset="-122"/>
                <a:cs typeface="Calibri" pitchFamily="34" charset="-120"/>
              </a:rPr>
              <a:t>USDA Food Access Research Atlas (2019)</a:t>
            </a:r>
            <a:endParaRPr lang="en-US" sz="1400" dirty="0"/>
          </a:p>
        </p:txBody>
      </p:sp>
      <p:sp>
        <p:nvSpPr>
          <p:cNvPr id="26" name="Text 24"/>
          <p:cNvSpPr/>
          <p:nvPr/>
        </p:nvSpPr>
        <p:spPr>
          <a:xfrm>
            <a:off x="8183880" y="3931920"/>
            <a:ext cx="3383280" cy="822960"/>
          </a:xfrm>
          <a:prstGeom prst="rect">
            <a:avLst/>
          </a:prstGeom>
          <a:noFill/>
          <a:ln/>
        </p:spPr>
        <p:txBody>
          <a:bodyPr wrap="square" rtlCol="0" anchor="t"/>
          <a:lstStyle/>
          <a:p>
            <a:pPr marL="0" indent="0">
              <a:buNone/>
            </a:pPr>
            <a:r>
              <a:rPr lang="en-US" sz="1250" dirty="0">
                <a:solidFill>
                  <a:srgbClr val="2E2E2E"/>
                </a:solidFill>
                <a:latin typeface="Calibri" pitchFamily="34" charset="0"/>
                <a:ea typeface="Calibri" pitchFamily="34" charset="-122"/>
                <a:cs typeface="Calibri" pitchFamily="34" charset="-120"/>
              </a:rPr>
              <a:t>Food-access variables; this week's validation and geography checks are on slides 4–6</a:t>
            </a:r>
            <a:endParaRPr lang="en-US" sz="1250" dirty="0"/>
          </a:p>
        </p:txBody>
      </p:sp>
      <p:sp>
        <p:nvSpPr>
          <p:cNvPr id="27" name="Text 25"/>
          <p:cNvSpPr/>
          <p:nvPr/>
        </p:nvSpPr>
        <p:spPr>
          <a:xfrm>
            <a:off x="457200" y="5029200"/>
            <a:ext cx="11247120" cy="640080"/>
          </a:xfrm>
          <a:prstGeom prst="rect">
            <a:avLst/>
          </a:prstGeom>
          <a:noFill/>
          <a:ln/>
        </p:spPr>
        <p:txBody>
          <a:bodyPr wrap="square" rtlCol="0" anchor="t"/>
          <a:lstStyle/>
          <a:p>
            <a:pPr marL="0" indent="0">
              <a:buNone/>
            </a:pPr>
            <a:r>
              <a:rPr lang="en-US" sz="1250" i="1" dirty="0">
                <a:solidFill>
                  <a:srgbClr val="6B6B6B"/>
                </a:solidFill>
                <a:latin typeface="Calibri" pitchFamily="34" charset="0"/>
                <a:ea typeface="Calibri" pitchFamily="34" charset="-122"/>
                <a:cs typeface="Calibri" pitchFamily="34" charset="-120"/>
              </a:rPr>
              <a:t>New this week: a fourth data source — KCMO parcels — which will be attached to the same 516-tract file as tract-level counts.</a:t>
            </a:r>
            <a:endParaRPr lang="en-US" sz="1250" dirty="0"/>
          </a:p>
        </p:txBody>
      </p:sp>
      <p:sp>
        <p:nvSpPr>
          <p:cNvPr id="28" name="Text 26"/>
          <p:cNvSpPr/>
          <p:nvPr/>
        </p:nvSpPr>
        <p:spPr>
          <a:xfrm>
            <a:off x="365760" y="6537960"/>
            <a:ext cx="7315200" cy="274320"/>
          </a:xfrm>
          <a:prstGeom prst="rect">
            <a:avLst/>
          </a:prstGeom>
          <a:noFill/>
          <a:ln/>
        </p:spPr>
        <p:txBody>
          <a:bodyPr wrap="square"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Decision Dashboard for Urban Food Production — Weekly Progress</a:t>
            </a:r>
            <a:endParaRPr lang="en-US" sz="1000" dirty="0"/>
          </a:p>
        </p:txBody>
      </p:sp>
      <p:sp>
        <p:nvSpPr>
          <p:cNvPr id="29" name="Text 27"/>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dirty="0">
                <a:solidFill>
                  <a:srgbClr val="2E2E2E"/>
                </a:solidFill>
                <a:latin typeface="Cambria" pitchFamily="34" charset="0"/>
                <a:ea typeface="Cambria" pitchFamily="34" charset="-122"/>
                <a:cs typeface="Cambria" pitchFamily="34" charset="-120"/>
              </a:rPr>
              <a:t>USDA Food Access Atlas: Inventory and Validation</a:t>
            </a:r>
            <a:endParaRPr lang="en-US" sz="2800" dirty="0"/>
          </a:p>
        </p:txBody>
      </p:sp>
      <p:sp>
        <p:nvSpPr>
          <p:cNvPr id="3" name="Text 1"/>
          <p:cNvSpPr/>
          <p:nvPr/>
        </p:nvSpPr>
        <p:spPr>
          <a:xfrm>
            <a:off x="457200" y="914400"/>
            <a:ext cx="11247120" cy="365760"/>
          </a:xfrm>
          <a:prstGeom prst="rect">
            <a:avLst/>
          </a:prstGeom>
          <a:noFill/>
          <a:ln/>
        </p:spPr>
        <p:txBody>
          <a:bodyPr wrap="square"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Two separate pieces of work on two USDA workbooks — understand each variable before choosing one</a:t>
            </a:r>
            <a:endParaRPr lang="en-US" sz="1400" dirty="0"/>
          </a:p>
        </p:txBody>
      </p:sp>
      <p:sp>
        <p:nvSpPr>
          <p:cNvPr id="4" name="Text 2"/>
          <p:cNvSpPr/>
          <p:nvPr/>
        </p:nvSpPr>
        <p:spPr>
          <a:xfrm>
            <a:off x="457200" y="1325880"/>
            <a:ext cx="5760720" cy="320040"/>
          </a:xfrm>
          <a:prstGeom prst="rect">
            <a:avLst/>
          </a:prstGeom>
          <a:noFill/>
          <a:ln/>
        </p:spPr>
        <p:txBody>
          <a:bodyPr wrap="square" rtlCol="0" anchor="ctr"/>
          <a:lstStyle/>
          <a:p>
            <a:pPr marL="0" indent="0">
              <a:buNone/>
            </a:pPr>
            <a:r>
              <a:rPr lang="en-US" sz="1350" b="1" dirty="0">
                <a:solidFill>
                  <a:srgbClr val="2C5F2D"/>
                </a:solidFill>
                <a:latin typeface="Calibri" pitchFamily="34" charset="0"/>
                <a:ea typeface="Calibri" pitchFamily="34" charset="-122"/>
                <a:cs typeface="Calibri" pitchFamily="34" charset="-120"/>
              </a:rPr>
              <a:t>Field inventory — FoodAccessResearchAtlasData2019.xlsx</a:t>
            </a:r>
            <a:endParaRPr lang="en-US" sz="1350" dirty="0"/>
          </a:p>
        </p:txBody>
      </p:sp>
      <p:sp>
        <p:nvSpPr>
          <p:cNvPr id="5" name="Shape 3"/>
          <p:cNvSpPr/>
          <p:nvPr/>
        </p:nvSpPr>
        <p:spPr>
          <a:xfrm>
            <a:off x="457200" y="1691640"/>
            <a:ext cx="1828800" cy="1051560"/>
          </a:xfrm>
          <a:prstGeom prst="rect">
            <a:avLst/>
          </a:prstGeom>
          <a:solidFill>
            <a:srgbClr val="2C5F2D"/>
          </a:solidFill>
          <a:ln/>
        </p:spPr>
        <p:txBody>
          <a:bodyPr/>
          <a:lstStyle/>
          <a:p>
            <a:endParaRPr lang="en-US"/>
          </a:p>
        </p:txBody>
      </p:sp>
      <p:sp>
        <p:nvSpPr>
          <p:cNvPr id="6" name="Text 4"/>
          <p:cNvSpPr/>
          <p:nvPr/>
        </p:nvSpPr>
        <p:spPr>
          <a:xfrm>
            <a:off x="457200" y="1719072"/>
            <a:ext cx="1828800" cy="548640"/>
          </a:xfrm>
          <a:prstGeom prst="rect">
            <a:avLst/>
          </a:prstGeom>
          <a:noFill/>
          <a:ln/>
        </p:spPr>
        <p:txBody>
          <a:bodyPr wrap="square"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147</a:t>
            </a:r>
            <a:endParaRPr lang="en-US" sz="2800" dirty="0"/>
          </a:p>
        </p:txBody>
      </p:sp>
      <p:sp>
        <p:nvSpPr>
          <p:cNvPr id="7" name="Text 5"/>
          <p:cNvSpPr/>
          <p:nvPr/>
        </p:nvSpPr>
        <p:spPr>
          <a:xfrm>
            <a:off x="457200" y="2267712"/>
            <a:ext cx="1828800" cy="411480"/>
          </a:xfrm>
          <a:prstGeom prst="rect">
            <a:avLst/>
          </a:prstGeom>
          <a:noFill/>
          <a:ln/>
        </p:spPr>
        <p:txBody>
          <a:bodyPr wrap="square"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fields inventoried</a:t>
            </a:r>
            <a:endParaRPr lang="en-US" sz="1150" dirty="0"/>
          </a:p>
        </p:txBody>
      </p:sp>
      <p:sp>
        <p:nvSpPr>
          <p:cNvPr id="8" name="Shape 6"/>
          <p:cNvSpPr/>
          <p:nvPr/>
        </p:nvSpPr>
        <p:spPr>
          <a:xfrm>
            <a:off x="2423160" y="1691640"/>
            <a:ext cx="1828800" cy="1051560"/>
          </a:xfrm>
          <a:prstGeom prst="rect">
            <a:avLst/>
          </a:prstGeom>
          <a:solidFill>
            <a:srgbClr val="2C5F2D"/>
          </a:solidFill>
          <a:ln/>
        </p:spPr>
        <p:txBody>
          <a:bodyPr/>
          <a:lstStyle/>
          <a:p>
            <a:endParaRPr lang="en-US"/>
          </a:p>
        </p:txBody>
      </p:sp>
      <p:sp>
        <p:nvSpPr>
          <p:cNvPr id="9" name="Text 7"/>
          <p:cNvSpPr/>
          <p:nvPr/>
        </p:nvSpPr>
        <p:spPr>
          <a:xfrm>
            <a:off x="2423160" y="1719072"/>
            <a:ext cx="1828800" cy="548640"/>
          </a:xfrm>
          <a:prstGeom prst="rect">
            <a:avLst/>
          </a:prstGeom>
          <a:noFill/>
          <a:ln/>
        </p:spPr>
        <p:txBody>
          <a:bodyPr wrap="square"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146</a:t>
            </a:r>
            <a:endParaRPr lang="en-US" sz="2800" dirty="0"/>
          </a:p>
        </p:txBody>
      </p:sp>
      <p:sp>
        <p:nvSpPr>
          <p:cNvPr id="10" name="Text 8"/>
          <p:cNvSpPr/>
          <p:nvPr/>
        </p:nvSpPr>
        <p:spPr>
          <a:xfrm>
            <a:off x="2423160" y="2267712"/>
            <a:ext cx="1828800" cy="411480"/>
          </a:xfrm>
          <a:prstGeom prst="rect">
            <a:avLst/>
          </a:prstGeom>
          <a:noFill/>
          <a:ln/>
        </p:spPr>
        <p:txBody>
          <a:bodyPr wrap="square"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definitions found</a:t>
            </a:r>
            <a:endParaRPr lang="en-US" sz="1150" dirty="0"/>
          </a:p>
        </p:txBody>
      </p:sp>
      <p:sp>
        <p:nvSpPr>
          <p:cNvPr id="11" name="Shape 9"/>
          <p:cNvSpPr/>
          <p:nvPr/>
        </p:nvSpPr>
        <p:spPr>
          <a:xfrm>
            <a:off x="4389120" y="1691640"/>
            <a:ext cx="1828800" cy="1051560"/>
          </a:xfrm>
          <a:prstGeom prst="rect">
            <a:avLst/>
          </a:prstGeom>
          <a:solidFill>
            <a:srgbClr val="2C5F2D"/>
          </a:solidFill>
          <a:ln/>
        </p:spPr>
        <p:txBody>
          <a:bodyPr/>
          <a:lstStyle/>
          <a:p>
            <a:endParaRPr lang="en-US"/>
          </a:p>
        </p:txBody>
      </p:sp>
      <p:sp>
        <p:nvSpPr>
          <p:cNvPr id="12" name="Text 10"/>
          <p:cNvSpPr/>
          <p:nvPr/>
        </p:nvSpPr>
        <p:spPr>
          <a:xfrm>
            <a:off x="4389120" y="1719072"/>
            <a:ext cx="1828800" cy="548640"/>
          </a:xfrm>
          <a:prstGeom prst="rect">
            <a:avLst/>
          </a:prstGeom>
          <a:noFill/>
          <a:ln/>
        </p:spPr>
        <p:txBody>
          <a:bodyPr wrap="square"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7</a:t>
            </a:r>
            <a:endParaRPr lang="en-US" sz="2800" dirty="0"/>
          </a:p>
        </p:txBody>
      </p:sp>
      <p:sp>
        <p:nvSpPr>
          <p:cNvPr id="13" name="Text 11"/>
          <p:cNvSpPr/>
          <p:nvPr/>
        </p:nvSpPr>
        <p:spPr>
          <a:xfrm>
            <a:off x="4389120" y="2267712"/>
            <a:ext cx="1828800" cy="411480"/>
          </a:xfrm>
          <a:prstGeom prst="rect">
            <a:avLst/>
          </a:prstGeom>
          <a:noFill/>
          <a:ln/>
        </p:spPr>
        <p:txBody>
          <a:bodyPr wrap="square"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candidate indicators</a:t>
            </a:r>
            <a:endParaRPr lang="en-US" sz="1150" dirty="0"/>
          </a:p>
        </p:txBody>
      </p:sp>
      <p:sp>
        <p:nvSpPr>
          <p:cNvPr id="14" name="Text 12"/>
          <p:cNvSpPr/>
          <p:nvPr/>
        </p:nvSpPr>
        <p:spPr>
          <a:xfrm>
            <a:off x="457200" y="2880360"/>
            <a:ext cx="5760720" cy="274320"/>
          </a:xfrm>
          <a:prstGeom prst="rect">
            <a:avLst/>
          </a:prstGeom>
          <a:noFill/>
          <a:ln/>
        </p:spPr>
        <p:txBody>
          <a:bodyPr wrap="square" rtlCol="0" anchor="ctr"/>
          <a:lstStyle/>
          <a:p>
            <a:pPr marL="0" indent="0">
              <a:buNone/>
            </a:pPr>
            <a:r>
              <a:rPr lang="en-US" sz="1200" b="1" dirty="0">
                <a:solidFill>
                  <a:srgbClr val="2E2E2E"/>
                </a:solidFill>
                <a:latin typeface="Calibri" pitchFamily="34" charset="0"/>
                <a:ea typeface="Calibri" pitchFamily="34" charset="-122"/>
                <a:cs typeface="Calibri" pitchFamily="34" charset="-120"/>
              </a:rPr>
              <a:t>Candidate indicators for evaluation (not final selections)</a:t>
            </a:r>
            <a:endParaRPr lang="en-US" sz="1200" dirty="0"/>
          </a:p>
        </p:txBody>
      </p:sp>
      <p:sp>
        <p:nvSpPr>
          <p:cNvPr id="15" name="Shape 13"/>
          <p:cNvSpPr/>
          <p:nvPr/>
        </p:nvSpPr>
        <p:spPr>
          <a:xfrm>
            <a:off x="457200" y="3200400"/>
            <a:ext cx="1280160" cy="329184"/>
          </a:xfrm>
          <a:prstGeom prst="roundRect">
            <a:avLst>
              <a:gd name="adj" fmla="val 16667"/>
            </a:avLst>
          </a:prstGeom>
          <a:solidFill>
            <a:srgbClr val="F6F5F0"/>
          </a:solidFill>
          <a:ln w="12700">
            <a:solidFill>
              <a:srgbClr val="97BC62"/>
            </a:solidFill>
            <a:prstDash val="solid"/>
          </a:ln>
        </p:spPr>
        <p:txBody>
          <a:bodyPr/>
          <a:lstStyle/>
          <a:p>
            <a:endParaRPr lang="en-US"/>
          </a:p>
        </p:txBody>
      </p:sp>
      <p:sp>
        <p:nvSpPr>
          <p:cNvPr id="16" name="Text 14"/>
          <p:cNvSpPr/>
          <p:nvPr/>
        </p:nvSpPr>
        <p:spPr>
          <a:xfrm>
            <a:off x="457200" y="3200400"/>
            <a:ext cx="1280160" cy="329184"/>
          </a:xfrm>
          <a:prstGeom prst="rect">
            <a:avLst/>
          </a:prstGeom>
          <a:noFill/>
          <a:ln/>
        </p:spPr>
        <p:txBody>
          <a:bodyPr wrap="square" rtlCol="0" anchor="ctr"/>
          <a:lstStyle/>
          <a:p>
            <a:pPr marL="0" indent="0" algn="ctr">
              <a:buNone/>
            </a:pPr>
            <a:r>
              <a:rPr lang="en-US" sz="1000" dirty="0">
                <a:solidFill>
                  <a:srgbClr val="2E2E2E"/>
                </a:solidFill>
                <a:latin typeface="Consolas" pitchFamily="34" charset="0"/>
                <a:ea typeface="Consolas" pitchFamily="34" charset="-122"/>
                <a:cs typeface="Consolas" pitchFamily="34" charset="-120"/>
              </a:rPr>
              <a:t>LA1and10</a:t>
            </a:r>
            <a:endParaRPr lang="en-US" sz="1000" dirty="0"/>
          </a:p>
        </p:txBody>
      </p:sp>
      <p:sp>
        <p:nvSpPr>
          <p:cNvPr id="17" name="Shape 15"/>
          <p:cNvSpPr/>
          <p:nvPr/>
        </p:nvSpPr>
        <p:spPr>
          <a:xfrm>
            <a:off x="1828800" y="3200400"/>
            <a:ext cx="1371600" cy="329184"/>
          </a:xfrm>
          <a:prstGeom prst="roundRect">
            <a:avLst>
              <a:gd name="adj" fmla="val 16667"/>
            </a:avLst>
          </a:prstGeom>
          <a:solidFill>
            <a:srgbClr val="F6F5F0"/>
          </a:solidFill>
          <a:ln w="12700">
            <a:solidFill>
              <a:srgbClr val="97BC62"/>
            </a:solidFill>
            <a:prstDash val="solid"/>
          </a:ln>
        </p:spPr>
        <p:txBody>
          <a:bodyPr/>
          <a:lstStyle/>
          <a:p>
            <a:endParaRPr lang="en-US"/>
          </a:p>
        </p:txBody>
      </p:sp>
      <p:sp>
        <p:nvSpPr>
          <p:cNvPr id="18" name="Text 16"/>
          <p:cNvSpPr/>
          <p:nvPr/>
        </p:nvSpPr>
        <p:spPr>
          <a:xfrm>
            <a:off x="1828800" y="3200400"/>
            <a:ext cx="1371600" cy="329184"/>
          </a:xfrm>
          <a:prstGeom prst="rect">
            <a:avLst/>
          </a:prstGeom>
          <a:noFill/>
          <a:ln/>
        </p:spPr>
        <p:txBody>
          <a:bodyPr wrap="square" rtlCol="0" anchor="ctr"/>
          <a:lstStyle/>
          <a:p>
            <a:pPr marL="0" indent="0" algn="ctr">
              <a:buNone/>
            </a:pPr>
            <a:r>
              <a:rPr lang="en-US" sz="1000" dirty="0">
                <a:solidFill>
                  <a:srgbClr val="2E2E2E"/>
                </a:solidFill>
                <a:latin typeface="Consolas" pitchFamily="34" charset="0"/>
                <a:ea typeface="Consolas" pitchFamily="34" charset="-122"/>
                <a:cs typeface="Consolas" pitchFamily="34" charset="-120"/>
              </a:rPr>
              <a:t>LAhalfand10</a:t>
            </a:r>
            <a:endParaRPr lang="en-US" sz="1000" dirty="0"/>
          </a:p>
        </p:txBody>
      </p:sp>
      <p:sp>
        <p:nvSpPr>
          <p:cNvPr id="19" name="Shape 17"/>
          <p:cNvSpPr/>
          <p:nvPr/>
        </p:nvSpPr>
        <p:spPr>
          <a:xfrm>
            <a:off x="3291840" y="3200400"/>
            <a:ext cx="1691640" cy="329184"/>
          </a:xfrm>
          <a:prstGeom prst="roundRect">
            <a:avLst>
              <a:gd name="adj" fmla="val 16667"/>
            </a:avLst>
          </a:prstGeom>
          <a:solidFill>
            <a:srgbClr val="F6F5F0"/>
          </a:solidFill>
          <a:ln w="12700">
            <a:solidFill>
              <a:srgbClr val="97BC62"/>
            </a:solidFill>
            <a:prstDash val="solid"/>
          </a:ln>
        </p:spPr>
        <p:txBody>
          <a:bodyPr/>
          <a:lstStyle/>
          <a:p>
            <a:endParaRPr lang="en-US"/>
          </a:p>
        </p:txBody>
      </p:sp>
      <p:sp>
        <p:nvSpPr>
          <p:cNvPr id="20" name="Text 18"/>
          <p:cNvSpPr/>
          <p:nvPr/>
        </p:nvSpPr>
        <p:spPr>
          <a:xfrm>
            <a:off x="3291840" y="3200400"/>
            <a:ext cx="1691640" cy="329184"/>
          </a:xfrm>
          <a:prstGeom prst="rect">
            <a:avLst/>
          </a:prstGeom>
          <a:noFill/>
          <a:ln/>
        </p:spPr>
        <p:txBody>
          <a:bodyPr wrap="square" rtlCol="0" anchor="ctr"/>
          <a:lstStyle/>
          <a:p>
            <a:pPr marL="0" indent="0" algn="ctr">
              <a:buNone/>
            </a:pPr>
            <a:r>
              <a:rPr lang="en-US" sz="1000" dirty="0">
                <a:solidFill>
                  <a:srgbClr val="2E2E2E"/>
                </a:solidFill>
                <a:latin typeface="Consolas" pitchFamily="34" charset="0"/>
                <a:ea typeface="Consolas" pitchFamily="34" charset="-122"/>
                <a:cs typeface="Consolas" pitchFamily="34" charset="-120"/>
              </a:rPr>
              <a:t>LILATracts_1And10</a:t>
            </a:r>
            <a:endParaRPr lang="en-US" sz="1000" dirty="0"/>
          </a:p>
        </p:txBody>
      </p:sp>
      <p:sp>
        <p:nvSpPr>
          <p:cNvPr id="21" name="Shape 19"/>
          <p:cNvSpPr/>
          <p:nvPr/>
        </p:nvSpPr>
        <p:spPr>
          <a:xfrm>
            <a:off x="5074920" y="3200400"/>
            <a:ext cx="1143000" cy="329184"/>
          </a:xfrm>
          <a:prstGeom prst="roundRect">
            <a:avLst>
              <a:gd name="adj" fmla="val 16667"/>
            </a:avLst>
          </a:prstGeom>
          <a:solidFill>
            <a:srgbClr val="F6F5F0"/>
          </a:solidFill>
          <a:ln w="12700">
            <a:solidFill>
              <a:srgbClr val="97BC62"/>
            </a:solidFill>
            <a:prstDash val="solid"/>
          </a:ln>
        </p:spPr>
        <p:txBody>
          <a:bodyPr/>
          <a:lstStyle/>
          <a:p>
            <a:endParaRPr lang="en-US"/>
          </a:p>
        </p:txBody>
      </p:sp>
      <p:sp>
        <p:nvSpPr>
          <p:cNvPr id="22" name="Text 20"/>
          <p:cNvSpPr/>
          <p:nvPr/>
        </p:nvSpPr>
        <p:spPr>
          <a:xfrm>
            <a:off x="5074920" y="3200400"/>
            <a:ext cx="1143000" cy="329184"/>
          </a:xfrm>
          <a:prstGeom prst="rect">
            <a:avLst/>
          </a:prstGeom>
          <a:noFill/>
          <a:ln/>
        </p:spPr>
        <p:txBody>
          <a:bodyPr wrap="square" rtlCol="0" anchor="ctr"/>
          <a:lstStyle/>
          <a:p>
            <a:pPr marL="0" indent="0" algn="ctr">
              <a:buNone/>
            </a:pPr>
            <a:r>
              <a:rPr lang="en-US" sz="1000" dirty="0">
                <a:solidFill>
                  <a:srgbClr val="2E2E2E"/>
                </a:solidFill>
                <a:latin typeface="Consolas" pitchFamily="34" charset="0"/>
                <a:ea typeface="Consolas" pitchFamily="34" charset="-122"/>
                <a:cs typeface="Consolas" pitchFamily="34" charset="-120"/>
              </a:rPr>
              <a:t>lapop1share</a:t>
            </a:r>
            <a:endParaRPr lang="en-US" sz="1000" dirty="0"/>
          </a:p>
        </p:txBody>
      </p:sp>
      <p:sp>
        <p:nvSpPr>
          <p:cNvPr id="23" name="Shape 21"/>
          <p:cNvSpPr/>
          <p:nvPr/>
        </p:nvSpPr>
        <p:spPr>
          <a:xfrm>
            <a:off x="457200" y="3611880"/>
            <a:ext cx="1280160" cy="329184"/>
          </a:xfrm>
          <a:prstGeom prst="roundRect">
            <a:avLst>
              <a:gd name="adj" fmla="val 16667"/>
            </a:avLst>
          </a:prstGeom>
          <a:solidFill>
            <a:srgbClr val="F6F5F0"/>
          </a:solidFill>
          <a:ln w="12700">
            <a:solidFill>
              <a:srgbClr val="97BC62"/>
            </a:solidFill>
            <a:prstDash val="solid"/>
          </a:ln>
        </p:spPr>
        <p:txBody>
          <a:bodyPr/>
          <a:lstStyle/>
          <a:p>
            <a:endParaRPr lang="en-US"/>
          </a:p>
        </p:txBody>
      </p:sp>
      <p:sp>
        <p:nvSpPr>
          <p:cNvPr id="24" name="Text 22"/>
          <p:cNvSpPr/>
          <p:nvPr/>
        </p:nvSpPr>
        <p:spPr>
          <a:xfrm>
            <a:off x="457200" y="3611880"/>
            <a:ext cx="1280160" cy="329184"/>
          </a:xfrm>
          <a:prstGeom prst="rect">
            <a:avLst/>
          </a:prstGeom>
          <a:noFill/>
          <a:ln/>
        </p:spPr>
        <p:txBody>
          <a:bodyPr wrap="square" rtlCol="0" anchor="ctr"/>
          <a:lstStyle/>
          <a:p>
            <a:pPr marL="0" indent="0" algn="ctr">
              <a:buNone/>
            </a:pPr>
            <a:r>
              <a:rPr lang="en-US" sz="1000" dirty="0">
                <a:solidFill>
                  <a:srgbClr val="2E2E2E"/>
                </a:solidFill>
                <a:latin typeface="Consolas" pitchFamily="34" charset="0"/>
                <a:ea typeface="Consolas" pitchFamily="34" charset="-122"/>
                <a:cs typeface="Consolas" pitchFamily="34" charset="-120"/>
              </a:rPr>
              <a:t>LAPOP1_10</a:t>
            </a:r>
            <a:endParaRPr lang="en-US" sz="1000" dirty="0"/>
          </a:p>
        </p:txBody>
      </p:sp>
      <p:sp>
        <p:nvSpPr>
          <p:cNvPr id="25" name="Shape 23"/>
          <p:cNvSpPr/>
          <p:nvPr/>
        </p:nvSpPr>
        <p:spPr>
          <a:xfrm>
            <a:off x="1828800" y="3611880"/>
            <a:ext cx="1371600" cy="329184"/>
          </a:xfrm>
          <a:prstGeom prst="roundRect">
            <a:avLst>
              <a:gd name="adj" fmla="val 16667"/>
            </a:avLst>
          </a:prstGeom>
          <a:solidFill>
            <a:srgbClr val="F6F5F0"/>
          </a:solidFill>
          <a:ln w="12700">
            <a:solidFill>
              <a:srgbClr val="97BC62"/>
            </a:solidFill>
            <a:prstDash val="solid"/>
          </a:ln>
        </p:spPr>
        <p:txBody>
          <a:bodyPr/>
          <a:lstStyle/>
          <a:p>
            <a:endParaRPr lang="en-US"/>
          </a:p>
        </p:txBody>
      </p:sp>
      <p:sp>
        <p:nvSpPr>
          <p:cNvPr id="26" name="Text 24"/>
          <p:cNvSpPr/>
          <p:nvPr/>
        </p:nvSpPr>
        <p:spPr>
          <a:xfrm>
            <a:off x="1828800" y="3611880"/>
            <a:ext cx="1371600" cy="329184"/>
          </a:xfrm>
          <a:prstGeom prst="rect">
            <a:avLst/>
          </a:prstGeom>
          <a:noFill/>
          <a:ln/>
        </p:spPr>
        <p:txBody>
          <a:bodyPr wrap="square" rtlCol="0" anchor="ctr"/>
          <a:lstStyle/>
          <a:p>
            <a:pPr marL="0" indent="0" algn="ctr">
              <a:buNone/>
            </a:pPr>
            <a:r>
              <a:rPr lang="en-US" sz="1000" dirty="0">
                <a:solidFill>
                  <a:srgbClr val="2E2E2E"/>
                </a:solidFill>
                <a:latin typeface="Consolas" pitchFamily="34" charset="0"/>
                <a:ea typeface="Consolas" pitchFamily="34" charset="-122"/>
                <a:cs typeface="Consolas" pitchFamily="34" charset="-120"/>
              </a:rPr>
              <a:t>LALOWI1_10</a:t>
            </a:r>
            <a:endParaRPr lang="en-US" sz="1000" dirty="0"/>
          </a:p>
        </p:txBody>
      </p:sp>
      <p:sp>
        <p:nvSpPr>
          <p:cNvPr id="27" name="Shape 25"/>
          <p:cNvSpPr/>
          <p:nvPr/>
        </p:nvSpPr>
        <p:spPr>
          <a:xfrm>
            <a:off x="3291840" y="3611880"/>
            <a:ext cx="1371600" cy="329184"/>
          </a:xfrm>
          <a:prstGeom prst="roundRect">
            <a:avLst>
              <a:gd name="adj" fmla="val 16667"/>
            </a:avLst>
          </a:prstGeom>
          <a:solidFill>
            <a:srgbClr val="F6F5F0"/>
          </a:solidFill>
          <a:ln w="12700">
            <a:solidFill>
              <a:srgbClr val="97BC62"/>
            </a:solidFill>
            <a:prstDash val="solid"/>
          </a:ln>
        </p:spPr>
        <p:txBody>
          <a:bodyPr/>
          <a:lstStyle/>
          <a:p>
            <a:endParaRPr lang="en-US"/>
          </a:p>
        </p:txBody>
      </p:sp>
      <p:sp>
        <p:nvSpPr>
          <p:cNvPr id="28" name="Text 26"/>
          <p:cNvSpPr/>
          <p:nvPr/>
        </p:nvSpPr>
        <p:spPr>
          <a:xfrm>
            <a:off x="3291840" y="3611880"/>
            <a:ext cx="1371600" cy="329184"/>
          </a:xfrm>
          <a:prstGeom prst="rect">
            <a:avLst/>
          </a:prstGeom>
          <a:noFill/>
          <a:ln/>
        </p:spPr>
        <p:txBody>
          <a:bodyPr wrap="square" rtlCol="0" anchor="ctr"/>
          <a:lstStyle/>
          <a:p>
            <a:pPr marL="0" indent="0" algn="ctr">
              <a:buNone/>
            </a:pPr>
            <a:r>
              <a:rPr lang="en-US" sz="1000" dirty="0">
                <a:solidFill>
                  <a:srgbClr val="2E2E2E"/>
                </a:solidFill>
                <a:latin typeface="Consolas" pitchFamily="34" charset="0"/>
                <a:ea typeface="Consolas" pitchFamily="34" charset="-122"/>
                <a:cs typeface="Consolas" pitchFamily="34" charset="-120"/>
              </a:rPr>
              <a:t>lalowi1share</a:t>
            </a:r>
            <a:endParaRPr lang="en-US" sz="1000" dirty="0"/>
          </a:p>
        </p:txBody>
      </p:sp>
      <p:sp>
        <p:nvSpPr>
          <p:cNvPr id="29" name="Shape 27"/>
          <p:cNvSpPr/>
          <p:nvPr/>
        </p:nvSpPr>
        <p:spPr>
          <a:xfrm>
            <a:off x="457200" y="4114800"/>
            <a:ext cx="5760720" cy="1234440"/>
          </a:xfrm>
          <a:prstGeom prst="rect">
            <a:avLst/>
          </a:prstGeom>
          <a:solidFill>
            <a:srgbClr val="FFFFFF"/>
          </a:solidFill>
          <a:ln w="15875">
            <a:solidFill>
              <a:srgbClr val="97BC62"/>
            </a:solidFill>
            <a:prstDash val="solid"/>
          </a:ln>
        </p:spPr>
        <p:txBody>
          <a:bodyPr/>
          <a:lstStyle/>
          <a:p>
            <a:endParaRPr lang="en-US"/>
          </a:p>
        </p:txBody>
      </p:sp>
      <p:sp>
        <p:nvSpPr>
          <p:cNvPr id="30" name="Text 28"/>
          <p:cNvSpPr/>
          <p:nvPr/>
        </p:nvSpPr>
        <p:spPr>
          <a:xfrm>
            <a:off x="594360" y="4160520"/>
            <a:ext cx="5486400" cy="1143000"/>
          </a:xfrm>
          <a:prstGeom prst="rect">
            <a:avLst/>
          </a:prstGeom>
          <a:noFill/>
          <a:ln/>
        </p:spPr>
        <p:txBody>
          <a:bodyPr wrap="square" rtlCol="0" anchor="ctr"/>
          <a:lstStyle/>
          <a:p>
            <a:pPr marL="0" indent="0">
              <a:buNone/>
            </a:pPr>
            <a:r>
              <a:rPr lang="en-US" sz="1200" b="1" dirty="0">
                <a:solidFill>
                  <a:srgbClr val="2C5F2D"/>
                </a:solidFill>
                <a:latin typeface="Calibri" pitchFamily="34" charset="0"/>
                <a:ea typeface="Calibri" pitchFamily="34" charset="-122"/>
                <a:cs typeface="Calibri" pitchFamily="34" charset="-120"/>
              </a:rPr>
              <a:t>Why inspect definitions? </a:t>
            </a:r>
            <a:r>
              <a:rPr lang="en-US" sz="1200" dirty="0">
                <a:solidFill>
                  <a:srgbClr val="2E2E2E"/>
                </a:solidFill>
                <a:latin typeface="Calibri" pitchFamily="34" charset="0"/>
                <a:ea typeface="Calibri" pitchFamily="34" charset="-122"/>
                <a:cs typeface="Calibri" pitchFamily="34" charset="-120"/>
              </a:rPr>
              <a:t>Similarly named indicators can describe different populations, distance thresholds, or types of food access. Each must be understood before it goes into a suitability model.</a:t>
            </a:r>
            <a:endParaRPr lang="en-US" sz="1200" dirty="0"/>
          </a:p>
        </p:txBody>
      </p:sp>
      <p:sp>
        <p:nvSpPr>
          <p:cNvPr id="31" name="Text 29"/>
          <p:cNvSpPr/>
          <p:nvPr/>
        </p:nvSpPr>
        <p:spPr>
          <a:xfrm>
            <a:off x="6492240" y="1325880"/>
            <a:ext cx="5212080" cy="320040"/>
          </a:xfrm>
          <a:prstGeom prst="rect">
            <a:avLst/>
          </a:prstGeom>
          <a:noFill/>
          <a:ln/>
        </p:spPr>
        <p:txBody>
          <a:bodyPr wrap="square" rtlCol="0" anchor="ctr"/>
          <a:lstStyle/>
          <a:p>
            <a:pPr marL="0" indent="0">
              <a:buNone/>
            </a:pPr>
            <a:r>
              <a:rPr lang="en-US" sz="1350" b="1" dirty="0">
                <a:solidFill>
                  <a:srgbClr val="2C5F2D"/>
                </a:solidFill>
                <a:latin typeface="Calibri" pitchFamily="34" charset="0"/>
                <a:ea typeface="Calibri" pitchFamily="34" charset="-122"/>
                <a:cs typeface="Calibri" pitchFamily="34" charset="-120"/>
              </a:rPr>
              <a:t>Input validation — 2025-sram-fara-data.xlsx</a:t>
            </a:r>
            <a:endParaRPr lang="en-US" sz="1350" dirty="0"/>
          </a:p>
        </p:txBody>
      </p:sp>
      <p:sp>
        <p:nvSpPr>
          <p:cNvPr id="32" name="Shape 30"/>
          <p:cNvSpPr/>
          <p:nvPr/>
        </p:nvSpPr>
        <p:spPr>
          <a:xfrm>
            <a:off x="6492240" y="1691640"/>
            <a:ext cx="5212080" cy="548640"/>
          </a:xfrm>
          <a:prstGeom prst="rect">
            <a:avLst/>
          </a:prstGeom>
          <a:solidFill>
            <a:srgbClr val="FFFFFF"/>
          </a:solidFill>
          <a:ln w="12700">
            <a:solidFill>
              <a:srgbClr val="DDDDDD"/>
            </a:solidFill>
            <a:prstDash val="solid"/>
          </a:ln>
        </p:spPr>
        <p:txBody>
          <a:bodyPr/>
          <a:lstStyle/>
          <a:p>
            <a:endParaRPr lang="en-US"/>
          </a:p>
        </p:txBody>
      </p:sp>
      <p:sp>
        <p:nvSpPr>
          <p:cNvPr id="33" name="Shape 31"/>
          <p:cNvSpPr/>
          <p:nvPr/>
        </p:nvSpPr>
        <p:spPr>
          <a:xfrm>
            <a:off x="6492240" y="1691640"/>
            <a:ext cx="109728" cy="548640"/>
          </a:xfrm>
          <a:prstGeom prst="rect">
            <a:avLst/>
          </a:prstGeom>
          <a:solidFill>
            <a:srgbClr val="2C5F2D"/>
          </a:solidFill>
          <a:ln/>
        </p:spPr>
        <p:txBody>
          <a:bodyPr/>
          <a:lstStyle/>
          <a:p>
            <a:endParaRPr lang="en-US"/>
          </a:p>
        </p:txBody>
      </p:sp>
      <p:sp>
        <p:nvSpPr>
          <p:cNvPr id="34" name="Text 32"/>
          <p:cNvSpPr/>
          <p:nvPr/>
        </p:nvSpPr>
        <p:spPr>
          <a:xfrm>
            <a:off x="6675120" y="1700784"/>
            <a:ext cx="4983480" cy="274320"/>
          </a:xfrm>
          <a:prstGeom prst="rect">
            <a:avLst/>
          </a:prstGeom>
          <a:noFill/>
          <a:ln/>
        </p:spPr>
        <p:txBody>
          <a:bodyPr wrap="square" rtlCol="0" anchor="ctr"/>
          <a:lstStyle/>
          <a:p>
            <a:pPr marL="0" indent="0">
              <a:buNone/>
            </a:pPr>
            <a:r>
              <a:rPr lang="en-US" sz="1200" b="1" dirty="0">
                <a:solidFill>
                  <a:srgbClr val="2E2E2E"/>
                </a:solidFill>
                <a:latin typeface="Calibri" pitchFamily="34" charset="0"/>
                <a:ea typeface="Calibri" pitchFamily="34" charset="-122"/>
                <a:cs typeface="Calibri" pitchFamily="34" charset="-120"/>
              </a:rPr>
              <a:t>84,119 records</a:t>
            </a:r>
            <a:endParaRPr lang="en-US" sz="1200" dirty="0"/>
          </a:p>
        </p:txBody>
      </p:sp>
      <p:sp>
        <p:nvSpPr>
          <p:cNvPr id="35" name="Text 33"/>
          <p:cNvSpPr/>
          <p:nvPr/>
        </p:nvSpPr>
        <p:spPr>
          <a:xfrm>
            <a:off x="6675120" y="1965960"/>
            <a:ext cx="4983480" cy="256032"/>
          </a:xfrm>
          <a:prstGeom prst="rect">
            <a:avLst/>
          </a:prstGeom>
          <a:noFill/>
          <a:ln/>
        </p:spPr>
        <p:txBody>
          <a:bodyPr wrap="square" rtlCol="0" anchor="ctr"/>
          <a:lstStyle/>
          <a:p>
            <a:pPr marL="0" indent="0">
              <a:buNone/>
            </a:pPr>
            <a:r>
              <a:rPr lang="en-US" sz="1050" dirty="0">
                <a:solidFill>
                  <a:srgbClr val="6B6B6B"/>
                </a:solidFill>
                <a:latin typeface="Calibri" pitchFamily="34" charset="0"/>
                <a:ea typeface="Calibri" pitchFamily="34" charset="-122"/>
                <a:cs typeface="Calibri" pitchFamily="34" charset="-120"/>
              </a:rPr>
              <a:t>in each sheet of the full workbook (not limited to the 516 study tracts)</a:t>
            </a:r>
            <a:endParaRPr lang="en-US" sz="1050" dirty="0"/>
          </a:p>
        </p:txBody>
      </p:sp>
      <p:sp>
        <p:nvSpPr>
          <p:cNvPr id="36" name="Shape 34"/>
          <p:cNvSpPr/>
          <p:nvPr/>
        </p:nvSpPr>
        <p:spPr>
          <a:xfrm>
            <a:off x="6492240" y="2331720"/>
            <a:ext cx="5212080" cy="548640"/>
          </a:xfrm>
          <a:prstGeom prst="rect">
            <a:avLst/>
          </a:prstGeom>
          <a:solidFill>
            <a:srgbClr val="FFFFFF"/>
          </a:solidFill>
          <a:ln w="12700">
            <a:solidFill>
              <a:srgbClr val="DDDDDD"/>
            </a:solidFill>
            <a:prstDash val="solid"/>
          </a:ln>
        </p:spPr>
        <p:txBody>
          <a:bodyPr/>
          <a:lstStyle/>
          <a:p>
            <a:endParaRPr lang="en-US"/>
          </a:p>
        </p:txBody>
      </p:sp>
      <p:sp>
        <p:nvSpPr>
          <p:cNvPr id="37" name="Shape 35"/>
          <p:cNvSpPr/>
          <p:nvPr/>
        </p:nvSpPr>
        <p:spPr>
          <a:xfrm>
            <a:off x="6492240" y="2331720"/>
            <a:ext cx="109728" cy="548640"/>
          </a:xfrm>
          <a:prstGeom prst="rect">
            <a:avLst/>
          </a:prstGeom>
          <a:solidFill>
            <a:srgbClr val="2C5F2D"/>
          </a:solidFill>
          <a:ln/>
        </p:spPr>
        <p:txBody>
          <a:bodyPr/>
          <a:lstStyle/>
          <a:p>
            <a:endParaRPr lang="en-US"/>
          </a:p>
        </p:txBody>
      </p:sp>
      <p:sp>
        <p:nvSpPr>
          <p:cNvPr id="38" name="Text 36"/>
          <p:cNvSpPr/>
          <p:nvPr/>
        </p:nvSpPr>
        <p:spPr>
          <a:xfrm>
            <a:off x="6675120" y="2340864"/>
            <a:ext cx="4983480" cy="274320"/>
          </a:xfrm>
          <a:prstGeom prst="rect">
            <a:avLst/>
          </a:prstGeom>
          <a:noFill/>
          <a:ln/>
        </p:spPr>
        <p:txBody>
          <a:bodyPr wrap="square" rtlCol="0" anchor="ctr"/>
          <a:lstStyle/>
          <a:p>
            <a:pPr marL="0" indent="0">
              <a:buNone/>
            </a:pPr>
            <a:r>
              <a:rPr lang="en-US" sz="1200" b="1" dirty="0">
                <a:solidFill>
                  <a:srgbClr val="2E2E2E"/>
                </a:solidFill>
                <a:latin typeface="Calibri" pitchFamily="34" charset="0"/>
                <a:ea typeface="Calibri" pitchFamily="34" charset="-122"/>
                <a:cs typeface="Calibri" pitchFamily="34" charset="-120"/>
              </a:rPr>
              <a:t>No duplicate tract IDs</a:t>
            </a:r>
            <a:endParaRPr lang="en-US" sz="1200" dirty="0"/>
          </a:p>
        </p:txBody>
      </p:sp>
      <p:sp>
        <p:nvSpPr>
          <p:cNvPr id="39" name="Text 37"/>
          <p:cNvSpPr/>
          <p:nvPr/>
        </p:nvSpPr>
        <p:spPr>
          <a:xfrm>
            <a:off x="6675120" y="2606040"/>
            <a:ext cx="4983480" cy="256032"/>
          </a:xfrm>
          <a:prstGeom prst="rect">
            <a:avLst/>
          </a:prstGeom>
          <a:noFill/>
          <a:ln/>
        </p:spPr>
        <p:txBody>
          <a:bodyPr wrap="square" rtlCol="0" anchor="ctr"/>
          <a:lstStyle/>
          <a:p>
            <a:pPr marL="0" indent="0">
              <a:buNone/>
            </a:pPr>
            <a:r>
              <a:rPr lang="en-US" sz="1050" dirty="0">
                <a:solidFill>
                  <a:srgbClr val="6B6B6B"/>
                </a:solidFill>
                <a:latin typeface="Calibri" pitchFamily="34" charset="0"/>
                <a:ea typeface="Calibri" pitchFamily="34" charset="-122"/>
                <a:cs typeface="Calibri" pitchFamily="34" charset="-120"/>
              </a:rPr>
              <a:t>in either input</a:t>
            </a:r>
            <a:endParaRPr lang="en-US" sz="1050" dirty="0"/>
          </a:p>
        </p:txBody>
      </p:sp>
      <p:sp>
        <p:nvSpPr>
          <p:cNvPr id="40" name="Shape 38"/>
          <p:cNvSpPr/>
          <p:nvPr/>
        </p:nvSpPr>
        <p:spPr>
          <a:xfrm>
            <a:off x="6492240" y="2971800"/>
            <a:ext cx="5212080" cy="548640"/>
          </a:xfrm>
          <a:prstGeom prst="rect">
            <a:avLst/>
          </a:prstGeom>
          <a:solidFill>
            <a:srgbClr val="FFFFFF"/>
          </a:solidFill>
          <a:ln w="12700">
            <a:solidFill>
              <a:srgbClr val="DDDDDD"/>
            </a:solidFill>
            <a:prstDash val="solid"/>
          </a:ln>
        </p:spPr>
        <p:txBody>
          <a:bodyPr/>
          <a:lstStyle/>
          <a:p>
            <a:endParaRPr lang="en-US"/>
          </a:p>
        </p:txBody>
      </p:sp>
      <p:sp>
        <p:nvSpPr>
          <p:cNvPr id="41" name="Shape 39"/>
          <p:cNvSpPr/>
          <p:nvPr/>
        </p:nvSpPr>
        <p:spPr>
          <a:xfrm>
            <a:off x="6492240" y="2971800"/>
            <a:ext cx="109728" cy="548640"/>
          </a:xfrm>
          <a:prstGeom prst="rect">
            <a:avLst/>
          </a:prstGeom>
          <a:solidFill>
            <a:srgbClr val="2C5F2D"/>
          </a:solidFill>
          <a:ln/>
        </p:spPr>
        <p:txBody>
          <a:bodyPr/>
          <a:lstStyle/>
          <a:p>
            <a:endParaRPr lang="en-US"/>
          </a:p>
        </p:txBody>
      </p:sp>
      <p:sp>
        <p:nvSpPr>
          <p:cNvPr id="42" name="Text 40"/>
          <p:cNvSpPr/>
          <p:nvPr/>
        </p:nvSpPr>
        <p:spPr>
          <a:xfrm>
            <a:off x="6675120" y="2980944"/>
            <a:ext cx="4983480" cy="274320"/>
          </a:xfrm>
          <a:prstGeom prst="rect">
            <a:avLst/>
          </a:prstGeom>
          <a:noFill/>
          <a:ln/>
        </p:spPr>
        <p:txBody>
          <a:bodyPr wrap="square" rtlCol="0" anchor="ctr"/>
          <a:lstStyle/>
          <a:p>
            <a:pPr marL="0" indent="0">
              <a:buNone/>
            </a:pPr>
            <a:r>
              <a:rPr lang="en-US" sz="1200" b="1" dirty="0">
                <a:solidFill>
                  <a:srgbClr val="2E2E2E"/>
                </a:solidFill>
                <a:latin typeface="Calibri" pitchFamily="34" charset="0"/>
                <a:ea typeface="Calibri" pitchFamily="34" charset="-122"/>
                <a:cs typeface="Calibri" pitchFamily="34" charset="-120"/>
              </a:rPr>
              <a:t>No missing values</a:t>
            </a:r>
            <a:endParaRPr lang="en-US" sz="1200" dirty="0"/>
          </a:p>
        </p:txBody>
      </p:sp>
      <p:sp>
        <p:nvSpPr>
          <p:cNvPr id="43" name="Text 41"/>
          <p:cNvSpPr/>
          <p:nvPr/>
        </p:nvSpPr>
        <p:spPr>
          <a:xfrm>
            <a:off x="6675120" y="3246120"/>
            <a:ext cx="4983480" cy="256032"/>
          </a:xfrm>
          <a:prstGeom prst="rect">
            <a:avLst/>
          </a:prstGeom>
          <a:noFill/>
          <a:ln/>
        </p:spPr>
        <p:txBody>
          <a:bodyPr wrap="square" rtlCol="0" anchor="ctr"/>
          <a:lstStyle/>
          <a:p>
            <a:pPr marL="0" indent="0">
              <a:buNone/>
            </a:pPr>
            <a:r>
              <a:rPr lang="en-US" sz="1050" dirty="0">
                <a:solidFill>
                  <a:srgbClr val="6B6B6B"/>
                </a:solidFill>
                <a:latin typeface="Calibri" pitchFamily="34" charset="0"/>
                <a:ea typeface="Calibri" pitchFamily="34" charset="-122"/>
                <a:cs typeface="Calibri" pitchFamily="34" charset="-120"/>
              </a:rPr>
              <a:t>in the checked low-access count or POP2020 fields</a:t>
            </a:r>
            <a:endParaRPr lang="en-US" sz="1050" dirty="0"/>
          </a:p>
        </p:txBody>
      </p:sp>
      <p:sp>
        <p:nvSpPr>
          <p:cNvPr id="44" name="Shape 42"/>
          <p:cNvSpPr/>
          <p:nvPr/>
        </p:nvSpPr>
        <p:spPr>
          <a:xfrm>
            <a:off x="6492240" y="3611880"/>
            <a:ext cx="5212080" cy="548640"/>
          </a:xfrm>
          <a:prstGeom prst="rect">
            <a:avLst/>
          </a:prstGeom>
          <a:solidFill>
            <a:srgbClr val="FFFFFF"/>
          </a:solidFill>
          <a:ln w="12700">
            <a:solidFill>
              <a:srgbClr val="DDDDDD"/>
            </a:solidFill>
            <a:prstDash val="solid"/>
          </a:ln>
        </p:spPr>
        <p:txBody>
          <a:bodyPr/>
          <a:lstStyle/>
          <a:p>
            <a:endParaRPr lang="en-US"/>
          </a:p>
        </p:txBody>
      </p:sp>
      <p:sp>
        <p:nvSpPr>
          <p:cNvPr id="45" name="Shape 43"/>
          <p:cNvSpPr/>
          <p:nvPr/>
        </p:nvSpPr>
        <p:spPr>
          <a:xfrm>
            <a:off x="6492240" y="3611880"/>
            <a:ext cx="109728" cy="548640"/>
          </a:xfrm>
          <a:prstGeom prst="rect">
            <a:avLst/>
          </a:prstGeom>
          <a:solidFill>
            <a:srgbClr val="2C5F2D"/>
          </a:solidFill>
          <a:ln/>
        </p:spPr>
        <p:txBody>
          <a:bodyPr/>
          <a:lstStyle/>
          <a:p>
            <a:endParaRPr lang="en-US"/>
          </a:p>
        </p:txBody>
      </p:sp>
      <p:sp>
        <p:nvSpPr>
          <p:cNvPr id="46" name="Text 44"/>
          <p:cNvSpPr/>
          <p:nvPr/>
        </p:nvSpPr>
        <p:spPr>
          <a:xfrm>
            <a:off x="6675120" y="3621024"/>
            <a:ext cx="4983480" cy="274320"/>
          </a:xfrm>
          <a:prstGeom prst="rect">
            <a:avLst/>
          </a:prstGeom>
          <a:noFill/>
          <a:ln/>
        </p:spPr>
        <p:txBody>
          <a:bodyPr wrap="square" rtlCol="0" anchor="ctr"/>
          <a:lstStyle/>
          <a:p>
            <a:pPr marL="0" indent="0">
              <a:buNone/>
            </a:pPr>
            <a:r>
              <a:rPr lang="en-US" sz="1200" b="1" dirty="0">
                <a:solidFill>
                  <a:srgbClr val="2E2E2E"/>
                </a:solidFill>
                <a:latin typeface="Calibri" pitchFamily="34" charset="0"/>
                <a:ea typeface="Calibri" pitchFamily="34" charset="-122"/>
                <a:cs typeface="Calibri" pitchFamily="34" charset="-120"/>
              </a:rPr>
              <a:t>No low-access count above its population</a:t>
            </a:r>
            <a:endParaRPr lang="en-US" sz="1200" dirty="0"/>
          </a:p>
        </p:txBody>
      </p:sp>
      <p:sp>
        <p:nvSpPr>
          <p:cNvPr id="47" name="Text 45"/>
          <p:cNvSpPr/>
          <p:nvPr/>
        </p:nvSpPr>
        <p:spPr>
          <a:xfrm>
            <a:off x="6675120" y="3886200"/>
            <a:ext cx="4983480" cy="256032"/>
          </a:xfrm>
          <a:prstGeom prst="rect">
            <a:avLst/>
          </a:prstGeom>
          <a:noFill/>
          <a:ln/>
        </p:spPr>
        <p:txBody>
          <a:bodyPr wrap="square" rtlCol="0" anchor="ctr"/>
          <a:lstStyle/>
          <a:p>
            <a:pPr marL="0" indent="0">
              <a:buNone/>
            </a:pPr>
            <a:r>
              <a:rPr lang="en-US" sz="1050" dirty="0">
                <a:solidFill>
                  <a:srgbClr val="6B6B6B"/>
                </a:solidFill>
                <a:latin typeface="Calibri" pitchFamily="34" charset="0"/>
                <a:ea typeface="Calibri" pitchFamily="34" charset="-122"/>
                <a:cs typeface="Calibri" pitchFamily="34" charset="-120"/>
              </a:rPr>
              <a:t>in the checked fields</a:t>
            </a:r>
            <a:endParaRPr lang="en-US" sz="1050" dirty="0"/>
          </a:p>
        </p:txBody>
      </p:sp>
      <p:sp>
        <p:nvSpPr>
          <p:cNvPr id="48" name="Shape 46"/>
          <p:cNvSpPr/>
          <p:nvPr/>
        </p:nvSpPr>
        <p:spPr>
          <a:xfrm>
            <a:off x="6492240" y="4251960"/>
            <a:ext cx="5212080" cy="548640"/>
          </a:xfrm>
          <a:prstGeom prst="rect">
            <a:avLst/>
          </a:prstGeom>
          <a:solidFill>
            <a:srgbClr val="FFFFFF"/>
          </a:solidFill>
          <a:ln w="12700">
            <a:solidFill>
              <a:srgbClr val="DDDDDD"/>
            </a:solidFill>
            <a:prstDash val="solid"/>
          </a:ln>
        </p:spPr>
        <p:txBody>
          <a:bodyPr/>
          <a:lstStyle/>
          <a:p>
            <a:endParaRPr lang="en-US"/>
          </a:p>
        </p:txBody>
      </p:sp>
      <p:sp>
        <p:nvSpPr>
          <p:cNvPr id="49" name="Shape 47"/>
          <p:cNvSpPr/>
          <p:nvPr/>
        </p:nvSpPr>
        <p:spPr>
          <a:xfrm>
            <a:off x="6492240" y="4251960"/>
            <a:ext cx="109728" cy="548640"/>
          </a:xfrm>
          <a:prstGeom prst="rect">
            <a:avLst/>
          </a:prstGeom>
          <a:solidFill>
            <a:srgbClr val="2C5F2D"/>
          </a:solidFill>
          <a:ln/>
        </p:spPr>
        <p:txBody>
          <a:bodyPr/>
          <a:lstStyle/>
          <a:p>
            <a:endParaRPr lang="en-US"/>
          </a:p>
        </p:txBody>
      </p:sp>
      <p:sp>
        <p:nvSpPr>
          <p:cNvPr id="50" name="Text 48"/>
          <p:cNvSpPr/>
          <p:nvPr/>
        </p:nvSpPr>
        <p:spPr>
          <a:xfrm>
            <a:off x="6675120" y="4261104"/>
            <a:ext cx="4983480" cy="274320"/>
          </a:xfrm>
          <a:prstGeom prst="rect">
            <a:avLst/>
          </a:prstGeom>
          <a:noFill/>
          <a:ln/>
        </p:spPr>
        <p:txBody>
          <a:bodyPr wrap="square" rtlCol="0" anchor="ctr"/>
          <a:lstStyle/>
          <a:p>
            <a:pPr marL="0" indent="0">
              <a:buNone/>
            </a:pPr>
            <a:r>
              <a:rPr lang="en-US" sz="1200" b="1" dirty="0">
                <a:solidFill>
                  <a:srgbClr val="2E2E2E"/>
                </a:solidFill>
                <a:latin typeface="Calibri" pitchFamily="34" charset="0"/>
                <a:ea typeface="Calibri" pitchFamily="34" charset="-122"/>
                <a:cs typeface="Calibri" pitchFamily="34" charset="-120"/>
              </a:rPr>
              <a:t>All 532 older tracts passed the crosswalk overlap-share check</a:t>
            </a:r>
            <a:endParaRPr lang="en-US" sz="1200" dirty="0"/>
          </a:p>
        </p:txBody>
      </p:sp>
      <p:sp>
        <p:nvSpPr>
          <p:cNvPr id="51" name="Text 49"/>
          <p:cNvSpPr/>
          <p:nvPr/>
        </p:nvSpPr>
        <p:spPr>
          <a:xfrm>
            <a:off x="6675120" y="4526280"/>
            <a:ext cx="4983480" cy="256032"/>
          </a:xfrm>
          <a:prstGeom prst="rect">
            <a:avLst/>
          </a:prstGeom>
          <a:noFill/>
          <a:ln/>
        </p:spPr>
        <p:txBody>
          <a:bodyPr wrap="square" rtlCol="0" anchor="ctr"/>
          <a:lstStyle/>
          <a:p>
            <a:pPr marL="0" indent="0">
              <a:buNone/>
            </a:pPr>
            <a:r>
              <a:rPr lang="en-US" sz="1050" dirty="0">
                <a:solidFill>
                  <a:srgbClr val="6B6B6B"/>
                </a:solidFill>
                <a:latin typeface="Calibri" pitchFamily="34" charset="0"/>
                <a:ea typeface="Calibri" pitchFamily="34" charset="-122"/>
                <a:cs typeface="Calibri" pitchFamily="34" charset="-120"/>
              </a:rPr>
              <a:t>shares approximately 1 (0.99–1.01)</a:t>
            </a:r>
            <a:endParaRPr lang="en-US" sz="1050" dirty="0"/>
          </a:p>
        </p:txBody>
      </p:sp>
      <p:sp>
        <p:nvSpPr>
          <p:cNvPr id="52" name="Text 50"/>
          <p:cNvSpPr/>
          <p:nvPr/>
        </p:nvSpPr>
        <p:spPr>
          <a:xfrm>
            <a:off x="6492240" y="4937760"/>
            <a:ext cx="5212080" cy="1097280"/>
          </a:xfrm>
          <a:prstGeom prst="rect">
            <a:avLst/>
          </a:prstGeom>
          <a:noFill/>
          <a:ln/>
        </p:spPr>
        <p:txBody>
          <a:bodyPr wrap="square" rtlCol="0" anchor="t"/>
          <a:lstStyle/>
          <a:p>
            <a:pPr marL="0" indent="0">
              <a:buNone/>
            </a:pPr>
            <a:r>
              <a:rPr lang="en-US" sz="1100" i="1" dirty="0">
                <a:solidFill>
                  <a:srgbClr val="6B6B6B"/>
                </a:solidFill>
                <a:latin typeface="Calibri" pitchFamily="34" charset="0"/>
                <a:ea typeface="Calibri" pitchFamily="34" charset="-122"/>
                <a:cs typeface="Calibri" pitchFamily="34" charset="-120"/>
              </a:rPr>
              <a:t>Why it matters: these checks flag duplicate IDs, missing essential values, implausible counts, and incomplete geographic relationships before data enters the workflow. They cover only the fields and conditions tested, and do not validate every field of the 2019 workbook.</a:t>
            </a:r>
            <a:endParaRPr lang="en-US" sz="1100" dirty="0"/>
          </a:p>
        </p:txBody>
      </p:sp>
      <p:sp>
        <p:nvSpPr>
          <p:cNvPr id="53" name="Text 51"/>
          <p:cNvSpPr/>
          <p:nvPr/>
        </p:nvSpPr>
        <p:spPr>
          <a:xfrm>
            <a:off x="365760" y="6537960"/>
            <a:ext cx="7315200" cy="274320"/>
          </a:xfrm>
          <a:prstGeom prst="rect">
            <a:avLst/>
          </a:prstGeom>
          <a:noFill/>
          <a:ln/>
        </p:spPr>
        <p:txBody>
          <a:bodyPr wrap="square"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Decision Dashboard for Urban Food Production — Weekly Progress</a:t>
            </a:r>
            <a:endParaRPr lang="en-US" sz="1000" dirty="0"/>
          </a:p>
        </p:txBody>
      </p:sp>
      <p:sp>
        <p:nvSpPr>
          <p:cNvPr id="54" name="Text 52"/>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4</a:t>
            </a:r>
            <a:endParaRPr lang="en-US" sz="1000" dirty="0"/>
          </a:p>
        </p:txBody>
      </p:sp>
      <p:sp>
        <p:nvSpPr>
          <p:cNvPr id="55" name="Text 53"/>
          <p:cNvSpPr/>
          <p:nvPr/>
        </p:nvSpPr>
        <p:spPr>
          <a:xfrm>
            <a:off x="457200" y="6217920"/>
            <a:ext cx="11247120" cy="274320"/>
          </a:xfrm>
          <a:prstGeom prst="rect">
            <a:avLst/>
          </a:prstGeom>
          <a:noFill/>
          <a:ln/>
        </p:spPr>
        <p:txBody>
          <a:bodyPr wrap="square"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Source: USDA ERS Food Access Research Atlas workbooks; project scripts (inventory and input-validation checks)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0"/>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2C5F2D"/>
          </a:solidFill>
          <a:ln/>
        </p:spPr>
        <p:txBody>
          <a:bodyPr/>
          <a:lstStyle/>
          <a:p>
            <a:endParaRPr lang="en-US"/>
          </a:p>
        </p:txBody>
      </p:sp>
      <p:sp>
        <p:nvSpPr>
          <p:cNvPr id="3" name="Text 1"/>
          <p:cNvSpPr/>
          <p:nvPr/>
        </p:nvSpPr>
        <p:spPr>
          <a:xfrm>
            <a:off x="457200" y="256032"/>
            <a:ext cx="1124712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Census Tract Geography: A Compatibility Problem</a:t>
            </a:r>
            <a:endParaRPr lang="en-US" sz="2800" dirty="0"/>
          </a:p>
        </p:txBody>
      </p:sp>
      <p:sp>
        <p:nvSpPr>
          <p:cNvPr id="4" name="Text 2"/>
          <p:cNvSpPr/>
          <p:nvPr/>
        </p:nvSpPr>
        <p:spPr>
          <a:xfrm>
            <a:off x="457200" y="1234440"/>
            <a:ext cx="11247120" cy="502920"/>
          </a:xfrm>
          <a:prstGeom prst="rect">
            <a:avLst/>
          </a:prstGeom>
          <a:noFill/>
          <a:ln/>
        </p:spPr>
        <p:txBody>
          <a:bodyPr wrap="square" rtlCol="0" anchor="t"/>
          <a:lstStyle/>
          <a:p>
            <a:pPr marL="0" indent="0">
              <a:buNone/>
            </a:pPr>
            <a:r>
              <a:rPr lang="en-US" sz="1350" b="1" dirty="0">
                <a:solidFill>
                  <a:srgbClr val="2C5F2D"/>
                </a:solidFill>
                <a:latin typeface="Calibri" pitchFamily="34" charset="0"/>
                <a:ea typeface="Calibri" pitchFamily="34" charset="-122"/>
                <a:cs typeface="Calibri" pitchFamily="34" charset="-120"/>
              </a:rPr>
              <a:t>Tract IDs and boundaries change between census vintages, so a direct ID match does not guarantee geographic equivalence.</a:t>
            </a:r>
            <a:endParaRPr lang="en-US" sz="1350" dirty="0"/>
          </a:p>
        </p:txBody>
      </p:sp>
      <p:sp>
        <p:nvSpPr>
          <p:cNvPr id="5" name="Shape 3"/>
          <p:cNvSpPr/>
          <p:nvPr/>
        </p:nvSpPr>
        <p:spPr>
          <a:xfrm>
            <a:off x="457200" y="1828800"/>
            <a:ext cx="2743200" cy="1371600"/>
          </a:xfrm>
          <a:prstGeom prst="rect">
            <a:avLst/>
          </a:prstGeom>
          <a:solidFill>
            <a:srgbClr val="2C5F2D"/>
          </a:solidFill>
          <a:ln/>
        </p:spPr>
        <p:txBody>
          <a:bodyPr/>
          <a:lstStyle/>
          <a:p>
            <a:endParaRPr lang="en-US"/>
          </a:p>
        </p:txBody>
      </p:sp>
      <p:sp>
        <p:nvSpPr>
          <p:cNvPr id="6" name="Text 4"/>
          <p:cNvSpPr/>
          <p:nvPr/>
        </p:nvSpPr>
        <p:spPr>
          <a:xfrm>
            <a:off x="457200" y="1874520"/>
            <a:ext cx="2743200" cy="685800"/>
          </a:xfrm>
          <a:prstGeom prst="rect">
            <a:avLst/>
          </a:prstGeom>
          <a:noFill/>
          <a:ln/>
        </p:spPr>
        <p:txBody>
          <a:bodyPr wrap="square"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516 / 516</a:t>
            </a:r>
            <a:endParaRPr lang="en-US" sz="2800" dirty="0"/>
          </a:p>
        </p:txBody>
      </p:sp>
      <p:sp>
        <p:nvSpPr>
          <p:cNvPr id="7" name="Text 5"/>
          <p:cNvSpPr/>
          <p:nvPr/>
        </p:nvSpPr>
        <p:spPr>
          <a:xfrm>
            <a:off x="548640" y="2560320"/>
            <a:ext cx="2560320" cy="594360"/>
          </a:xfrm>
          <a:prstGeom prst="rect">
            <a:avLst/>
          </a:prstGeom>
          <a:noFill/>
          <a:ln/>
        </p:spPr>
        <p:txBody>
          <a:bodyPr wrap="square" rtlCol="0" anchor="t"/>
          <a:lstStyle/>
          <a:p>
            <a:pPr marL="0" indent="0" algn="ctr">
              <a:buNone/>
            </a:pPr>
            <a:r>
              <a:rPr lang="en-US" sz="1150" dirty="0">
                <a:solidFill>
                  <a:srgbClr val="FFFFFF"/>
                </a:solidFill>
                <a:latin typeface="Calibri" pitchFamily="34" charset="0"/>
                <a:ea typeface="Calibri" pitchFamily="34" charset="-122"/>
                <a:cs typeface="Calibri" pitchFamily="34" charset="-120"/>
              </a:rPr>
              <a:t>2019 boundary IDs matched all project tracts</a:t>
            </a:r>
            <a:endParaRPr lang="en-US" sz="1150" dirty="0"/>
          </a:p>
        </p:txBody>
      </p:sp>
      <p:sp>
        <p:nvSpPr>
          <p:cNvPr id="8" name="Shape 6"/>
          <p:cNvSpPr/>
          <p:nvPr/>
        </p:nvSpPr>
        <p:spPr>
          <a:xfrm>
            <a:off x="3383280" y="1828800"/>
            <a:ext cx="2743200" cy="1371600"/>
          </a:xfrm>
          <a:prstGeom prst="rect">
            <a:avLst/>
          </a:prstGeom>
          <a:solidFill>
            <a:srgbClr val="C98A2B"/>
          </a:solidFill>
          <a:ln/>
        </p:spPr>
        <p:txBody>
          <a:bodyPr/>
          <a:lstStyle/>
          <a:p>
            <a:endParaRPr lang="en-US"/>
          </a:p>
        </p:txBody>
      </p:sp>
      <p:sp>
        <p:nvSpPr>
          <p:cNvPr id="9" name="Text 7"/>
          <p:cNvSpPr/>
          <p:nvPr/>
        </p:nvSpPr>
        <p:spPr>
          <a:xfrm>
            <a:off x="3383280" y="1874520"/>
            <a:ext cx="2743200" cy="685800"/>
          </a:xfrm>
          <a:prstGeom prst="rect">
            <a:avLst/>
          </a:prstGeom>
          <a:noFill/>
          <a:ln/>
        </p:spPr>
        <p:txBody>
          <a:bodyPr wrap="square"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430 / 516</a:t>
            </a:r>
            <a:endParaRPr lang="en-US" sz="2800" dirty="0"/>
          </a:p>
        </p:txBody>
      </p:sp>
      <p:sp>
        <p:nvSpPr>
          <p:cNvPr id="10" name="Text 8"/>
          <p:cNvSpPr/>
          <p:nvPr/>
        </p:nvSpPr>
        <p:spPr>
          <a:xfrm>
            <a:off x="3474720" y="2560320"/>
            <a:ext cx="2560320" cy="594360"/>
          </a:xfrm>
          <a:prstGeom prst="rect">
            <a:avLst/>
          </a:prstGeom>
          <a:noFill/>
          <a:ln/>
        </p:spPr>
        <p:txBody>
          <a:bodyPr wrap="square" rtlCol="0" anchor="t"/>
          <a:lstStyle/>
          <a:p>
            <a:pPr marL="0" indent="0" algn="ctr">
              <a:buNone/>
            </a:pPr>
            <a:r>
              <a:rPr lang="en-US" sz="1150" dirty="0">
                <a:solidFill>
                  <a:srgbClr val="FFFFFF"/>
                </a:solidFill>
                <a:latin typeface="Calibri" pitchFamily="34" charset="0"/>
                <a:ea typeface="Calibri" pitchFamily="34" charset="-122"/>
                <a:cs typeface="Calibri" pitchFamily="34" charset="-120"/>
              </a:rPr>
              <a:t>2020 boundary IDs matched; 86 unmatched</a:t>
            </a:r>
            <a:endParaRPr lang="en-US" sz="11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3383280"/>
          <a:ext cx="5669280" cy="914400"/>
        </p:xfrm>
        <a:graphic>
          <a:graphicData uri="http://schemas.openxmlformats.org/drawingml/2006/table">
            <a:tbl>
              <a:tblPr/>
              <a:tblGrid>
                <a:gridCol w="356616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tblGrid>
              <a:tr h="36576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Recorded diagnostics</a:t>
                      </a:r>
                      <a:endParaRPr lang="en-US" sz="11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2C5F2D"/>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Result</a:t>
                      </a:r>
                      <a:endParaRPr lang="en-US" sz="11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457200">
                <a:tc>
                  <a:txBody>
                    <a:bodyPr/>
                    <a:lstStyle/>
                    <a:p>
                      <a:pPr marL="0" indent="0">
                        <a:buNone/>
                      </a:pPr>
                      <a:r>
                        <a:rPr lang="en-US" sz="1100" dirty="0">
                          <a:solidFill>
                            <a:srgbClr val="2E2E2E"/>
                          </a:solidFill>
                          <a:latin typeface="Calibri" pitchFamily="34" charset="0"/>
                          <a:ea typeface="Calibri" pitchFamily="34" charset="-122"/>
                          <a:cs typeface="Calibri" pitchFamily="34" charset="-120"/>
                        </a:rPr>
                        <a:t>Crosswalk relationship rows</a:t>
                      </a:r>
                      <a:endParaRPr lang="en-US" sz="11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2E2E2E"/>
                          </a:solidFill>
                          <a:latin typeface="Calibri" pitchFamily="34" charset="0"/>
                          <a:ea typeface="Calibri" pitchFamily="34" charset="-122"/>
                          <a:cs typeface="Calibri" pitchFamily="34" charset="-120"/>
                        </a:rPr>
                        <a:t>958</a:t>
                      </a:r>
                      <a:endParaRPr lang="en-US" sz="11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100" dirty="0">
                          <a:solidFill>
                            <a:srgbClr val="2E2E2E"/>
                          </a:solidFill>
                          <a:latin typeface="Calibri" pitchFamily="34" charset="0"/>
                          <a:ea typeface="Calibri" pitchFamily="34" charset="-122"/>
                          <a:cs typeface="Calibri" pitchFamily="34" charset="-120"/>
                        </a:rPr>
                        <a:t>Distinct older tracts in crosswalk</a:t>
                      </a:r>
                      <a:endParaRPr lang="en-US" sz="11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2E2E2E"/>
                          </a:solidFill>
                          <a:latin typeface="Calibri" pitchFamily="34" charset="0"/>
                          <a:ea typeface="Calibri" pitchFamily="34" charset="-122"/>
                          <a:cs typeface="Calibri" pitchFamily="34" charset="-120"/>
                        </a:rPr>
                        <a:t>532 (all passed overlap-share check)</a:t>
                      </a:r>
                      <a:endParaRPr lang="en-US" sz="11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2" name="Text 9"/>
          <p:cNvSpPr/>
          <p:nvPr/>
        </p:nvSpPr>
        <p:spPr>
          <a:xfrm>
            <a:off x="457200" y="5303520"/>
            <a:ext cx="5669280" cy="868680"/>
          </a:xfrm>
          <a:prstGeom prst="rect">
            <a:avLst/>
          </a:prstGeom>
          <a:noFill/>
          <a:ln/>
        </p:spPr>
        <p:txBody>
          <a:bodyPr wrap="square" rtlCol="0" anchor="t"/>
          <a:lstStyle/>
          <a:p>
            <a:pPr marL="0" indent="0">
              <a:buNone/>
            </a:pPr>
            <a:r>
              <a:rPr lang="en-US" sz="1100" i="1" dirty="0">
                <a:solidFill>
                  <a:srgbClr val="6B6B6B"/>
                </a:solidFill>
                <a:latin typeface="Calibri" pitchFamily="34" charset="0"/>
                <a:ea typeface="Calibri" pitchFamily="34" charset="-122"/>
                <a:cs typeface="Calibri" pitchFamily="34" charset="-120"/>
              </a:rPr>
              <a:t>The crosswalk is a relationship table: one older tract can relate to several newer tracts, so 532 need not equal 516.</a:t>
            </a:r>
            <a:endParaRPr lang="en-US" sz="1100" dirty="0"/>
          </a:p>
        </p:txBody>
      </p:sp>
      <p:sp>
        <p:nvSpPr>
          <p:cNvPr id="13" name="Shape 10"/>
          <p:cNvSpPr/>
          <p:nvPr/>
        </p:nvSpPr>
        <p:spPr>
          <a:xfrm>
            <a:off x="6400800" y="1828800"/>
            <a:ext cx="5303520" cy="1920240"/>
          </a:xfrm>
          <a:prstGeom prst="rect">
            <a:avLst/>
          </a:prstGeom>
          <a:solidFill>
            <a:srgbClr val="FFFFFF"/>
          </a:solidFill>
          <a:ln w="19050">
            <a:solidFill>
              <a:srgbClr val="2C5F2D"/>
            </a:solidFill>
            <a:prstDash val="solid"/>
          </a:ln>
        </p:spPr>
        <p:txBody>
          <a:bodyPr/>
          <a:lstStyle/>
          <a:p>
            <a:endParaRPr lang="en-US"/>
          </a:p>
        </p:txBody>
      </p:sp>
      <p:sp>
        <p:nvSpPr>
          <p:cNvPr id="14" name="Text 11"/>
          <p:cNvSpPr/>
          <p:nvPr/>
        </p:nvSpPr>
        <p:spPr>
          <a:xfrm>
            <a:off x="6583680" y="1874520"/>
            <a:ext cx="4937760" cy="320040"/>
          </a:xfrm>
          <a:prstGeom prst="rect">
            <a:avLst/>
          </a:prstGeom>
          <a:noFill/>
          <a:ln/>
        </p:spPr>
        <p:txBody>
          <a:bodyPr wrap="square" rtlCol="0" anchor="ctr"/>
          <a:lstStyle/>
          <a:p>
            <a:pPr marL="0" indent="0">
              <a:buNone/>
            </a:pPr>
            <a:r>
              <a:rPr lang="en-US" sz="1400" b="1" dirty="0">
                <a:solidFill>
                  <a:srgbClr val="2C5F2D"/>
                </a:solidFill>
                <a:latin typeface="Calibri" pitchFamily="34" charset="0"/>
                <a:ea typeface="Calibri" pitchFamily="34" charset="-122"/>
                <a:cs typeface="Calibri" pitchFamily="34" charset="-120"/>
              </a:rPr>
              <a:t>Verified</a:t>
            </a:r>
            <a:endParaRPr lang="en-US" sz="1400" dirty="0"/>
          </a:p>
        </p:txBody>
      </p:sp>
      <p:sp>
        <p:nvSpPr>
          <p:cNvPr id="15" name="Text 12"/>
          <p:cNvSpPr/>
          <p:nvPr/>
        </p:nvSpPr>
        <p:spPr>
          <a:xfrm>
            <a:off x="6583680" y="2194560"/>
            <a:ext cx="4937760" cy="1508760"/>
          </a:xfrm>
          <a:prstGeom prst="rect">
            <a:avLst/>
          </a:prstGeom>
          <a:noFill/>
          <a:ln/>
        </p:spPr>
        <p:txBody>
          <a:bodyPr wrap="square" rtlCol="0" anchor="t"/>
          <a:lstStyle/>
          <a:p>
            <a:pPr marL="342900" indent="-342900">
              <a:spcAft>
                <a:spcPts val="600"/>
              </a:spcAft>
              <a:buSzPct val="100000"/>
              <a:buChar char="•"/>
            </a:pPr>
            <a:r>
              <a:rPr lang="en-US" sz="1200" dirty="0">
                <a:solidFill>
                  <a:srgbClr val="2E2E2E"/>
                </a:solidFill>
                <a:latin typeface="Calibri" pitchFamily="34" charset="0"/>
                <a:ea typeface="Calibri" pitchFamily="34" charset="-122"/>
                <a:cs typeface="Calibri" pitchFamily="34" charset="-120"/>
              </a:rPr>
              <a:t>The working geography of 516 tracts matched all 516 of the 2019 boundary IDs.</a:t>
            </a:r>
            <a:endParaRPr lang="en-US" sz="1200" dirty="0"/>
          </a:p>
          <a:p>
            <a:pPr marL="342900" indent="-342900">
              <a:spcAft>
                <a:spcPts val="600"/>
              </a:spcAft>
              <a:buSzPct val="100000"/>
              <a:buChar char="•"/>
            </a:pPr>
            <a:r>
              <a:rPr lang="en-US" sz="1200" dirty="0">
                <a:solidFill>
                  <a:srgbClr val="2E2E2E"/>
                </a:solidFill>
                <a:latin typeface="Calibri" pitchFamily="34" charset="0"/>
                <a:ea typeface="Calibri" pitchFamily="34" charset="-122"/>
                <a:cs typeface="Calibri" pitchFamily="34" charset="-120"/>
              </a:rPr>
              <a:t>A direct 2020 ID comparison matched only 430 of 516.</a:t>
            </a:r>
            <a:endParaRPr lang="en-US" sz="1200" dirty="0"/>
          </a:p>
        </p:txBody>
      </p:sp>
      <p:sp>
        <p:nvSpPr>
          <p:cNvPr id="16" name="Shape 13"/>
          <p:cNvSpPr/>
          <p:nvPr/>
        </p:nvSpPr>
        <p:spPr>
          <a:xfrm>
            <a:off x="6400800" y="3886200"/>
            <a:ext cx="5303520" cy="2286000"/>
          </a:xfrm>
          <a:prstGeom prst="rect">
            <a:avLst/>
          </a:prstGeom>
          <a:solidFill>
            <a:srgbClr val="FFFFFF"/>
          </a:solidFill>
          <a:ln w="19050">
            <a:solidFill>
              <a:srgbClr val="C98A2B"/>
            </a:solidFill>
            <a:prstDash val="solid"/>
          </a:ln>
        </p:spPr>
        <p:txBody>
          <a:bodyPr/>
          <a:lstStyle/>
          <a:p>
            <a:endParaRPr lang="en-US"/>
          </a:p>
        </p:txBody>
      </p:sp>
      <p:sp>
        <p:nvSpPr>
          <p:cNvPr id="17" name="Text 14"/>
          <p:cNvSpPr/>
          <p:nvPr/>
        </p:nvSpPr>
        <p:spPr>
          <a:xfrm>
            <a:off x="6583680" y="3931920"/>
            <a:ext cx="4937760" cy="320040"/>
          </a:xfrm>
          <a:prstGeom prst="rect">
            <a:avLst/>
          </a:prstGeom>
          <a:noFill/>
          <a:ln/>
        </p:spPr>
        <p:txBody>
          <a:bodyPr wrap="square" rtlCol="0" anchor="ctr"/>
          <a:lstStyle/>
          <a:p>
            <a:pPr marL="0" indent="0">
              <a:buNone/>
            </a:pPr>
            <a:r>
              <a:rPr lang="en-US" sz="1400" b="1" dirty="0">
                <a:solidFill>
                  <a:srgbClr val="C98A2B"/>
                </a:solidFill>
                <a:latin typeface="Calibri" pitchFamily="34" charset="0"/>
                <a:ea typeface="Calibri" pitchFamily="34" charset="-122"/>
                <a:cs typeface="Calibri" pitchFamily="34" charset="-120"/>
              </a:rPr>
              <a:t>Still requires work</a:t>
            </a:r>
            <a:endParaRPr lang="en-US" sz="1400" dirty="0"/>
          </a:p>
        </p:txBody>
      </p:sp>
      <p:sp>
        <p:nvSpPr>
          <p:cNvPr id="18" name="Text 15"/>
          <p:cNvSpPr/>
          <p:nvPr/>
        </p:nvSpPr>
        <p:spPr>
          <a:xfrm>
            <a:off x="6583680" y="4251960"/>
            <a:ext cx="4937760" cy="1874520"/>
          </a:xfrm>
          <a:prstGeom prst="rect">
            <a:avLst/>
          </a:prstGeom>
          <a:noFill/>
          <a:ln/>
        </p:spPr>
        <p:txBody>
          <a:bodyPr wrap="square" rtlCol="0" anchor="t"/>
          <a:lstStyle/>
          <a:p>
            <a:pPr marL="342900" indent="-342900">
              <a:spcAft>
                <a:spcPts val="600"/>
              </a:spcAft>
              <a:buSzPct val="100000"/>
              <a:buChar char="•"/>
            </a:pPr>
            <a:r>
              <a:rPr lang="en-US" sz="1200" dirty="0">
                <a:solidFill>
                  <a:srgbClr val="2E2E2E"/>
                </a:solidFill>
                <a:latin typeface="Calibri" pitchFamily="34" charset="0"/>
                <a:ea typeface="Calibri" pitchFamily="34" charset="-122"/>
                <a:cs typeface="Calibri" pitchFamily="34" charset="-120"/>
              </a:rPr>
              <a:t>The 2019 boundary match validates the project geography; aligning USDA indicators across tract vintages is a separate step that still needs crosswalk evaluation. No universal one-to-one mapping is claimed.</a:t>
            </a:r>
            <a:endParaRPr lang="en-US" sz="1200" dirty="0"/>
          </a:p>
          <a:p>
            <a:pPr marL="342900" indent="-342900">
              <a:spcAft>
                <a:spcPts val="600"/>
              </a:spcAft>
              <a:buSzPct val="100000"/>
              <a:buChar char="•"/>
            </a:pPr>
            <a:r>
              <a:rPr lang="en-US" sz="1200" dirty="0">
                <a:solidFill>
                  <a:srgbClr val="2E2E2E"/>
                </a:solidFill>
                <a:latin typeface="Calibri" pitchFamily="34" charset="0"/>
                <a:ea typeface="Calibri" pitchFamily="34" charset="-122"/>
                <a:cs typeface="Calibri" pitchFamily="34" charset="-120"/>
              </a:rPr>
              <a:t>Population allocation still needs a suitable method; land-area shares alone are not a reliable proxy for where people live.</a:t>
            </a:r>
            <a:endParaRPr lang="en-US" sz="1200" dirty="0"/>
          </a:p>
        </p:txBody>
      </p:sp>
      <p:sp>
        <p:nvSpPr>
          <p:cNvPr id="19" name="Text 16"/>
          <p:cNvSpPr/>
          <p:nvPr/>
        </p:nvSpPr>
        <p:spPr>
          <a:xfrm>
            <a:off x="365760" y="6537960"/>
            <a:ext cx="7315200" cy="274320"/>
          </a:xfrm>
          <a:prstGeom prst="rect">
            <a:avLst/>
          </a:prstGeom>
          <a:noFill/>
          <a:ln/>
        </p:spPr>
        <p:txBody>
          <a:bodyPr wrap="square"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Decision Dashboard for Urban Food Production — Weekly Progress</a:t>
            </a:r>
            <a:endParaRPr lang="en-US" sz="1000" dirty="0"/>
          </a:p>
        </p:txBody>
      </p:sp>
      <p:sp>
        <p:nvSpPr>
          <p:cNvPr id="20" name="Text 17"/>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5</a:t>
            </a:r>
            <a:endParaRPr lang="en-US" sz="1000" dirty="0"/>
          </a:p>
        </p:txBody>
      </p:sp>
      <p:sp>
        <p:nvSpPr>
          <p:cNvPr id="21" name="Text 18"/>
          <p:cNvSpPr/>
          <p:nvPr/>
        </p:nvSpPr>
        <p:spPr>
          <a:xfrm>
            <a:off x="457200" y="6217920"/>
            <a:ext cx="11247120" cy="274320"/>
          </a:xfrm>
          <a:prstGeom prst="rect">
            <a:avLst/>
          </a:prstGeom>
          <a:noFill/>
          <a:ln/>
        </p:spPr>
        <p:txBody>
          <a:bodyPr wrap="square"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Source: Census tract boundary and relationship files; USDA ERS Food Access Research Atlas; project geometry checks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dirty="0">
                <a:solidFill>
                  <a:srgbClr val="2E2E2E"/>
                </a:solidFill>
                <a:latin typeface="Cambria" pitchFamily="34" charset="0"/>
                <a:ea typeface="Cambria" pitchFamily="34" charset="-122"/>
                <a:cs typeface="Cambria" pitchFamily="34" charset="-120"/>
              </a:rPr>
              <a:t>Food-Access Indicator Evaluation and Missingness</a:t>
            </a:r>
            <a:endParaRPr lang="en-US" sz="2800" dirty="0"/>
          </a:p>
        </p:txBody>
      </p:sp>
      <p:sp>
        <p:nvSpPr>
          <p:cNvPr id="3" name="Text 1"/>
          <p:cNvSpPr/>
          <p:nvPr/>
        </p:nvSpPr>
        <p:spPr>
          <a:xfrm>
            <a:off x="457200" y="914400"/>
            <a:ext cx="11247120" cy="365760"/>
          </a:xfrm>
          <a:prstGeom prst="rect">
            <a:avLst/>
          </a:prstGeom>
          <a:noFill/>
          <a:ln/>
        </p:spPr>
        <p:txBody>
          <a:bodyPr wrap="square"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Compared across the 516 project tracts before choosing an indicator</a:t>
            </a:r>
            <a:endParaRPr lang="en-US" sz="1400" dirty="0"/>
          </a:p>
        </p:txBody>
      </p:sp>
      <p:sp>
        <p:nvSpPr>
          <p:cNvPr id="4" name="Text 2"/>
          <p:cNvSpPr/>
          <p:nvPr/>
        </p:nvSpPr>
        <p:spPr>
          <a:xfrm>
            <a:off x="457200" y="1371600"/>
            <a:ext cx="6858000" cy="320040"/>
          </a:xfrm>
          <a:prstGeom prst="rect">
            <a:avLst/>
          </a:prstGeom>
          <a:noFill/>
          <a:ln/>
        </p:spPr>
        <p:txBody>
          <a:bodyPr wrap="square" rtlCol="0" anchor="ctr"/>
          <a:lstStyle/>
          <a:p>
            <a:pPr marL="0" indent="0">
              <a:buNone/>
            </a:pPr>
            <a:r>
              <a:rPr lang="en-US" sz="1400" b="1" dirty="0">
                <a:solidFill>
                  <a:srgbClr val="2C5F2D"/>
                </a:solidFill>
                <a:latin typeface="Calibri" pitchFamily="34" charset="0"/>
                <a:ea typeface="Calibri" pitchFamily="34" charset="-122"/>
                <a:cs typeface="Calibri" pitchFamily="34" charset="-120"/>
              </a:rPr>
              <a:t>Tracts with a value (of 516)</a:t>
            </a:r>
            <a:endParaRPr lang="en-US" sz="1400" dirty="0"/>
          </a:p>
        </p:txBody>
      </p:sp>
      <p:sp>
        <p:nvSpPr>
          <p:cNvPr id="5" name="Text 3"/>
          <p:cNvSpPr/>
          <p:nvPr/>
        </p:nvSpPr>
        <p:spPr>
          <a:xfrm>
            <a:off x="365760" y="1828800"/>
            <a:ext cx="1920240" cy="548640"/>
          </a:xfrm>
          <a:prstGeom prst="rect">
            <a:avLst/>
          </a:prstGeom>
          <a:noFill/>
          <a:ln/>
        </p:spPr>
        <p:txBody>
          <a:bodyPr wrap="square" rtlCol="0" anchor="ctr"/>
          <a:lstStyle/>
          <a:p>
            <a:pPr marL="0" indent="0" algn="r">
              <a:buNone/>
            </a:pPr>
            <a:r>
              <a:rPr lang="en-US" sz="1300" b="1" dirty="0">
                <a:solidFill>
                  <a:srgbClr val="2E2E2E"/>
                </a:solidFill>
                <a:latin typeface="Calibri" pitchFamily="34" charset="0"/>
                <a:ea typeface="Calibri" pitchFamily="34" charset="-122"/>
                <a:cs typeface="Calibri" pitchFamily="34" charset="-120"/>
              </a:rPr>
              <a:t>LA1and10</a:t>
            </a:r>
            <a:endParaRPr lang="en-US" sz="1300" dirty="0"/>
          </a:p>
        </p:txBody>
      </p:sp>
      <p:sp>
        <p:nvSpPr>
          <p:cNvPr id="6" name="Shape 4"/>
          <p:cNvSpPr/>
          <p:nvPr/>
        </p:nvSpPr>
        <p:spPr>
          <a:xfrm>
            <a:off x="2377440" y="1901952"/>
            <a:ext cx="4572000" cy="402336"/>
          </a:xfrm>
          <a:prstGeom prst="rect">
            <a:avLst/>
          </a:prstGeom>
          <a:solidFill>
            <a:srgbClr val="2C5F2D"/>
          </a:solidFill>
          <a:ln/>
        </p:spPr>
        <p:txBody>
          <a:bodyPr/>
          <a:lstStyle/>
          <a:p>
            <a:endParaRPr lang="en-US"/>
          </a:p>
        </p:txBody>
      </p:sp>
      <p:sp>
        <p:nvSpPr>
          <p:cNvPr id="7" name="Text 5"/>
          <p:cNvSpPr/>
          <p:nvPr/>
        </p:nvSpPr>
        <p:spPr>
          <a:xfrm>
            <a:off x="2377440" y="2331720"/>
            <a:ext cx="4937760" cy="274320"/>
          </a:xfrm>
          <a:prstGeom prst="rect">
            <a:avLst/>
          </a:prstGeom>
          <a:noFill/>
          <a:ln/>
        </p:spPr>
        <p:txBody>
          <a:bodyPr wrap="square" rtlCol="0" anchor="ctr"/>
          <a:lstStyle/>
          <a:p>
            <a:pPr marL="0" indent="0">
              <a:buNone/>
            </a:pPr>
            <a:r>
              <a:rPr lang="en-US" sz="1150" dirty="0">
                <a:solidFill>
                  <a:srgbClr val="2E2E2E"/>
                </a:solidFill>
                <a:latin typeface="Calibri" pitchFamily="34" charset="0"/>
                <a:ea typeface="Calibri" pitchFamily="34" charset="-122"/>
                <a:cs typeface="Calibri" pitchFamily="34" charset="-120"/>
              </a:rPr>
              <a:t>516 available · 0 missing</a:t>
            </a:r>
            <a:endParaRPr lang="en-US" sz="1150" dirty="0"/>
          </a:p>
        </p:txBody>
      </p:sp>
      <p:sp>
        <p:nvSpPr>
          <p:cNvPr id="8" name="Text 6"/>
          <p:cNvSpPr/>
          <p:nvPr/>
        </p:nvSpPr>
        <p:spPr>
          <a:xfrm>
            <a:off x="365760" y="2743200"/>
            <a:ext cx="1920240" cy="548640"/>
          </a:xfrm>
          <a:prstGeom prst="rect">
            <a:avLst/>
          </a:prstGeom>
          <a:noFill/>
          <a:ln/>
        </p:spPr>
        <p:txBody>
          <a:bodyPr wrap="square" rtlCol="0" anchor="ctr"/>
          <a:lstStyle/>
          <a:p>
            <a:pPr marL="0" indent="0" algn="r">
              <a:buNone/>
            </a:pPr>
            <a:r>
              <a:rPr lang="en-US" sz="1300" b="1" dirty="0">
                <a:solidFill>
                  <a:srgbClr val="2E2E2E"/>
                </a:solidFill>
                <a:latin typeface="Calibri" pitchFamily="34" charset="0"/>
                <a:ea typeface="Calibri" pitchFamily="34" charset="-122"/>
                <a:cs typeface="Calibri" pitchFamily="34" charset="-120"/>
              </a:rPr>
              <a:t>lapop1share</a:t>
            </a:r>
            <a:endParaRPr lang="en-US" sz="1300" dirty="0"/>
          </a:p>
        </p:txBody>
      </p:sp>
      <p:sp>
        <p:nvSpPr>
          <p:cNvPr id="9" name="Shape 7"/>
          <p:cNvSpPr/>
          <p:nvPr/>
        </p:nvSpPr>
        <p:spPr>
          <a:xfrm>
            <a:off x="2377440" y="2816352"/>
            <a:ext cx="3677093" cy="402336"/>
          </a:xfrm>
          <a:prstGeom prst="rect">
            <a:avLst/>
          </a:prstGeom>
          <a:solidFill>
            <a:srgbClr val="2C5F2D"/>
          </a:solidFill>
          <a:ln/>
        </p:spPr>
        <p:txBody>
          <a:bodyPr/>
          <a:lstStyle/>
          <a:p>
            <a:endParaRPr lang="en-US"/>
          </a:p>
        </p:txBody>
      </p:sp>
      <p:sp>
        <p:nvSpPr>
          <p:cNvPr id="10" name="Shape 8"/>
          <p:cNvSpPr/>
          <p:nvPr/>
        </p:nvSpPr>
        <p:spPr>
          <a:xfrm>
            <a:off x="6054533" y="2816352"/>
            <a:ext cx="894907" cy="402336"/>
          </a:xfrm>
          <a:prstGeom prst="rect">
            <a:avLst/>
          </a:prstGeom>
          <a:solidFill>
            <a:srgbClr val="D9D9D9"/>
          </a:solidFill>
          <a:ln/>
        </p:spPr>
        <p:txBody>
          <a:bodyPr/>
          <a:lstStyle/>
          <a:p>
            <a:endParaRPr lang="en-US"/>
          </a:p>
        </p:txBody>
      </p:sp>
      <p:sp>
        <p:nvSpPr>
          <p:cNvPr id="11" name="Text 9"/>
          <p:cNvSpPr/>
          <p:nvPr/>
        </p:nvSpPr>
        <p:spPr>
          <a:xfrm>
            <a:off x="2377440" y="3246120"/>
            <a:ext cx="4937760" cy="274320"/>
          </a:xfrm>
          <a:prstGeom prst="rect">
            <a:avLst/>
          </a:prstGeom>
          <a:noFill/>
          <a:ln/>
        </p:spPr>
        <p:txBody>
          <a:bodyPr wrap="square" rtlCol="0" anchor="ctr"/>
          <a:lstStyle/>
          <a:p>
            <a:pPr marL="0" indent="0">
              <a:buNone/>
            </a:pPr>
            <a:r>
              <a:rPr lang="en-US" sz="1150" dirty="0">
                <a:solidFill>
                  <a:srgbClr val="2E2E2E"/>
                </a:solidFill>
                <a:latin typeface="Calibri" pitchFamily="34" charset="0"/>
                <a:ea typeface="Calibri" pitchFamily="34" charset="-122"/>
                <a:cs typeface="Calibri" pitchFamily="34" charset="-120"/>
              </a:rPr>
              <a:t>415 available · 101 missing</a:t>
            </a:r>
            <a:endParaRPr lang="en-US" sz="1150" dirty="0"/>
          </a:p>
        </p:txBody>
      </p:sp>
      <p:sp>
        <p:nvSpPr>
          <p:cNvPr id="12" name="Text 10"/>
          <p:cNvSpPr/>
          <p:nvPr/>
        </p:nvSpPr>
        <p:spPr>
          <a:xfrm>
            <a:off x="365760" y="3657600"/>
            <a:ext cx="1920240" cy="548640"/>
          </a:xfrm>
          <a:prstGeom prst="rect">
            <a:avLst/>
          </a:prstGeom>
          <a:noFill/>
          <a:ln/>
        </p:spPr>
        <p:txBody>
          <a:bodyPr wrap="square" rtlCol="0" anchor="ctr"/>
          <a:lstStyle/>
          <a:p>
            <a:pPr marL="0" indent="0" algn="r">
              <a:buNone/>
            </a:pPr>
            <a:r>
              <a:rPr lang="en-US" sz="1300" b="1" dirty="0">
                <a:solidFill>
                  <a:srgbClr val="2E2E2E"/>
                </a:solidFill>
                <a:latin typeface="Calibri" pitchFamily="34" charset="0"/>
                <a:ea typeface="Calibri" pitchFamily="34" charset="-122"/>
                <a:cs typeface="Calibri" pitchFamily="34" charset="-120"/>
              </a:rPr>
              <a:t>LAPOP1_10</a:t>
            </a:r>
            <a:endParaRPr lang="en-US" sz="1300" dirty="0"/>
          </a:p>
        </p:txBody>
      </p:sp>
      <p:sp>
        <p:nvSpPr>
          <p:cNvPr id="13" name="Shape 11"/>
          <p:cNvSpPr/>
          <p:nvPr/>
        </p:nvSpPr>
        <p:spPr>
          <a:xfrm>
            <a:off x="2377440" y="3730752"/>
            <a:ext cx="3136605" cy="402336"/>
          </a:xfrm>
          <a:prstGeom prst="rect">
            <a:avLst/>
          </a:prstGeom>
          <a:solidFill>
            <a:srgbClr val="2C5F2D"/>
          </a:solidFill>
          <a:ln/>
        </p:spPr>
        <p:txBody>
          <a:bodyPr/>
          <a:lstStyle/>
          <a:p>
            <a:endParaRPr lang="en-US"/>
          </a:p>
        </p:txBody>
      </p:sp>
      <p:sp>
        <p:nvSpPr>
          <p:cNvPr id="14" name="Shape 12"/>
          <p:cNvSpPr/>
          <p:nvPr/>
        </p:nvSpPr>
        <p:spPr>
          <a:xfrm>
            <a:off x="5514045" y="3730752"/>
            <a:ext cx="1435395" cy="402336"/>
          </a:xfrm>
          <a:prstGeom prst="rect">
            <a:avLst/>
          </a:prstGeom>
          <a:solidFill>
            <a:srgbClr val="D9D9D9"/>
          </a:solidFill>
          <a:ln/>
        </p:spPr>
        <p:txBody>
          <a:bodyPr/>
          <a:lstStyle/>
          <a:p>
            <a:endParaRPr lang="en-US"/>
          </a:p>
        </p:txBody>
      </p:sp>
      <p:sp>
        <p:nvSpPr>
          <p:cNvPr id="15" name="Text 13"/>
          <p:cNvSpPr/>
          <p:nvPr/>
        </p:nvSpPr>
        <p:spPr>
          <a:xfrm>
            <a:off x="2377440" y="4160520"/>
            <a:ext cx="4937760" cy="274320"/>
          </a:xfrm>
          <a:prstGeom prst="rect">
            <a:avLst/>
          </a:prstGeom>
          <a:noFill/>
          <a:ln/>
        </p:spPr>
        <p:txBody>
          <a:bodyPr wrap="square" rtlCol="0" anchor="ctr"/>
          <a:lstStyle/>
          <a:p>
            <a:pPr marL="0" indent="0">
              <a:buNone/>
            </a:pPr>
            <a:r>
              <a:rPr lang="en-US" sz="1150" dirty="0">
                <a:solidFill>
                  <a:srgbClr val="2E2E2E"/>
                </a:solidFill>
                <a:latin typeface="Calibri" pitchFamily="34" charset="0"/>
                <a:ea typeface="Calibri" pitchFamily="34" charset="-122"/>
                <a:cs typeface="Calibri" pitchFamily="34" charset="-120"/>
              </a:rPr>
              <a:t>354 available · 162 missing</a:t>
            </a:r>
            <a:endParaRPr lang="en-US" sz="1150" dirty="0"/>
          </a:p>
        </p:txBody>
      </p:sp>
      <p:sp>
        <p:nvSpPr>
          <p:cNvPr id="16" name="Text 14"/>
          <p:cNvSpPr/>
          <p:nvPr/>
        </p:nvSpPr>
        <p:spPr>
          <a:xfrm>
            <a:off x="457200" y="4663440"/>
            <a:ext cx="7040880" cy="548640"/>
          </a:xfrm>
          <a:prstGeom prst="rect">
            <a:avLst/>
          </a:prstGeom>
          <a:noFill/>
          <a:ln/>
        </p:spPr>
        <p:txBody>
          <a:bodyPr wrap="square" rtlCol="0" anchor="t"/>
          <a:lstStyle/>
          <a:p>
            <a:pPr marL="0" indent="0">
              <a:buNone/>
            </a:pPr>
            <a:r>
              <a:rPr lang="en-US" sz="1250" b="1" dirty="0">
                <a:solidFill>
                  <a:srgbClr val="A33B2F"/>
                </a:solidFill>
                <a:latin typeface="Calibri" pitchFamily="34" charset="0"/>
                <a:ea typeface="Calibri" pitchFamily="34" charset="-122"/>
                <a:cs typeface="Calibri" pitchFamily="34" charset="-120"/>
              </a:rPr>
              <a:t>Missing means unknown or unavailable — not “no food-access problem.” Missing values are not converted to zero.</a:t>
            </a:r>
            <a:endParaRPr lang="en-US" sz="1250" dirty="0"/>
          </a:p>
        </p:txBody>
      </p:sp>
      <p:sp>
        <p:nvSpPr>
          <p:cNvPr id="17" name="Shape 15"/>
          <p:cNvSpPr/>
          <p:nvPr/>
        </p:nvSpPr>
        <p:spPr>
          <a:xfrm>
            <a:off x="7772400" y="1371600"/>
            <a:ext cx="3931920" cy="2194560"/>
          </a:xfrm>
          <a:prstGeom prst="rect">
            <a:avLst/>
          </a:prstGeom>
          <a:solidFill>
            <a:srgbClr val="F6F5F0"/>
          </a:solidFill>
          <a:ln w="15875">
            <a:solidFill>
              <a:srgbClr val="97BC62"/>
            </a:solidFill>
            <a:prstDash val="solid"/>
          </a:ln>
        </p:spPr>
        <p:txBody>
          <a:bodyPr/>
          <a:lstStyle/>
          <a:p>
            <a:endParaRPr lang="en-US"/>
          </a:p>
        </p:txBody>
      </p:sp>
      <p:sp>
        <p:nvSpPr>
          <p:cNvPr id="18" name="Text 16"/>
          <p:cNvSpPr/>
          <p:nvPr/>
        </p:nvSpPr>
        <p:spPr>
          <a:xfrm>
            <a:off x="7909560" y="1417320"/>
            <a:ext cx="3657600" cy="365760"/>
          </a:xfrm>
          <a:prstGeom prst="rect">
            <a:avLst/>
          </a:prstGeom>
          <a:noFill/>
          <a:ln/>
        </p:spPr>
        <p:txBody>
          <a:bodyPr wrap="square" rtlCol="0" anchor="ctr"/>
          <a:lstStyle/>
          <a:p>
            <a:pPr marL="0" indent="0">
              <a:buNone/>
            </a:pPr>
            <a:r>
              <a:rPr lang="en-US" sz="1400" b="1" dirty="0">
                <a:solidFill>
                  <a:srgbClr val="2C5F2D"/>
                </a:solidFill>
                <a:latin typeface="Calibri" pitchFamily="34" charset="0"/>
                <a:ea typeface="Calibri" pitchFamily="34" charset="-122"/>
                <a:cs typeface="Calibri" pitchFamily="34" charset="-120"/>
              </a:rPr>
              <a:t>LA1and10 mean = 0.432</a:t>
            </a:r>
            <a:endParaRPr lang="en-US" sz="1400" dirty="0"/>
          </a:p>
        </p:txBody>
      </p:sp>
      <p:sp>
        <p:nvSpPr>
          <p:cNvPr id="19" name="Text 17"/>
          <p:cNvSpPr/>
          <p:nvPr/>
        </p:nvSpPr>
        <p:spPr>
          <a:xfrm>
            <a:off x="7909560" y="1783080"/>
            <a:ext cx="3657600" cy="1737360"/>
          </a:xfrm>
          <a:prstGeom prst="rect">
            <a:avLst/>
          </a:prstGeom>
          <a:noFill/>
          <a:ln/>
        </p:spPr>
        <p:txBody>
          <a:bodyPr wrap="square" rtlCol="0" anchor="t"/>
          <a:lstStyle/>
          <a:p>
            <a:pPr marL="0" indent="0">
              <a:buNone/>
            </a:pPr>
            <a:r>
              <a:rPr lang="en-US" sz="1200" dirty="0">
                <a:solidFill>
                  <a:srgbClr val="2E2E2E"/>
                </a:solidFill>
                <a:latin typeface="Calibri" pitchFamily="34" charset="0"/>
                <a:ea typeface="Calibri" pitchFamily="34" charset="-122"/>
                <a:cs typeface="Calibri" pitchFamily="34" charset="-120"/>
              </a:rPr>
              <a:t>It is a binary low-access flag, so 43.2% of the 516 tracts carry the flag (about 223 tracts). It does not mean 43.2% of the population has low food access.</a:t>
            </a:r>
            <a:endParaRPr lang="en-US" sz="1200" dirty="0"/>
          </a:p>
        </p:txBody>
      </p:sp>
      <p:sp>
        <p:nvSpPr>
          <p:cNvPr id="20" name="Shape 18"/>
          <p:cNvSpPr/>
          <p:nvPr/>
        </p:nvSpPr>
        <p:spPr>
          <a:xfrm>
            <a:off x="7772400" y="3703320"/>
            <a:ext cx="3931920" cy="1920240"/>
          </a:xfrm>
          <a:prstGeom prst="rect">
            <a:avLst/>
          </a:prstGeom>
          <a:solidFill>
            <a:srgbClr val="FFFFFF"/>
          </a:solidFill>
          <a:ln w="19050">
            <a:solidFill>
              <a:srgbClr val="C98A2B"/>
            </a:solidFill>
            <a:prstDash val="solid"/>
          </a:ln>
        </p:spPr>
        <p:txBody>
          <a:bodyPr/>
          <a:lstStyle/>
          <a:p>
            <a:endParaRPr lang="en-US"/>
          </a:p>
        </p:txBody>
      </p:sp>
      <p:sp>
        <p:nvSpPr>
          <p:cNvPr id="21" name="Text 19"/>
          <p:cNvSpPr/>
          <p:nvPr/>
        </p:nvSpPr>
        <p:spPr>
          <a:xfrm>
            <a:off x="7909560" y="3749040"/>
            <a:ext cx="3657600" cy="320040"/>
          </a:xfrm>
          <a:prstGeom prst="rect">
            <a:avLst/>
          </a:prstGeom>
          <a:noFill/>
          <a:ln/>
        </p:spPr>
        <p:txBody>
          <a:bodyPr wrap="square" rtlCol="0" anchor="ctr"/>
          <a:lstStyle/>
          <a:p>
            <a:pPr marL="0" indent="0">
              <a:buNone/>
            </a:pPr>
            <a:r>
              <a:rPr lang="en-US" sz="1400" b="1" dirty="0">
                <a:solidFill>
                  <a:srgbClr val="C98A2B"/>
                </a:solidFill>
                <a:latin typeface="Calibri" pitchFamily="34" charset="0"/>
                <a:ea typeface="Calibri" pitchFamily="34" charset="-122"/>
                <a:cs typeface="Calibri" pitchFamily="34" charset="-120"/>
              </a:rPr>
              <a:t>Current position</a:t>
            </a:r>
            <a:endParaRPr lang="en-US" sz="1400" dirty="0"/>
          </a:p>
        </p:txBody>
      </p:sp>
      <p:sp>
        <p:nvSpPr>
          <p:cNvPr id="22" name="Text 20"/>
          <p:cNvSpPr/>
          <p:nvPr/>
        </p:nvSpPr>
        <p:spPr>
          <a:xfrm>
            <a:off x="7909560" y="4069080"/>
            <a:ext cx="3657600" cy="1508760"/>
          </a:xfrm>
          <a:prstGeom prst="rect">
            <a:avLst/>
          </a:prstGeom>
          <a:noFill/>
          <a:ln/>
        </p:spPr>
        <p:txBody>
          <a:bodyPr wrap="square" rtlCol="0" anchor="t"/>
          <a:lstStyle/>
          <a:p>
            <a:pPr marL="0" indent="0">
              <a:buNone/>
            </a:pPr>
            <a:r>
              <a:rPr lang="en-US" sz="1200" dirty="0">
                <a:solidFill>
                  <a:srgbClr val="2E2E2E"/>
                </a:solidFill>
                <a:latin typeface="Calibri" pitchFamily="34" charset="0"/>
                <a:ea typeface="Calibri" pitchFamily="34" charset="-122"/>
                <a:cs typeface="Calibri" pitchFamily="34" charset="-120"/>
              </a:rPr>
              <a:t>LA1and10 is an initial candidate because it covers all 516 tracts. It is not established as the best measure; definitions and completeness of the alternatives are still being compared.</a:t>
            </a:r>
            <a:endParaRPr lang="en-US" sz="1200" dirty="0"/>
          </a:p>
        </p:txBody>
      </p:sp>
      <p:sp>
        <p:nvSpPr>
          <p:cNvPr id="23" name="Text 21"/>
          <p:cNvSpPr/>
          <p:nvPr/>
        </p:nvSpPr>
        <p:spPr>
          <a:xfrm>
            <a:off x="365760" y="6537960"/>
            <a:ext cx="7315200" cy="274320"/>
          </a:xfrm>
          <a:prstGeom prst="rect">
            <a:avLst/>
          </a:prstGeom>
          <a:noFill/>
          <a:ln/>
        </p:spPr>
        <p:txBody>
          <a:bodyPr wrap="square"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Decision Dashboard for Urban Food Production — Weekly Progress</a:t>
            </a:r>
            <a:endParaRPr lang="en-US" sz="1000" dirty="0"/>
          </a:p>
        </p:txBody>
      </p:sp>
      <p:sp>
        <p:nvSpPr>
          <p:cNvPr id="24" name="Text 22"/>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6</a:t>
            </a:r>
            <a:endParaRPr lang="en-US" sz="1000" dirty="0"/>
          </a:p>
        </p:txBody>
      </p:sp>
      <p:sp>
        <p:nvSpPr>
          <p:cNvPr id="25" name="Text 23"/>
          <p:cNvSpPr/>
          <p:nvPr/>
        </p:nvSpPr>
        <p:spPr>
          <a:xfrm>
            <a:off x="457200" y="6217920"/>
            <a:ext cx="11247120" cy="274320"/>
          </a:xfrm>
          <a:prstGeom prst="rect">
            <a:avLst/>
          </a:prstGeom>
          <a:noFill/>
          <a:ln/>
        </p:spPr>
        <p:txBody>
          <a:bodyPr wrap="square"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Source: USDA ERS Food Access Research Atlas (2019); project calculations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dirty="0">
                <a:solidFill>
                  <a:srgbClr val="2E2E2E"/>
                </a:solidFill>
                <a:latin typeface="Cambria" pitchFamily="34" charset="0"/>
                <a:ea typeface="Cambria" pitchFamily="34" charset="-122"/>
                <a:cs typeface="Cambria" pitchFamily="34" charset="-120"/>
              </a:rPr>
              <a:t>Parcel Data Acquisition and Quality</a:t>
            </a:r>
            <a:endParaRPr lang="en-US" sz="2800" dirty="0"/>
          </a:p>
        </p:txBody>
      </p:sp>
      <p:sp>
        <p:nvSpPr>
          <p:cNvPr id="3" name="Text 1"/>
          <p:cNvSpPr/>
          <p:nvPr/>
        </p:nvSpPr>
        <p:spPr>
          <a:xfrm>
            <a:off x="457200" y="914400"/>
            <a:ext cx="11247120" cy="365760"/>
          </a:xfrm>
          <a:prstGeom prst="rect">
            <a:avLst/>
          </a:prstGeom>
          <a:noFill/>
          <a:ln/>
        </p:spPr>
        <p:txBody>
          <a:bodyPr wrap="square"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Kansas City, Missouri Cadastre geodatabase (about 200 MB ZIP) — Parcels layer inspected with Python, GeoPandas, and Pyogrio</a:t>
            </a:r>
            <a:endParaRPr lang="en-US" sz="1400" dirty="0"/>
          </a:p>
        </p:txBody>
      </p:sp>
      <p:sp>
        <p:nvSpPr>
          <p:cNvPr id="4" name="Shape 2"/>
          <p:cNvSpPr/>
          <p:nvPr/>
        </p:nvSpPr>
        <p:spPr>
          <a:xfrm>
            <a:off x="457200" y="1417320"/>
            <a:ext cx="3657600" cy="1051560"/>
          </a:xfrm>
          <a:prstGeom prst="rect">
            <a:avLst/>
          </a:prstGeom>
          <a:solidFill>
            <a:srgbClr val="2C5F2D"/>
          </a:solidFill>
          <a:ln/>
        </p:spPr>
        <p:txBody>
          <a:bodyPr/>
          <a:lstStyle/>
          <a:p>
            <a:endParaRPr lang="en-US"/>
          </a:p>
        </p:txBody>
      </p:sp>
      <p:sp>
        <p:nvSpPr>
          <p:cNvPr id="5" name="Text 3"/>
          <p:cNvSpPr/>
          <p:nvPr/>
        </p:nvSpPr>
        <p:spPr>
          <a:xfrm>
            <a:off x="457200" y="1444752"/>
            <a:ext cx="3657600" cy="594360"/>
          </a:xfrm>
          <a:prstGeom prst="rect">
            <a:avLst/>
          </a:prstGeom>
          <a:noFill/>
          <a:ln/>
        </p:spPr>
        <p:txBody>
          <a:bodyPr wrap="square"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269,834</a:t>
            </a:r>
            <a:endParaRPr lang="en-US" sz="2800" dirty="0"/>
          </a:p>
        </p:txBody>
      </p:sp>
      <p:sp>
        <p:nvSpPr>
          <p:cNvPr id="6" name="Text 4"/>
          <p:cNvSpPr/>
          <p:nvPr/>
        </p:nvSpPr>
        <p:spPr>
          <a:xfrm>
            <a:off x="457200" y="2011680"/>
            <a:ext cx="3657600" cy="365760"/>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parcel records</a:t>
            </a:r>
            <a:endParaRPr lang="en-US" sz="1300" dirty="0"/>
          </a:p>
        </p:txBody>
      </p:sp>
      <p:sp>
        <p:nvSpPr>
          <p:cNvPr id="7" name="Shape 5"/>
          <p:cNvSpPr/>
          <p:nvPr/>
        </p:nvSpPr>
        <p:spPr>
          <a:xfrm>
            <a:off x="4251960" y="1417320"/>
            <a:ext cx="3657600" cy="1051560"/>
          </a:xfrm>
          <a:prstGeom prst="rect">
            <a:avLst/>
          </a:prstGeom>
          <a:solidFill>
            <a:srgbClr val="2C5F2D"/>
          </a:solidFill>
          <a:ln/>
        </p:spPr>
        <p:txBody>
          <a:bodyPr/>
          <a:lstStyle/>
          <a:p>
            <a:endParaRPr lang="en-US"/>
          </a:p>
        </p:txBody>
      </p:sp>
      <p:sp>
        <p:nvSpPr>
          <p:cNvPr id="8" name="Text 6"/>
          <p:cNvSpPr/>
          <p:nvPr/>
        </p:nvSpPr>
        <p:spPr>
          <a:xfrm>
            <a:off x="4251960" y="1444752"/>
            <a:ext cx="3657600" cy="594360"/>
          </a:xfrm>
          <a:prstGeom prst="rect">
            <a:avLst/>
          </a:prstGeom>
          <a:noFill/>
          <a:ln/>
        </p:spPr>
        <p:txBody>
          <a:bodyPr wrap="square"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42</a:t>
            </a:r>
            <a:endParaRPr lang="en-US" sz="2800" dirty="0"/>
          </a:p>
        </p:txBody>
      </p:sp>
      <p:sp>
        <p:nvSpPr>
          <p:cNvPr id="9" name="Text 7"/>
          <p:cNvSpPr/>
          <p:nvPr/>
        </p:nvSpPr>
        <p:spPr>
          <a:xfrm>
            <a:off x="4251960" y="2011680"/>
            <a:ext cx="3657600" cy="365760"/>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columns incl. geometry</a:t>
            </a:r>
            <a:endParaRPr lang="en-US" sz="1300" dirty="0"/>
          </a:p>
        </p:txBody>
      </p:sp>
      <p:sp>
        <p:nvSpPr>
          <p:cNvPr id="10" name="Shape 8"/>
          <p:cNvSpPr/>
          <p:nvPr/>
        </p:nvSpPr>
        <p:spPr>
          <a:xfrm>
            <a:off x="8046720" y="1417320"/>
            <a:ext cx="3657600" cy="1051560"/>
          </a:xfrm>
          <a:prstGeom prst="rect">
            <a:avLst/>
          </a:prstGeom>
          <a:solidFill>
            <a:srgbClr val="2C5F2D"/>
          </a:solidFill>
          <a:ln/>
        </p:spPr>
        <p:txBody>
          <a:bodyPr/>
          <a:lstStyle/>
          <a:p>
            <a:endParaRPr lang="en-US"/>
          </a:p>
        </p:txBody>
      </p:sp>
      <p:sp>
        <p:nvSpPr>
          <p:cNvPr id="11" name="Text 9"/>
          <p:cNvSpPr/>
          <p:nvPr/>
        </p:nvSpPr>
        <p:spPr>
          <a:xfrm>
            <a:off x="8046720" y="1444752"/>
            <a:ext cx="3657600" cy="594360"/>
          </a:xfrm>
          <a:prstGeom prst="rect">
            <a:avLst/>
          </a:prstGeom>
          <a:noFill/>
          <a:ln/>
        </p:spPr>
        <p:txBody>
          <a:bodyPr wrap="square"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MultiPolygon</a:t>
            </a:r>
            <a:endParaRPr lang="en-US" sz="2800" dirty="0"/>
          </a:p>
        </p:txBody>
      </p:sp>
      <p:sp>
        <p:nvSpPr>
          <p:cNvPr id="12" name="Text 10"/>
          <p:cNvSpPr/>
          <p:nvPr/>
        </p:nvSpPr>
        <p:spPr>
          <a:xfrm>
            <a:off x="8046720" y="2011680"/>
            <a:ext cx="3657600" cy="365760"/>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parcel geometry type</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697480"/>
          <a:ext cx="11247120" cy="914400"/>
        </p:xfrm>
        <a:graphic>
          <a:graphicData uri="http://schemas.openxmlformats.org/drawingml/2006/table">
            <a:tbl>
              <a:tblPr/>
              <a:tblGrid>
                <a:gridCol w="265176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5669280">
                  <a:extLst>
                    <a:ext uri="{9D8B030D-6E8A-4147-A177-3AD203B41FA5}">
                      <a16:colId xmlns:a16="http://schemas.microsoft.com/office/drawing/2014/main" val="20003"/>
                    </a:ext>
                  </a:extLst>
                </a:gridCol>
              </a:tblGrid>
              <a:tr h="384048">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Data quality finding</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2C5F2D"/>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Records</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2C5F2D"/>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Share of 269,834</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2C5F2D"/>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Why it matters</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457200">
                <a:tc>
                  <a:txBody>
                    <a:bodyPr/>
                    <a:lstStyle/>
                    <a:p>
                      <a:pPr marL="0" indent="0">
                        <a:buNone/>
                      </a:pPr>
                      <a:r>
                        <a:rPr lang="en-US" sz="1200" b="1" dirty="0">
                          <a:solidFill>
                            <a:srgbClr val="2E2E2E"/>
                          </a:solidFill>
                          <a:latin typeface="Calibri" pitchFamily="34" charset="0"/>
                          <a:ea typeface="Calibri" pitchFamily="34" charset="-122"/>
                          <a:cs typeface="Calibri" pitchFamily="34" charset="-120"/>
                        </a:rPr>
                        <a:t>Missing land-use code</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E2E2E"/>
                          </a:solidFill>
                          <a:latin typeface="Calibri" pitchFamily="34" charset="0"/>
                          <a:ea typeface="Calibri" pitchFamily="34" charset="-122"/>
                          <a:cs typeface="Calibri" pitchFamily="34" charset="-120"/>
                        </a:rPr>
                        <a:t>69,150</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E2E2E"/>
                          </a:solidFill>
                          <a:latin typeface="Calibri" pitchFamily="34" charset="0"/>
                          <a:ea typeface="Calibri" pitchFamily="34" charset="-122"/>
                          <a:cs typeface="Calibri" pitchFamily="34" charset="-120"/>
                        </a:rPr>
                        <a:t>25.6%</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2E2E2E"/>
                          </a:solidFill>
                          <a:latin typeface="Calibri" pitchFamily="34" charset="0"/>
                          <a:ea typeface="Calibri" pitchFamily="34" charset="-122"/>
                          <a:cs typeface="Calibri" pitchFamily="34" charset="-120"/>
                        </a:rPr>
                        <a:t>Parcels cannot be classified; some vacant parcels may be hidden</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200" b="1" dirty="0">
                          <a:solidFill>
                            <a:srgbClr val="2E2E2E"/>
                          </a:solidFill>
                          <a:latin typeface="Calibri" pitchFamily="34" charset="0"/>
                          <a:ea typeface="Calibri" pitchFamily="34" charset="-122"/>
                          <a:cs typeface="Calibri" pitchFamily="34" charset="-120"/>
                        </a:rPr>
                        <a:t>Missing KIVAPIN</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E2E2E"/>
                          </a:solidFill>
                          <a:latin typeface="Calibri" pitchFamily="34" charset="0"/>
                          <a:ea typeface="Calibri" pitchFamily="34" charset="-122"/>
                          <a:cs typeface="Calibri" pitchFamily="34" charset="-120"/>
                        </a:rPr>
                        <a:t>3,873</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E2E2E"/>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2E2E2E"/>
                          </a:solidFill>
                          <a:latin typeface="Calibri" pitchFamily="34" charset="0"/>
                          <a:ea typeface="Calibri" pitchFamily="34" charset="-122"/>
                          <a:cs typeface="Calibri" pitchFamily="34" charset="-120"/>
                        </a:rPr>
                        <a:t>No parcel ID to link or de-duplicate</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1200" b="1" dirty="0">
                          <a:solidFill>
                            <a:srgbClr val="2E2E2E"/>
                          </a:solidFill>
                          <a:latin typeface="Calibri" pitchFamily="34" charset="0"/>
                          <a:ea typeface="Calibri" pitchFamily="34" charset="-122"/>
                          <a:cs typeface="Calibri" pitchFamily="34" charset="-120"/>
                        </a:rPr>
                        <a:t>Duplicate KIVAPIN rows</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E2E2E"/>
                          </a:solidFill>
                          <a:latin typeface="Calibri" pitchFamily="34" charset="0"/>
                          <a:ea typeface="Calibri" pitchFamily="34" charset="-122"/>
                          <a:cs typeface="Calibri" pitchFamily="34" charset="-120"/>
                        </a:rPr>
                        <a:t>3,909</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E2E2E"/>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2E2E2E"/>
                          </a:solidFill>
                          <a:latin typeface="Calibri" pitchFamily="34" charset="0"/>
                          <a:ea typeface="Calibri" pitchFamily="34" charset="-122"/>
                          <a:cs typeface="Calibri" pitchFamily="34" charset="-120"/>
                        </a:rPr>
                        <a:t>Risk of double-counting (blank IDs may count as repeats; 265,924 unique IDs)</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200" b="1" dirty="0">
                          <a:solidFill>
                            <a:srgbClr val="2E2E2E"/>
                          </a:solidFill>
                          <a:latin typeface="Calibri" pitchFamily="34" charset="0"/>
                          <a:ea typeface="Calibri" pitchFamily="34" charset="-122"/>
                          <a:cs typeface="Calibri" pitchFamily="34" charset="-120"/>
                        </a:rPr>
                        <a:t>Invalid geometries</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E2E2E"/>
                          </a:solidFill>
                          <a:latin typeface="Calibri" pitchFamily="34" charset="0"/>
                          <a:ea typeface="Calibri" pitchFamily="34" charset="-122"/>
                          <a:cs typeface="Calibri" pitchFamily="34" charset="-120"/>
                        </a:rPr>
                        <a:t>78</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E2E2E"/>
                          </a:solidFill>
                          <a:latin typeface="Calibri" pitchFamily="34" charset="0"/>
                          <a:ea typeface="Calibri" pitchFamily="34" charset="-122"/>
                          <a:cs typeface="Calibri" pitchFamily="34" charset="-120"/>
                        </a:rPr>
                        <a:t>&lt;0.1%</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2E2E2E"/>
                          </a:solidFill>
                          <a:latin typeface="Calibri" pitchFamily="34" charset="0"/>
                          <a:ea typeface="Calibri" pitchFamily="34" charset="-122"/>
                          <a:cs typeface="Calibri" pitchFamily="34" charset="-120"/>
                        </a:rPr>
                        <a:t>Can break area and intersection calculations</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200" b="1" dirty="0">
                          <a:solidFill>
                            <a:srgbClr val="2E2E2E"/>
                          </a:solidFill>
                          <a:latin typeface="Calibri" pitchFamily="34" charset="0"/>
                          <a:ea typeface="Calibri" pitchFamily="34" charset="-122"/>
                          <a:cs typeface="Calibri" pitchFamily="34" charset="-120"/>
                        </a:rPr>
                        <a:t>Missing geometry</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E2E2E"/>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E2E2E"/>
                          </a:solidFill>
                          <a:latin typeface="Calibri" pitchFamily="34" charset="0"/>
                          <a:ea typeface="Calibri" pitchFamily="34" charset="-122"/>
                          <a:cs typeface="Calibri" pitchFamily="34" charset="-120"/>
                        </a:rPr>
                        <a:t>&lt;0.1%</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2E2E2E"/>
                          </a:solidFill>
                          <a:latin typeface="Calibri" pitchFamily="34" charset="0"/>
                          <a:ea typeface="Calibri" pitchFamily="34" charset="-122"/>
                          <a:cs typeface="Calibri" pitchFamily="34" charset="-120"/>
                        </a:rPr>
                        <a:t>Cannot be placed on a map</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4" name="Text 11"/>
          <p:cNvSpPr/>
          <p:nvPr/>
        </p:nvSpPr>
        <p:spPr>
          <a:xfrm>
            <a:off x="457200" y="5577840"/>
            <a:ext cx="11247120" cy="457200"/>
          </a:xfrm>
          <a:prstGeom prst="rect">
            <a:avLst/>
          </a:prstGeom>
          <a:noFill/>
          <a:ln/>
        </p:spPr>
        <p:txBody>
          <a:bodyPr wrap="square" rtlCol="0" anchor="ctr"/>
          <a:lstStyle/>
          <a:p>
            <a:pPr marL="0" indent="0">
              <a:buNone/>
            </a:pPr>
            <a:r>
              <a:rPr lang="en-US" sz="1250" i="1" dirty="0">
                <a:solidFill>
                  <a:srgbClr val="6B6B6B"/>
                </a:solidFill>
                <a:latin typeface="Calibri" pitchFamily="34" charset="0"/>
                <a:ea typeface="Calibri" pitchFamily="34" charset="-122"/>
                <a:cs typeface="Calibri" pitchFamily="34" charset="-120"/>
              </a:rPr>
              <a:t>Records are flagged, not automatically deleted — each issue needs investigation first, since removing rows could drop real parcels or bias the counts.</a:t>
            </a:r>
            <a:endParaRPr lang="en-US" sz="1250" dirty="0"/>
          </a:p>
        </p:txBody>
      </p:sp>
      <p:sp>
        <p:nvSpPr>
          <p:cNvPr id="15" name="Text 12"/>
          <p:cNvSpPr/>
          <p:nvPr/>
        </p:nvSpPr>
        <p:spPr>
          <a:xfrm>
            <a:off x="365760" y="6537960"/>
            <a:ext cx="7315200" cy="274320"/>
          </a:xfrm>
          <a:prstGeom prst="rect">
            <a:avLst/>
          </a:prstGeom>
          <a:noFill/>
          <a:ln/>
        </p:spPr>
        <p:txBody>
          <a:bodyPr wrap="square"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Decision Dashboard for Urban Food Production — Weekly Progress</a:t>
            </a:r>
            <a:endParaRPr lang="en-US" sz="1000" dirty="0"/>
          </a:p>
        </p:txBody>
      </p:sp>
      <p:sp>
        <p:nvSpPr>
          <p:cNvPr id="16" name="Text 13"/>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7</a:t>
            </a:r>
            <a:endParaRPr lang="en-US" sz="1000" dirty="0"/>
          </a:p>
        </p:txBody>
      </p:sp>
      <p:sp>
        <p:nvSpPr>
          <p:cNvPr id="17" name="Text 14"/>
          <p:cNvSpPr/>
          <p:nvPr/>
        </p:nvSpPr>
        <p:spPr>
          <a:xfrm>
            <a:off x="457200" y="6217920"/>
            <a:ext cx="11247120" cy="274320"/>
          </a:xfrm>
          <a:prstGeom prst="rect">
            <a:avLst/>
          </a:prstGeom>
          <a:noFill/>
          <a:ln/>
        </p:spPr>
        <p:txBody>
          <a:bodyPr wrap="square"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Source: KCMO Cadastre geodatabase (Parcels layer); project calculations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dirty="0">
                <a:solidFill>
                  <a:srgbClr val="2E2E2E"/>
                </a:solidFill>
                <a:latin typeface="Cambria" pitchFamily="34" charset="0"/>
                <a:ea typeface="Cambria" pitchFamily="34" charset="-122"/>
                <a:cs typeface="Cambria" pitchFamily="34" charset="-120"/>
              </a:rPr>
              <a:t>Preliminary Vacant-Land Candidates</a:t>
            </a:r>
            <a:endParaRPr lang="en-US" sz="2800" dirty="0"/>
          </a:p>
        </p:txBody>
      </p:sp>
      <p:sp>
        <p:nvSpPr>
          <p:cNvPr id="3" name="Text 1"/>
          <p:cNvSpPr/>
          <p:nvPr/>
        </p:nvSpPr>
        <p:spPr>
          <a:xfrm>
            <a:off x="457200" y="914400"/>
            <a:ext cx="11247120" cy="365760"/>
          </a:xfrm>
          <a:prstGeom prst="rect">
            <a:avLst/>
          </a:prstGeom>
          <a:noFill/>
          <a:ln/>
        </p:spPr>
        <p:txBody>
          <a:bodyPr wrap="square"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Screening by official KCMO land-use codes — a first filter, not proof of availability or suitability</a:t>
            </a:r>
            <a:endParaRPr lang="en-US" sz="1400" dirty="0"/>
          </a:p>
        </p:txBody>
      </p:sp>
      <p:sp>
        <p:nvSpPr>
          <p:cNvPr id="4" name="Text 2"/>
          <p:cNvSpPr/>
          <p:nvPr/>
        </p:nvSpPr>
        <p:spPr>
          <a:xfrm>
            <a:off x="457200" y="1371600"/>
            <a:ext cx="5486400" cy="320040"/>
          </a:xfrm>
          <a:prstGeom prst="rect">
            <a:avLst/>
          </a:prstGeom>
          <a:noFill/>
          <a:ln/>
        </p:spPr>
        <p:txBody>
          <a:bodyPr wrap="square" rtlCol="0" anchor="ctr"/>
          <a:lstStyle/>
          <a:p>
            <a:pPr marL="0" indent="0">
              <a:buNone/>
            </a:pPr>
            <a:r>
              <a:rPr lang="en-US" sz="1400" b="1" dirty="0">
                <a:solidFill>
                  <a:srgbClr val="2C5F2D"/>
                </a:solidFill>
                <a:latin typeface="Calibri" pitchFamily="34" charset="0"/>
                <a:ea typeface="Calibri" pitchFamily="34" charset="-122"/>
                <a:cs typeface="Calibri" pitchFamily="34" charset="-120"/>
              </a:rPr>
              <a:t>Codes identified in KCMO GIS documentation</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5760720" cy="914400"/>
        </p:xfrm>
        <a:graphic>
          <a:graphicData uri="http://schemas.openxmlformats.org/drawingml/2006/table">
            <a:tbl>
              <a:tblPr/>
              <a:tblGrid>
                <a:gridCol w="82296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384048">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Code</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2C5F2D"/>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Classification</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2C5F2D"/>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Use here</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384048">
                <a:tc>
                  <a:txBody>
                    <a:bodyPr/>
                    <a:lstStyle/>
                    <a:p>
                      <a:pPr marL="0" indent="0">
                        <a:buNone/>
                      </a:pPr>
                      <a:r>
                        <a:rPr lang="en-US" sz="1150" b="1" dirty="0">
                          <a:solidFill>
                            <a:srgbClr val="2E2E2E"/>
                          </a:solidFill>
                          <a:latin typeface="Calibri" pitchFamily="34" charset="0"/>
                          <a:ea typeface="Calibri" pitchFamily="34" charset="-122"/>
                          <a:cs typeface="Calibri" pitchFamily="34" charset="-120"/>
                        </a:rPr>
                        <a:t>9500</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50" dirty="0">
                          <a:solidFill>
                            <a:srgbClr val="2E2E2E"/>
                          </a:solidFill>
                          <a:latin typeface="Calibri" pitchFamily="34" charset="0"/>
                          <a:ea typeface="Calibri" pitchFamily="34" charset="-122"/>
                          <a:cs typeface="Calibri" pitchFamily="34" charset="-120"/>
                        </a:rPr>
                        <a:t>Vacant Residential</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5F2D"/>
                          </a:solidFill>
                          <a:latin typeface="Calibri" pitchFamily="34" charset="0"/>
                          <a:ea typeface="Calibri" pitchFamily="34" charset="-122"/>
                          <a:cs typeface="Calibri" pitchFamily="34" charset="-120"/>
                        </a:rPr>
                        <a:t>Selected</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150" b="1" dirty="0">
                          <a:solidFill>
                            <a:srgbClr val="2E2E2E"/>
                          </a:solidFill>
                          <a:latin typeface="Calibri" pitchFamily="34" charset="0"/>
                          <a:ea typeface="Calibri" pitchFamily="34" charset="-122"/>
                          <a:cs typeface="Calibri" pitchFamily="34" charset="-120"/>
                        </a:rPr>
                        <a:t>9600</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50" dirty="0">
                          <a:solidFill>
                            <a:srgbClr val="2E2E2E"/>
                          </a:solidFill>
                          <a:latin typeface="Calibri" pitchFamily="34" charset="0"/>
                          <a:ea typeface="Calibri" pitchFamily="34" charset="-122"/>
                          <a:cs typeface="Calibri" pitchFamily="34" charset="-120"/>
                        </a:rPr>
                        <a:t>Vacant Non-Residential (incl. billboards)</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5F2D"/>
                          </a:solidFill>
                          <a:latin typeface="Calibri" pitchFamily="34" charset="0"/>
                          <a:ea typeface="Calibri" pitchFamily="34" charset="-122"/>
                          <a:cs typeface="Calibri" pitchFamily="34" charset="-120"/>
                        </a:rPr>
                        <a:t>Selected</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150" dirty="0">
                          <a:solidFill>
                            <a:srgbClr val="2E2E2E"/>
                          </a:solidFill>
                          <a:latin typeface="Calibri" pitchFamily="34" charset="0"/>
                          <a:ea typeface="Calibri" pitchFamily="34" charset="-122"/>
                          <a:cs typeface="Calibri" pitchFamily="34" charset="-120"/>
                        </a:rPr>
                        <a:t>9400</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50" dirty="0">
                          <a:solidFill>
                            <a:srgbClr val="2E2E2E"/>
                          </a:solidFill>
                          <a:latin typeface="Calibri" pitchFamily="34" charset="0"/>
                          <a:ea typeface="Calibri" pitchFamily="34" charset="-122"/>
                          <a:cs typeface="Calibri" pitchFamily="34" charset="-120"/>
                        </a:rPr>
                        <a:t>Permanent Open Space (e.g., flood)</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6B6B6B"/>
                          </a:solidFill>
                          <a:latin typeface="Calibri" pitchFamily="34" charset="0"/>
                          <a:ea typeface="Calibri" pitchFamily="34" charset="-122"/>
                          <a:cs typeface="Calibri" pitchFamily="34" charset="-120"/>
                        </a:rPr>
                        <a:t>Not selected</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150" dirty="0">
                          <a:solidFill>
                            <a:srgbClr val="2E2E2E"/>
                          </a:solidFill>
                          <a:latin typeface="Calibri" pitchFamily="34" charset="0"/>
                          <a:ea typeface="Calibri" pitchFamily="34" charset="-122"/>
                          <a:cs typeface="Calibri" pitchFamily="34" charset="-120"/>
                        </a:rPr>
                        <a:t>8100</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50" dirty="0">
                          <a:solidFill>
                            <a:srgbClr val="2E2E2E"/>
                          </a:solidFill>
                          <a:latin typeface="Calibri" pitchFamily="34" charset="0"/>
                          <a:ea typeface="Calibri" pitchFamily="34" charset="-122"/>
                          <a:cs typeface="Calibri" pitchFamily="34" charset="-120"/>
                        </a:rPr>
                        <a:t>Agricultural</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6B6B6B"/>
                          </a:solidFill>
                          <a:latin typeface="Calibri" pitchFamily="34" charset="0"/>
                          <a:ea typeface="Calibri" pitchFamily="34" charset="-122"/>
                          <a:cs typeface="Calibri" pitchFamily="34" charset="-120"/>
                        </a:rPr>
                        <a:t>Not selected</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150" dirty="0">
                          <a:solidFill>
                            <a:srgbClr val="2E2E2E"/>
                          </a:solidFill>
                          <a:latin typeface="Calibri" pitchFamily="34" charset="0"/>
                          <a:ea typeface="Calibri" pitchFamily="34" charset="-122"/>
                          <a:cs typeface="Calibri" pitchFamily="34" charset="-120"/>
                        </a:rPr>
                        <a:t>8200</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50" dirty="0">
                          <a:solidFill>
                            <a:srgbClr val="2E2E2E"/>
                          </a:solidFill>
                          <a:latin typeface="Calibri" pitchFamily="34" charset="0"/>
                          <a:ea typeface="Calibri" pitchFamily="34" charset="-122"/>
                          <a:cs typeface="Calibri" pitchFamily="34" charset="-120"/>
                        </a:rPr>
                        <a:t>Horticultural</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6B6B6B"/>
                          </a:solidFill>
                          <a:latin typeface="Calibri" pitchFamily="34" charset="0"/>
                          <a:ea typeface="Calibri" pitchFamily="34" charset="-122"/>
                          <a:cs typeface="Calibri" pitchFamily="34" charset="-120"/>
                        </a:rPr>
                        <a:t>Not selected</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buNone/>
                      </a:pPr>
                      <a:r>
                        <a:rPr lang="en-US" sz="1150" dirty="0">
                          <a:solidFill>
                            <a:srgbClr val="2E2E2E"/>
                          </a:solidFill>
                          <a:latin typeface="Calibri" pitchFamily="34" charset="0"/>
                          <a:ea typeface="Calibri" pitchFamily="34" charset="-122"/>
                          <a:cs typeface="Calibri" pitchFamily="34" charset="-120"/>
                        </a:rPr>
                        <a:t>1111</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50" dirty="0">
                          <a:solidFill>
                            <a:srgbClr val="2E2E2E"/>
                          </a:solidFill>
                          <a:latin typeface="Calibri" pitchFamily="34" charset="0"/>
                          <a:ea typeface="Calibri" pitchFamily="34" charset="-122"/>
                          <a:cs typeface="Calibri" pitchFamily="34" charset="-120"/>
                        </a:rPr>
                        <a:t>Single Family (Non-Mobile Home Park)</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6B6B6B"/>
                          </a:solidFill>
                          <a:latin typeface="Calibri" pitchFamily="34" charset="0"/>
                          <a:ea typeface="Calibri" pitchFamily="34" charset="-122"/>
                          <a:cs typeface="Calibri" pitchFamily="34" charset="-120"/>
                        </a:rPr>
                        <a:t>Not selected</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Text 3"/>
          <p:cNvSpPr/>
          <p:nvPr/>
        </p:nvSpPr>
        <p:spPr>
          <a:xfrm>
            <a:off x="457200" y="4526280"/>
            <a:ext cx="5760720" cy="457200"/>
          </a:xfrm>
          <a:prstGeom prst="rect">
            <a:avLst/>
          </a:prstGeom>
          <a:noFill/>
          <a:ln/>
        </p:spPr>
        <p:txBody>
          <a:bodyPr wrap="square" rtlCol="0" anchor="ctr"/>
          <a:lstStyle/>
          <a:p>
            <a:pPr marL="0" indent="0">
              <a:buNone/>
            </a:pPr>
            <a:r>
              <a:rPr lang="en-US" sz="1200" i="1" dirty="0">
                <a:solidFill>
                  <a:srgbClr val="6B6B6B"/>
                </a:solidFill>
                <a:latin typeface="Calibri" pitchFamily="34" charset="0"/>
                <a:ea typeface="Calibri" pitchFamily="34" charset="-122"/>
                <a:cs typeface="Calibri" pitchFamily="34" charset="-120"/>
              </a:rPr>
              <a:t>Zero assessed improvement value was not used as the only vacancy test.</a:t>
            </a:r>
            <a:endParaRPr lang="en-US" sz="1200" dirty="0"/>
          </a:p>
        </p:txBody>
      </p:sp>
      <p:sp>
        <p:nvSpPr>
          <p:cNvPr id="7" name="Text 4"/>
          <p:cNvSpPr/>
          <p:nvPr/>
        </p:nvSpPr>
        <p:spPr>
          <a:xfrm>
            <a:off x="6583680" y="1371600"/>
            <a:ext cx="5120640" cy="320040"/>
          </a:xfrm>
          <a:prstGeom prst="rect">
            <a:avLst/>
          </a:prstGeom>
          <a:noFill/>
          <a:ln/>
        </p:spPr>
        <p:txBody>
          <a:bodyPr wrap="square" rtlCol="0" anchor="ctr"/>
          <a:lstStyle/>
          <a:p>
            <a:pPr marL="0" indent="0">
              <a:buNone/>
            </a:pPr>
            <a:r>
              <a:rPr lang="en-US" sz="1400" b="1" dirty="0">
                <a:solidFill>
                  <a:srgbClr val="2C5F2D"/>
                </a:solidFill>
                <a:latin typeface="Calibri" pitchFamily="34" charset="0"/>
                <a:ea typeface="Calibri" pitchFamily="34" charset="-122"/>
                <a:cs typeface="Calibri" pitchFamily="34" charset="-120"/>
              </a:rPr>
              <a:t>Candidate records by code (22,178 total)</a:t>
            </a:r>
            <a:endParaRPr lang="en-US" sz="1400" dirty="0"/>
          </a:p>
        </p:txBody>
      </p:sp>
      <p:sp>
        <p:nvSpPr>
          <p:cNvPr id="8" name="Text 5"/>
          <p:cNvSpPr/>
          <p:nvPr/>
        </p:nvSpPr>
        <p:spPr>
          <a:xfrm>
            <a:off x="6583680" y="1783080"/>
            <a:ext cx="5120640" cy="274320"/>
          </a:xfrm>
          <a:prstGeom prst="rect">
            <a:avLst/>
          </a:prstGeom>
          <a:noFill/>
          <a:ln/>
        </p:spPr>
        <p:txBody>
          <a:bodyPr wrap="square" rtlCol="0" anchor="ctr"/>
          <a:lstStyle/>
          <a:p>
            <a:pPr marL="0" indent="0">
              <a:buNone/>
            </a:pPr>
            <a:r>
              <a:rPr lang="en-US" sz="1150" dirty="0">
                <a:solidFill>
                  <a:srgbClr val="2E2E2E"/>
                </a:solidFill>
                <a:latin typeface="Calibri" pitchFamily="34" charset="0"/>
                <a:ea typeface="Calibri" pitchFamily="34" charset="-122"/>
                <a:cs typeface="Calibri" pitchFamily="34" charset="-120"/>
              </a:rPr>
              <a:t>9500 Vacant Residential</a:t>
            </a:r>
            <a:endParaRPr lang="en-US" sz="1150" dirty="0"/>
          </a:p>
        </p:txBody>
      </p:sp>
      <p:sp>
        <p:nvSpPr>
          <p:cNvPr id="5" name="Shape 6"/>
          <p:cNvSpPr/>
          <p:nvPr/>
        </p:nvSpPr>
        <p:spPr>
          <a:xfrm>
            <a:off x="6583680" y="2075688"/>
            <a:ext cx="3017520" cy="329184"/>
          </a:xfrm>
          <a:prstGeom prst="rect">
            <a:avLst/>
          </a:prstGeom>
          <a:solidFill>
            <a:srgbClr val="2C5F2D"/>
          </a:solidFill>
          <a:ln/>
        </p:spPr>
        <p:txBody>
          <a:bodyPr/>
          <a:lstStyle/>
          <a:p>
            <a:endParaRPr lang="en-US"/>
          </a:p>
        </p:txBody>
      </p:sp>
      <p:sp>
        <p:nvSpPr>
          <p:cNvPr id="10" name="Text 7"/>
          <p:cNvSpPr/>
          <p:nvPr/>
        </p:nvSpPr>
        <p:spPr>
          <a:xfrm>
            <a:off x="9674352" y="2057400"/>
            <a:ext cx="1097280" cy="365760"/>
          </a:xfrm>
          <a:prstGeom prst="rect">
            <a:avLst/>
          </a:prstGeom>
          <a:noFill/>
          <a:ln/>
        </p:spPr>
        <p:txBody>
          <a:bodyPr wrap="square" rtlCol="0" anchor="ctr"/>
          <a:lstStyle/>
          <a:p>
            <a:pPr marL="0" indent="0">
              <a:buNone/>
            </a:pPr>
            <a:r>
              <a:rPr lang="en-US" sz="1250" b="1" dirty="0">
                <a:solidFill>
                  <a:srgbClr val="2E2E2E"/>
                </a:solidFill>
                <a:latin typeface="Calibri" pitchFamily="34" charset="0"/>
                <a:ea typeface="Calibri" pitchFamily="34" charset="-122"/>
                <a:cs typeface="Calibri" pitchFamily="34" charset="-120"/>
              </a:rPr>
              <a:t>18,999</a:t>
            </a:r>
            <a:endParaRPr lang="en-US" sz="1250" dirty="0"/>
          </a:p>
        </p:txBody>
      </p:sp>
      <p:sp>
        <p:nvSpPr>
          <p:cNvPr id="11" name="Text 8"/>
          <p:cNvSpPr/>
          <p:nvPr/>
        </p:nvSpPr>
        <p:spPr>
          <a:xfrm>
            <a:off x="6583680" y="2560320"/>
            <a:ext cx="5120640" cy="274320"/>
          </a:xfrm>
          <a:prstGeom prst="rect">
            <a:avLst/>
          </a:prstGeom>
          <a:noFill/>
          <a:ln/>
        </p:spPr>
        <p:txBody>
          <a:bodyPr wrap="square" rtlCol="0" anchor="ctr"/>
          <a:lstStyle/>
          <a:p>
            <a:pPr marL="0" indent="0">
              <a:buNone/>
            </a:pPr>
            <a:r>
              <a:rPr lang="en-US" sz="1150" dirty="0">
                <a:solidFill>
                  <a:srgbClr val="2E2E2E"/>
                </a:solidFill>
                <a:latin typeface="Calibri" pitchFamily="34" charset="0"/>
                <a:ea typeface="Calibri" pitchFamily="34" charset="-122"/>
                <a:cs typeface="Calibri" pitchFamily="34" charset="-120"/>
              </a:rPr>
              <a:t>9600 Vacant Non-Residential</a:t>
            </a:r>
            <a:endParaRPr lang="en-US" sz="1150" dirty="0"/>
          </a:p>
        </p:txBody>
      </p:sp>
      <p:sp>
        <p:nvSpPr>
          <p:cNvPr id="12" name="Shape 9"/>
          <p:cNvSpPr/>
          <p:nvPr/>
        </p:nvSpPr>
        <p:spPr>
          <a:xfrm>
            <a:off x="6583680" y="2852928"/>
            <a:ext cx="504905" cy="329184"/>
          </a:xfrm>
          <a:prstGeom prst="rect">
            <a:avLst/>
          </a:prstGeom>
          <a:solidFill>
            <a:srgbClr val="C98A2B"/>
          </a:solidFill>
          <a:ln/>
        </p:spPr>
        <p:txBody>
          <a:bodyPr/>
          <a:lstStyle/>
          <a:p>
            <a:endParaRPr lang="en-US"/>
          </a:p>
        </p:txBody>
      </p:sp>
      <p:sp>
        <p:nvSpPr>
          <p:cNvPr id="13" name="Text 10"/>
          <p:cNvSpPr/>
          <p:nvPr/>
        </p:nvSpPr>
        <p:spPr>
          <a:xfrm>
            <a:off x="7161737" y="2834640"/>
            <a:ext cx="1097280" cy="365760"/>
          </a:xfrm>
          <a:prstGeom prst="rect">
            <a:avLst/>
          </a:prstGeom>
          <a:noFill/>
          <a:ln/>
        </p:spPr>
        <p:txBody>
          <a:bodyPr wrap="square" rtlCol="0" anchor="ctr"/>
          <a:lstStyle/>
          <a:p>
            <a:pPr marL="0" indent="0">
              <a:buNone/>
            </a:pPr>
            <a:r>
              <a:rPr lang="en-US" sz="1250" b="1" dirty="0">
                <a:solidFill>
                  <a:srgbClr val="2E2E2E"/>
                </a:solidFill>
                <a:latin typeface="Calibri" pitchFamily="34" charset="0"/>
                <a:ea typeface="Calibri" pitchFamily="34" charset="-122"/>
                <a:cs typeface="Calibri" pitchFamily="34" charset="-120"/>
              </a:rPr>
              <a:t>3,179</a:t>
            </a:r>
            <a:endParaRPr lang="en-US" sz="125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583680" y="3474720"/>
          <a:ext cx="5120640" cy="914400"/>
        </p:xfrm>
        <a:graphic>
          <a:graphicData uri="http://schemas.openxmlformats.org/drawingml/2006/table">
            <a:tbl>
              <a:tblPr/>
              <a:tblGrid>
                <a:gridCol w="23774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384048">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Parcel area (sq ft)</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2C5F2D"/>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Mean</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2C5F2D"/>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Median</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384048">
                <a:tc>
                  <a:txBody>
                    <a:bodyPr/>
                    <a:lstStyle/>
                    <a:p>
                      <a:pPr marL="0" indent="0">
                        <a:buNone/>
                      </a:pPr>
                      <a:r>
                        <a:rPr lang="en-US" sz="1200" dirty="0">
                          <a:solidFill>
                            <a:srgbClr val="2E2E2E"/>
                          </a:solidFill>
                          <a:latin typeface="Calibri" pitchFamily="34" charset="0"/>
                          <a:ea typeface="Calibri" pitchFamily="34" charset="-122"/>
                          <a:cs typeface="Calibri" pitchFamily="34" charset="-120"/>
                        </a:rPr>
                        <a:t>Vacant Residential</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E2E2E"/>
                          </a:solidFill>
                          <a:latin typeface="Calibri" pitchFamily="34" charset="0"/>
                          <a:ea typeface="Calibri" pitchFamily="34" charset="-122"/>
                          <a:cs typeface="Calibri" pitchFamily="34" charset="-120"/>
                        </a:rPr>
                        <a:t>29,642</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E2E2E"/>
                          </a:solidFill>
                          <a:latin typeface="Calibri" pitchFamily="34" charset="0"/>
                          <a:ea typeface="Calibri" pitchFamily="34" charset="-122"/>
                          <a:cs typeface="Calibri" pitchFamily="34" charset="-120"/>
                        </a:rPr>
                        <a:t>5,984</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200" dirty="0">
                          <a:solidFill>
                            <a:srgbClr val="2E2E2E"/>
                          </a:solidFill>
                          <a:latin typeface="Calibri" pitchFamily="34" charset="0"/>
                          <a:ea typeface="Calibri" pitchFamily="34" charset="-122"/>
                          <a:cs typeface="Calibri" pitchFamily="34" charset="-120"/>
                        </a:rPr>
                        <a:t>Vacant Non-Residential</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E2E2E"/>
                          </a:solidFill>
                          <a:latin typeface="Calibri" pitchFamily="34" charset="0"/>
                          <a:ea typeface="Calibri" pitchFamily="34" charset="-122"/>
                          <a:cs typeface="Calibri" pitchFamily="34" charset="-120"/>
                        </a:rPr>
                        <a:t>107,403</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E2E2E"/>
                          </a:solidFill>
                          <a:latin typeface="Calibri" pitchFamily="34" charset="0"/>
                          <a:ea typeface="Calibri" pitchFamily="34" charset="-122"/>
                          <a:cs typeface="Calibri" pitchFamily="34" charset="-120"/>
                        </a:rPr>
                        <a:t>12,277</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5" name="Text 11"/>
          <p:cNvSpPr/>
          <p:nvPr/>
        </p:nvSpPr>
        <p:spPr>
          <a:xfrm>
            <a:off x="6583680" y="4709160"/>
            <a:ext cx="5120640" cy="822960"/>
          </a:xfrm>
          <a:prstGeom prst="rect">
            <a:avLst/>
          </a:prstGeom>
          <a:noFill/>
          <a:ln/>
        </p:spPr>
        <p:txBody>
          <a:bodyPr wrap="square" rtlCol="0" anchor="t"/>
          <a:lstStyle/>
          <a:p>
            <a:pPr marL="0" indent="0">
              <a:buNone/>
            </a:pPr>
            <a:r>
              <a:rPr lang="en-US" sz="1150" i="1" dirty="0">
                <a:solidFill>
                  <a:srgbClr val="6B6B6B"/>
                </a:solidFill>
                <a:latin typeface="Calibri" pitchFamily="34" charset="0"/>
                <a:ea typeface="Calibri" pitchFamily="34" charset="-122"/>
                <a:cs typeface="Calibri" pitchFamily="34" charset="-120"/>
              </a:rPr>
              <a:t>Means sit far above medians in both groups (about 5× and 9×), so a few very large parcels pull the mean up. Larger does not mean more suitable.</a:t>
            </a:r>
            <a:endParaRPr lang="en-US" sz="1150" dirty="0"/>
          </a:p>
        </p:txBody>
      </p:sp>
      <p:sp>
        <p:nvSpPr>
          <p:cNvPr id="16" name="Text 12"/>
          <p:cNvSpPr/>
          <p:nvPr/>
        </p:nvSpPr>
        <p:spPr>
          <a:xfrm>
            <a:off x="457200" y="5120640"/>
            <a:ext cx="5760720" cy="411480"/>
          </a:xfrm>
          <a:prstGeom prst="rect">
            <a:avLst/>
          </a:prstGeom>
          <a:noFill/>
          <a:ln/>
        </p:spPr>
        <p:txBody>
          <a:bodyPr wrap="square" rtlCol="0" anchor="ctr"/>
          <a:lstStyle/>
          <a:p>
            <a:pPr marL="0" indent="0">
              <a:buNone/>
            </a:pPr>
            <a:r>
              <a:rPr lang="en-US" sz="1200" dirty="0">
                <a:solidFill>
                  <a:srgbClr val="2E2E2E"/>
                </a:solidFill>
                <a:latin typeface="Calibri" pitchFamily="34" charset="0"/>
                <a:ea typeface="Calibri" pitchFamily="34" charset="-122"/>
                <a:cs typeface="Calibri" pitchFamily="34" charset="-120"/>
              </a:rPr>
              <a:t>22,177 of the 22,178 candidate records have valid geometry (1 invalid).</a:t>
            </a:r>
            <a:endParaRPr lang="en-US" sz="1200" dirty="0"/>
          </a:p>
        </p:txBody>
      </p:sp>
      <p:sp>
        <p:nvSpPr>
          <p:cNvPr id="14" name="Text 13"/>
          <p:cNvSpPr/>
          <p:nvPr/>
        </p:nvSpPr>
        <p:spPr>
          <a:xfrm>
            <a:off x="365760" y="6537960"/>
            <a:ext cx="7315200" cy="274320"/>
          </a:xfrm>
          <a:prstGeom prst="rect">
            <a:avLst/>
          </a:prstGeom>
          <a:noFill/>
          <a:ln/>
        </p:spPr>
        <p:txBody>
          <a:bodyPr wrap="square"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Decision Dashboard for Urban Food Production — Weekly Progress</a:t>
            </a:r>
            <a:endParaRPr lang="en-US" sz="1000" dirty="0"/>
          </a:p>
        </p:txBody>
      </p:sp>
      <p:sp>
        <p:nvSpPr>
          <p:cNvPr id="18" name="Text 14"/>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8</a:t>
            </a:r>
            <a:endParaRPr lang="en-US" sz="1000" dirty="0"/>
          </a:p>
        </p:txBody>
      </p:sp>
      <p:sp>
        <p:nvSpPr>
          <p:cNvPr id="19" name="Text 15"/>
          <p:cNvSpPr/>
          <p:nvPr/>
        </p:nvSpPr>
        <p:spPr>
          <a:xfrm>
            <a:off x="457200" y="6217920"/>
            <a:ext cx="11247120" cy="274320"/>
          </a:xfrm>
          <a:prstGeom prst="rect">
            <a:avLst/>
          </a:prstGeom>
          <a:noFill/>
          <a:ln/>
        </p:spPr>
        <p:txBody>
          <a:bodyPr wrap="square"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Source: KCMO GIS land-use code documentation; KCMO Cadastre geodatabase; project calculations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dirty="0">
                <a:solidFill>
                  <a:srgbClr val="2E2E2E"/>
                </a:solidFill>
                <a:latin typeface="Cambria" pitchFamily="34" charset="0"/>
                <a:ea typeface="Cambria" pitchFamily="34" charset="-122"/>
                <a:cs typeface="Cambria" pitchFamily="34" charset="-120"/>
              </a:rPr>
              <a:t>Spatial Integration and Results</a:t>
            </a:r>
            <a:endParaRPr lang="en-US" sz="2800" dirty="0"/>
          </a:p>
        </p:txBody>
      </p:sp>
      <p:sp>
        <p:nvSpPr>
          <p:cNvPr id="3" name="Text 1"/>
          <p:cNvSpPr/>
          <p:nvPr/>
        </p:nvSpPr>
        <p:spPr>
          <a:xfrm>
            <a:off x="457200" y="914400"/>
            <a:ext cx="11247120" cy="365760"/>
          </a:xfrm>
          <a:prstGeom prst="rect">
            <a:avLst/>
          </a:prstGeom>
          <a:noFill/>
          <a:ln/>
        </p:spPr>
        <p:txBody>
          <a:bodyPr wrap="square"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From the raw parcel geodatabase to tract-level counts in the project dataset</a:t>
            </a:r>
            <a:endParaRPr lang="en-US" sz="1400" dirty="0"/>
          </a:p>
        </p:txBody>
      </p:sp>
      <p:sp>
        <p:nvSpPr>
          <p:cNvPr id="4" name="Shape 2"/>
          <p:cNvSpPr/>
          <p:nvPr/>
        </p:nvSpPr>
        <p:spPr>
          <a:xfrm>
            <a:off x="457200" y="1463040"/>
            <a:ext cx="2029968" cy="1828800"/>
          </a:xfrm>
          <a:prstGeom prst="rect">
            <a:avLst/>
          </a:prstGeom>
          <a:solidFill>
            <a:srgbClr val="2C5F2D"/>
          </a:solidFill>
          <a:ln/>
        </p:spPr>
        <p:txBody>
          <a:bodyPr/>
          <a:lstStyle/>
          <a:p>
            <a:endParaRPr lang="en-US"/>
          </a:p>
        </p:txBody>
      </p:sp>
      <p:sp>
        <p:nvSpPr>
          <p:cNvPr id="5" name="Text 3"/>
          <p:cNvSpPr/>
          <p:nvPr/>
        </p:nvSpPr>
        <p:spPr>
          <a:xfrm>
            <a:off x="530352" y="1508760"/>
            <a:ext cx="1883664" cy="6400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Raw parcel geodatabase</a:t>
            </a:r>
            <a:endParaRPr lang="en-US" sz="1300" dirty="0"/>
          </a:p>
        </p:txBody>
      </p:sp>
      <p:sp>
        <p:nvSpPr>
          <p:cNvPr id="6" name="Text 4"/>
          <p:cNvSpPr/>
          <p:nvPr/>
        </p:nvSpPr>
        <p:spPr>
          <a:xfrm>
            <a:off x="530352" y="2194560"/>
            <a:ext cx="1883664" cy="1005840"/>
          </a:xfrm>
          <a:prstGeom prst="rect">
            <a:avLst/>
          </a:prstGeom>
          <a:noFill/>
          <a:ln/>
        </p:spPr>
        <p:txBody>
          <a:bodyPr wrap="square" rtlCol="0" anchor="ctr"/>
          <a:lstStyle/>
          <a:p>
            <a:pPr marL="0" indent="0" algn="ctr">
              <a:buNone/>
            </a:pPr>
            <a:r>
              <a:rPr lang="en-US" sz="1250" dirty="0">
                <a:solidFill>
                  <a:srgbClr val="FFFFFF"/>
                </a:solidFill>
                <a:latin typeface="Calibri" pitchFamily="34" charset="0"/>
                <a:ea typeface="Calibri" pitchFamily="34" charset="-122"/>
                <a:cs typeface="Calibri" pitchFamily="34" charset="-120"/>
              </a:rPr>
              <a:t>269,834 records</a:t>
            </a:r>
            <a:endParaRPr lang="en-US" sz="1250" dirty="0"/>
          </a:p>
        </p:txBody>
      </p:sp>
      <p:sp>
        <p:nvSpPr>
          <p:cNvPr id="7" name="Shape 5"/>
          <p:cNvSpPr/>
          <p:nvPr/>
        </p:nvSpPr>
        <p:spPr>
          <a:xfrm>
            <a:off x="2505456" y="2240280"/>
            <a:ext cx="237744" cy="274320"/>
          </a:xfrm>
          <a:prstGeom prst="rightArrow">
            <a:avLst/>
          </a:prstGeom>
          <a:solidFill>
            <a:srgbClr val="97BC62"/>
          </a:solidFill>
          <a:ln/>
        </p:spPr>
        <p:txBody>
          <a:bodyPr/>
          <a:lstStyle/>
          <a:p>
            <a:endParaRPr lang="en-US"/>
          </a:p>
        </p:txBody>
      </p:sp>
      <p:sp>
        <p:nvSpPr>
          <p:cNvPr id="8" name="Shape 6"/>
          <p:cNvSpPr/>
          <p:nvPr/>
        </p:nvSpPr>
        <p:spPr>
          <a:xfrm>
            <a:off x="2761488" y="1463040"/>
            <a:ext cx="2029968" cy="1828800"/>
          </a:xfrm>
          <a:prstGeom prst="rect">
            <a:avLst/>
          </a:prstGeom>
          <a:solidFill>
            <a:srgbClr val="2C5F2D"/>
          </a:solidFill>
          <a:ln/>
        </p:spPr>
        <p:txBody>
          <a:bodyPr/>
          <a:lstStyle/>
          <a:p>
            <a:endParaRPr lang="en-US"/>
          </a:p>
        </p:txBody>
      </p:sp>
      <p:sp>
        <p:nvSpPr>
          <p:cNvPr id="9" name="Text 7"/>
          <p:cNvSpPr/>
          <p:nvPr/>
        </p:nvSpPr>
        <p:spPr>
          <a:xfrm>
            <a:off x="2834640" y="1508760"/>
            <a:ext cx="1883664" cy="6400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Land-use filter</a:t>
            </a:r>
            <a:endParaRPr lang="en-US" sz="1300" dirty="0"/>
          </a:p>
        </p:txBody>
      </p:sp>
      <p:sp>
        <p:nvSpPr>
          <p:cNvPr id="10" name="Text 8"/>
          <p:cNvSpPr/>
          <p:nvPr/>
        </p:nvSpPr>
        <p:spPr>
          <a:xfrm>
            <a:off x="2834640" y="2194560"/>
            <a:ext cx="1883664" cy="1005840"/>
          </a:xfrm>
          <a:prstGeom prst="rect">
            <a:avLst/>
          </a:prstGeom>
          <a:noFill/>
          <a:ln/>
        </p:spPr>
        <p:txBody>
          <a:bodyPr wrap="square" rtlCol="0" anchor="ctr"/>
          <a:lstStyle/>
          <a:p>
            <a:pPr marL="0" indent="0" algn="ctr">
              <a:buNone/>
            </a:pPr>
            <a:r>
              <a:rPr lang="en-US" sz="1250" dirty="0">
                <a:solidFill>
                  <a:srgbClr val="FFFFFF"/>
                </a:solidFill>
                <a:latin typeface="Calibri" pitchFamily="34" charset="0"/>
                <a:ea typeface="Calibri" pitchFamily="34" charset="-122"/>
                <a:cs typeface="Calibri" pitchFamily="34" charset="-120"/>
              </a:rPr>
              <a:t>Codes 9500 + 9600: 22,178 records</a:t>
            </a:r>
            <a:endParaRPr lang="en-US" sz="1250" dirty="0"/>
          </a:p>
        </p:txBody>
      </p:sp>
      <p:sp>
        <p:nvSpPr>
          <p:cNvPr id="11" name="Shape 9"/>
          <p:cNvSpPr/>
          <p:nvPr/>
        </p:nvSpPr>
        <p:spPr>
          <a:xfrm>
            <a:off x="4809744" y="2240280"/>
            <a:ext cx="237744" cy="274320"/>
          </a:xfrm>
          <a:prstGeom prst="rightArrow">
            <a:avLst/>
          </a:prstGeom>
          <a:solidFill>
            <a:srgbClr val="97BC62"/>
          </a:solidFill>
          <a:ln/>
        </p:spPr>
        <p:txBody>
          <a:bodyPr/>
          <a:lstStyle/>
          <a:p>
            <a:endParaRPr lang="en-US"/>
          </a:p>
        </p:txBody>
      </p:sp>
      <p:sp>
        <p:nvSpPr>
          <p:cNvPr id="12" name="Shape 10"/>
          <p:cNvSpPr/>
          <p:nvPr/>
        </p:nvSpPr>
        <p:spPr>
          <a:xfrm>
            <a:off x="5065776" y="1463040"/>
            <a:ext cx="2029968" cy="1828800"/>
          </a:xfrm>
          <a:prstGeom prst="rect">
            <a:avLst/>
          </a:prstGeom>
          <a:solidFill>
            <a:srgbClr val="2C5F2D"/>
          </a:solidFill>
          <a:ln/>
        </p:spPr>
        <p:txBody>
          <a:bodyPr/>
          <a:lstStyle/>
          <a:p>
            <a:endParaRPr lang="en-US"/>
          </a:p>
        </p:txBody>
      </p:sp>
      <p:sp>
        <p:nvSpPr>
          <p:cNvPr id="13" name="Text 11"/>
          <p:cNvSpPr/>
          <p:nvPr/>
        </p:nvSpPr>
        <p:spPr>
          <a:xfrm>
            <a:off x="5138928" y="1508760"/>
            <a:ext cx="1883664" cy="6400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Study-area intersection</a:t>
            </a:r>
            <a:endParaRPr lang="en-US" sz="1300" dirty="0"/>
          </a:p>
        </p:txBody>
      </p:sp>
      <p:sp>
        <p:nvSpPr>
          <p:cNvPr id="14" name="Text 12"/>
          <p:cNvSpPr/>
          <p:nvPr/>
        </p:nvSpPr>
        <p:spPr>
          <a:xfrm>
            <a:off x="5138928" y="2194560"/>
            <a:ext cx="1883664" cy="1005840"/>
          </a:xfrm>
          <a:prstGeom prst="rect">
            <a:avLst/>
          </a:prstGeom>
          <a:noFill/>
          <a:ln/>
        </p:spPr>
        <p:txBody>
          <a:bodyPr wrap="square" rtlCol="0" anchor="ctr"/>
          <a:lstStyle/>
          <a:p>
            <a:pPr marL="0" indent="0" algn="ctr">
              <a:buNone/>
            </a:pPr>
            <a:r>
              <a:rPr lang="en-US" sz="1250" dirty="0">
                <a:solidFill>
                  <a:srgbClr val="FFFFFF"/>
                </a:solidFill>
                <a:latin typeface="Calibri" pitchFamily="34" charset="0"/>
                <a:ea typeface="Calibri" pitchFamily="34" charset="-122"/>
                <a:cs typeface="Calibri" pitchFamily="34" charset="-120"/>
              </a:rPr>
              <a:t>22,141 inside; 37 outside</a:t>
            </a:r>
            <a:endParaRPr lang="en-US" sz="1250" dirty="0"/>
          </a:p>
        </p:txBody>
      </p:sp>
      <p:sp>
        <p:nvSpPr>
          <p:cNvPr id="15" name="Shape 13"/>
          <p:cNvSpPr/>
          <p:nvPr/>
        </p:nvSpPr>
        <p:spPr>
          <a:xfrm>
            <a:off x="7114032" y="2240280"/>
            <a:ext cx="237744" cy="274320"/>
          </a:xfrm>
          <a:prstGeom prst="rightArrow">
            <a:avLst/>
          </a:prstGeom>
          <a:solidFill>
            <a:srgbClr val="97BC62"/>
          </a:solidFill>
          <a:ln/>
        </p:spPr>
        <p:txBody>
          <a:bodyPr/>
          <a:lstStyle/>
          <a:p>
            <a:endParaRPr lang="en-US"/>
          </a:p>
        </p:txBody>
      </p:sp>
      <p:sp>
        <p:nvSpPr>
          <p:cNvPr id="16" name="Shape 14"/>
          <p:cNvSpPr/>
          <p:nvPr/>
        </p:nvSpPr>
        <p:spPr>
          <a:xfrm>
            <a:off x="7370064" y="1463040"/>
            <a:ext cx="2029968" cy="1828800"/>
          </a:xfrm>
          <a:prstGeom prst="rect">
            <a:avLst/>
          </a:prstGeom>
          <a:solidFill>
            <a:srgbClr val="2C5F2D"/>
          </a:solidFill>
          <a:ln/>
        </p:spPr>
        <p:txBody>
          <a:bodyPr/>
          <a:lstStyle/>
          <a:p>
            <a:endParaRPr lang="en-US"/>
          </a:p>
        </p:txBody>
      </p:sp>
      <p:sp>
        <p:nvSpPr>
          <p:cNvPr id="17" name="Text 15"/>
          <p:cNvSpPr/>
          <p:nvPr/>
        </p:nvSpPr>
        <p:spPr>
          <a:xfrm>
            <a:off x="7443216" y="1508760"/>
            <a:ext cx="1883664" cy="6400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Parcel-to-tract assignment</a:t>
            </a:r>
            <a:endParaRPr lang="en-US" sz="1300" dirty="0"/>
          </a:p>
        </p:txBody>
      </p:sp>
      <p:sp>
        <p:nvSpPr>
          <p:cNvPr id="18" name="Text 16"/>
          <p:cNvSpPr/>
          <p:nvPr/>
        </p:nvSpPr>
        <p:spPr>
          <a:xfrm>
            <a:off x="7443216" y="2194560"/>
            <a:ext cx="1883664" cy="1005840"/>
          </a:xfrm>
          <a:prstGeom prst="rect">
            <a:avLst/>
          </a:prstGeom>
          <a:noFill/>
          <a:ln/>
        </p:spPr>
        <p:txBody>
          <a:bodyPr wrap="square" rtlCol="0" anchor="ctr"/>
          <a:lstStyle/>
          <a:p>
            <a:pPr marL="0" indent="0" algn="ctr">
              <a:buNone/>
            </a:pPr>
            <a:r>
              <a:rPr lang="en-US" sz="1250" dirty="0">
                <a:solidFill>
                  <a:srgbClr val="FFFFFF"/>
                </a:solidFill>
                <a:latin typeface="Calibri" pitchFamily="34" charset="0"/>
                <a:ea typeface="Calibri" pitchFamily="34" charset="-122"/>
                <a:cs typeface="Calibri" pitchFamily="34" charset="-120"/>
              </a:rPr>
              <a:t>22,139 assigned; 2 unassigned</a:t>
            </a:r>
            <a:endParaRPr lang="en-US" sz="1250" dirty="0"/>
          </a:p>
        </p:txBody>
      </p:sp>
      <p:sp>
        <p:nvSpPr>
          <p:cNvPr id="19" name="Shape 17"/>
          <p:cNvSpPr/>
          <p:nvPr/>
        </p:nvSpPr>
        <p:spPr>
          <a:xfrm>
            <a:off x="9418320" y="2240280"/>
            <a:ext cx="237744" cy="274320"/>
          </a:xfrm>
          <a:prstGeom prst="rightArrow">
            <a:avLst/>
          </a:prstGeom>
          <a:solidFill>
            <a:srgbClr val="97BC62"/>
          </a:solidFill>
          <a:ln/>
        </p:spPr>
        <p:txBody>
          <a:bodyPr/>
          <a:lstStyle/>
          <a:p>
            <a:endParaRPr lang="en-US"/>
          </a:p>
        </p:txBody>
      </p:sp>
      <p:sp>
        <p:nvSpPr>
          <p:cNvPr id="20" name="Shape 18"/>
          <p:cNvSpPr/>
          <p:nvPr/>
        </p:nvSpPr>
        <p:spPr>
          <a:xfrm>
            <a:off x="9674352" y="1463040"/>
            <a:ext cx="2029968" cy="1828800"/>
          </a:xfrm>
          <a:prstGeom prst="rect">
            <a:avLst/>
          </a:prstGeom>
          <a:solidFill>
            <a:srgbClr val="C98A2B"/>
          </a:solidFill>
          <a:ln/>
        </p:spPr>
        <p:txBody>
          <a:bodyPr/>
          <a:lstStyle/>
          <a:p>
            <a:endParaRPr lang="en-US"/>
          </a:p>
        </p:txBody>
      </p:sp>
      <p:sp>
        <p:nvSpPr>
          <p:cNvPr id="21" name="Text 19"/>
          <p:cNvSpPr/>
          <p:nvPr/>
        </p:nvSpPr>
        <p:spPr>
          <a:xfrm>
            <a:off x="9747504" y="1508760"/>
            <a:ext cx="1883664" cy="6400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Tract-level merge</a:t>
            </a:r>
            <a:endParaRPr lang="en-US" sz="1300" dirty="0"/>
          </a:p>
        </p:txBody>
      </p:sp>
      <p:sp>
        <p:nvSpPr>
          <p:cNvPr id="22" name="Text 20"/>
          <p:cNvSpPr/>
          <p:nvPr/>
        </p:nvSpPr>
        <p:spPr>
          <a:xfrm>
            <a:off x="9747504" y="2194560"/>
            <a:ext cx="1883664" cy="1005840"/>
          </a:xfrm>
          <a:prstGeom prst="rect">
            <a:avLst/>
          </a:prstGeom>
          <a:noFill/>
          <a:ln/>
        </p:spPr>
        <p:txBody>
          <a:bodyPr wrap="square" rtlCol="0" anchor="ctr"/>
          <a:lstStyle/>
          <a:p>
            <a:pPr marL="0" indent="0" algn="ctr">
              <a:buNone/>
            </a:pPr>
            <a:r>
              <a:rPr lang="en-US" sz="1250" dirty="0">
                <a:solidFill>
                  <a:srgbClr val="FFFFFF"/>
                </a:solidFill>
                <a:latin typeface="Calibri" pitchFamily="34" charset="0"/>
                <a:ea typeface="Calibri" pitchFamily="34" charset="-122"/>
                <a:cs typeface="Calibri" pitchFamily="34" charset="-120"/>
              </a:rPr>
              <a:t>516 tracts preserved</a:t>
            </a:r>
            <a:endParaRPr lang="en-US" sz="1250" dirty="0"/>
          </a:p>
        </p:txBody>
      </p:sp>
      <p:sp>
        <p:nvSpPr>
          <p:cNvPr id="23" name="Text 21"/>
          <p:cNvSpPr/>
          <p:nvPr/>
        </p:nvSpPr>
        <p:spPr>
          <a:xfrm>
            <a:off x="457200" y="3429000"/>
            <a:ext cx="11247120" cy="640080"/>
          </a:xfrm>
          <a:prstGeom prst="rect">
            <a:avLst/>
          </a:prstGeom>
          <a:noFill/>
          <a:ln/>
        </p:spPr>
        <p:txBody>
          <a:bodyPr wrap="square" rtlCol="0" anchor="t"/>
          <a:lstStyle/>
          <a:p>
            <a:pPr marL="0" indent="0">
              <a:buNone/>
            </a:pPr>
            <a:r>
              <a:rPr lang="en-US" sz="1250" i="1" dirty="0">
                <a:solidFill>
                  <a:srgbClr val="6B6B6B"/>
                </a:solidFill>
                <a:latin typeface="Calibri" pitchFamily="34" charset="0"/>
                <a:ea typeface="Calibri" pitchFamily="34" charset="-122"/>
                <a:cs typeface="Calibri" pitchFamily="34" charset="-120"/>
              </a:rPr>
              <a:t>Both layers were projected to a common coordinate system first. Each parcel goes to one tract via a representative point (not split). The source is Kansas City, Missouri only, so being inside the study area does not mean metro-wide parcel coverage.</a:t>
            </a:r>
            <a:endParaRPr lang="en-US" sz="1250" dirty="0"/>
          </a:p>
        </p:txBody>
      </p:sp>
      <p:sp>
        <p:nvSpPr>
          <p:cNvPr id="24" name="Text 22"/>
          <p:cNvSpPr/>
          <p:nvPr/>
        </p:nvSpPr>
        <p:spPr>
          <a:xfrm>
            <a:off x="457200" y="4114800"/>
            <a:ext cx="7315200" cy="320040"/>
          </a:xfrm>
          <a:prstGeom prst="rect">
            <a:avLst/>
          </a:prstGeom>
          <a:noFill/>
          <a:ln/>
        </p:spPr>
        <p:txBody>
          <a:bodyPr wrap="square" rtlCol="0" anchor="ctr"/>
          <a:lstStyle/>
          <a:p>
            <a:pPr marL="0" indent="0">
              <a:buNone/>
            </a:pPr>
            <a:r>
              <a:rPr lang="en-US" sz="1400" b="1" dirty="0">
                <a:solidFill>
                  <a:srgbClr val="2C5F2D"/>
                </a:solidFill>
                <a:latin typeface="Calibri" pitchFamily="34" charset="0"/>
                <a:ea typeface="Calibri" pitchFamily="34" charset="-122"/>
                <a:cs typeface="Calibri" pitchFamily="34" charset="-120"/>
              </a:rPr>
              <a:t>Result: tracts with recorded candidate parcels</a:t>
            </a:r>
            <a:endParaRPr lang="en-US" sz="1400" dirty="0"/>
          </a:p>
        </p:txBody>
      </p:sp>
      <p:sp>
        <p:nvSpPr>
          <p:cNvPr id="25" name="Shape 23"/>
          <p:cNvSpPr/>
          <p:nvPr/>
        </p:nvSpPr>
        <p:spPr>
          <a:xfrm>
            <a:off x="457200" y="4526280"/>
            <a:ext cx="3727243" cy="640080"/>
          </a:xfrm>
          <a:prstGeom prst="rect">
            <a:avLst/>
          </a:prstGeom>
          <a:solidFill>
            <a:srgbClr val="2C5F2D"/>
          </a:solidFill>
          <a:ln/>
        </p:spPr>
        <p:txBody>
          <a:bodyPr/>
          <a:lstStyle/>
          <a:p>
            <a:endParaRPr lang="en-US"/>
          </a:p>
        </p:txBody>
      </p:sp>
      <p:sp>
        <p:nvSpPr>
          <p:cNvPr id="26" name="Shape 24"/>
          <p:cNvSpPr/>
          <p:nvPr/>
        </p:nvSpPr>
        <p:spPr>
          <a:xfrm>
            <a:off x="4184443" y="4526280"/>
            <a:ext cx="7519877" cy="640080"/>
          </a:xfrm>
          <a:prstGeom prst="rect">
            <a:avLst/>
          </a:prstGeom>
          <a:solidFill>
            <a:srgbClr val="D9D9D9"/>
          </a:solidFill>
          <a:ln/>
        </p:spPr>
        <p:txBody>
          <a:bodyPr/>
          <a:lstStyle/>
          <a:p>
            <a:endParaRPr lang="en-US"/>
          </a:p>
        </p:txBody>
      </p:sp>
      <p:sp>
        <p:nvSpPr>
          <p:cNvPr id="27" name="Text 25"/>
          <p:cNvSpPr/>
          <p:nvPr/>
        </p:nvSpPr>
        <p:spPr>
          <a:xfrm>
            <a:off x="457200" y="4526280"/>
            <a:ext cx="3727243" cy="6400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171 tracts with candidates</a:t>
            </a:r>
            <a:endParaRPr lang="en-US" sz="1400" dirty="0"/>
          </a:p>
        </p:txBody>
      </p:sp>
      <p:sp>
        <p:nvSpPr>
          <p:cNvPr id="28" name="Text 26"/>
          <p:cNvSpPr/>
          <p:nvPr/>
        </p:nvSpPr>
        <p:spPr>
          <a:xfrm>
            <a:off x="4184443" y="4526280"/>
            <a:ext cx="7519877" cy="640080"/>
          </a:xfrm>
          <a:prstGeom prst="rect">
            <a:avLst/>
          </a:prstGeom>
          <a:noFill/>
          <a:ln/>
        </p:spPr>
        <p:txBody>
          <a:bodyPr wrap="square" rtlCol="0" anchor="ctr"/>
          <a:lstStyle/>
          <a:p>
            <a:pPr marL="0" indent="0" algn="ctr">
              <a:buNone/>
            </a:pPr>
            <a:r>
              <a:rPr lang="en-US" sz="1400" b="1" dirty="0">
                <a:solidFill>
                  <a:srgbClr val="2E2E2E"/>
                </a:solidFill>
                <a:latin typeface="Calibri" pitchFamily="34" charset="0"/>
                <a:ea typeface="Calibri" pitchFamily="34" charset="-122"/>
                <a:cs typeface="Calibri" pitchFamily="34" charset="-120"/>
              </a:rPr>
              <a:t>345 tracts with zero recorded candidates</a:t>
            </a:r>
            <a:endParaRPr lang="en-US" sz="1400" dirty="0"/>
          </a:p>
        </p:txBody>
      </p:sp>
      <p:sp>
        <p:nvSpPr>
          <p:cNvPr id="29" name="Text 27"/>
          <p:cNvSpPr/>
          <p:nvPr/>
        </p:nvSpPr>
        <p:spPr>
          <a:xfrm>
            <a:off x="457200" y="5257800"/>
            <a:ext cx="11247120" cy="365760"/>
          </a:xfrm>
          <a:prstGeom prst="rect">
            <a:avLst/>
          </a:prstGeom>
          <a:noFill/>
          <a:ln/>
        </p:spPr>
        <p:txBody>
          <a:bodyPr wrap="square" rtlCol="0" anchor="ctr"/>
          <a:lstStyle/>
          <a:p>
            <a:pPr marL="0" indent="0">
              <a:buNone/>
            </a:pPr>
            <a:r>
              <a:rPr lang="en-US" sz="1200" dirty="0">
                <a:solidFill>
                  <a:srgbClr val="2E2E2E"/>
                </a:solidFill>
                <a:latin typeface="Calibri" pitchFamily="34" charset="0"/>
                <a:ea typeface="Calibri" pitchFamily="34" charset="-122"/>
                <a:cs typeface="Calibri" pitchFamily="34" charset="-120"/>
              </a:rPr>
              <a:t>516 unique tract IDs preserved · 22,139 assigned candidate parcels · output: kc_metro_health_socioeconomic_parcel_counts.csv</a:t>
            </a:r>
            <a:endParaRPr lang="en-US" sz="1200" dirty="0"/>
          </a:p>
        </p:txBody>
      </p:sp>
      <p:sp>
        <p:nvSpPr>
          <p:cNvPr id="30" name="Text 28"/>
          <p:cNvSpPr/>
          <p:nvPr/>
        </p:nvSpPr>
        <p:spPr>
          <a:xfrm>
            <a:off x="457200" y="5623560"/>
            <a:ext cx="11247120" cy="411480"/>
          </a:xfrm>
          <a:prstGeom prst="rect">
            <a:avLst/>
          </a:prstGeom>
          <a:noFill/>
          <a:ln/>
        </p:spPr>
        <p:txBody>
          <a:bodyPr wrap="square" rtlCol="0" anchor="ctr"/>
          <a:lstStyle/>
          <a:p>
            <a:pPr marL="0" indent="0">
              <a:buNone/>
            </a:pPr>
            <a:r>
              <a:rPr lang="en-US" sz="1200" i="1" dirty="0">
                <a:solidFill>
                  <a:srgbClr val="A33B2F"/>
                </a:solidFill>
                <a:latin typeface="Calibri" pitchFamily="34" charset="0"/>
                <a:ea typeface="Calibri" pitchFamily="34" charset="-122"/>
                <a:cs typeface="Calibri" pitchFamily="34" charset="-120"/>
              </a:rPr>
              <a:t>Zero recorded candidates does not mean no vacant land: it means none under the two selected codes in the KCMO source.</a:t>
            </a:r>
            <a:endParaRPr lang="en-US" sz="1200" dirty="0"/>
          </a:p>
        </p:txBody>
      </p:sp>
      <p:sp>
        <p:nvSpPr>
          <p:cNvPr id="31" name="Text 29"/>
          <p:cNvSpPr/>
          <p:nvPr/>
        </p:nvSpPr>
        <p:spPr>
          <a:xfrm>
            <a:off x="365760" y="6537960"/>
            <a:ext cx="7315200" cy="274320"/>
          </a:xfrm>
          <a:prstGeom prst="rect">
            <a:avLst/>
          </a:prstGeom>
          <a:noFill/>
          <a:ln/>
        </p:spPr>
        <p:txBody>
          <a:bodyPr wrap="square"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Decision Dashboard for Urban Food Production — Weekly Progress</a:t>
            </a:r>
            <a:endParaRPr lang="en-US" sz="1000" dirty="0"/>
          </a:p>
        </p:txBody>
      </p:sp>
      <p:sp>
        <p:nvSpPr>
          <p:cNvPr id="32" name="Text 30"/>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9</a:t>
            </a:r>
            <a:endParaRPr lang="en-US" sz="1000" dirty="0"/>
          </a:p>
        </p:txBody>
      </p:sp>
      <p:sp>
        <p:nvSpPr>
          <p:cNvPr id="33" name="Text 31"/>
          <p:cNvSpPr/>
          <p:nvPr/>
        </p:nvSpPr>
        <p:spPr>
          <a:xfrm>
            <a:off x="457200" y="6217920"/>
            <a:ext cx="11247120" cy="274320"/>
          </a:xfrm>
          <a:prstGeom prst="rect">
            <a:avLst/>
          </a:prstGeom>
          <a:noFill/>
          <a:ln/>
        </p:spPr>
        <p:txBody>
          <a:bodyPr wrap="square"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Source: KCMO Cadastre geodatabase; existing study-area tract boundaries; project calculations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0"/>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2C5F2D"/>
          </a:solidFill>
          <a:ln/>
        </p:spPr>
        <p:txBody>
          <a:bodyPr/>
          <a:lstStyle/>
          <a:p>
            <a:endParaRPr lang="en-US"/>
          </a:p>
        </p:txBody>
      </p:sp>
      <p:sp>
        <p:nvSpPr>
          <p:cNvPr id="3" name="Text 1"/>
          <p:cNvSpPr/>
          <p:nvPr/>
        </p:nvSpPr>
        <p:spPr>
          <a:xfrm>
            <a:off x="457200" y="256032"/>
            <a:ext cx="1124712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Limitations — Results Are Preliminary</a:t>
            </a:r>
            <a:endParaRPr lang="en-US" sz="2800" dirty="0"/>
          </a:p>
        </p:txBody>
      </p:sp>
      <p:sp>
        <p:nvSpPr>
          <p:cNvPr id="4" name="Shape 2"/>
          <p:cNvSpPr/>
          <p:nvPr/>
        </p:nvSpPr>
        <p:spPr>
          <a:xfrm>
            <a:off x="457200" y="1325880"/>
            <a:ext cx="5532120" cy="4846320"/>
          </a:xfrm>
          <a:prstGeom prst="rect">
            <a:avLst/>
          </a:prstGeom>
          <a:solidFill>
            <a:srgbClr val="FFFFFF"/>
          </a:solidFill>
          <a:ln w="12700">
            <a:solidFill>
              <a:srgbClr val="DDDDDD"/>
            </a:solidFill>
            <a:prstDash val="solid"/>
          </a:ln>
        </p:spPr>
        <p:txBody>
          <a:bodyPr/>
          <a:lstStyle/>
          <a:p>
            <a:endParaRPr lang="en-US"/>
          </a:p>
        </p:txBody>
      </p:sp>
      <p:sp>
        <p:nvSpPr>
          <p:cNvPr id="5" name="Shape 3"/>
          <p:cNvSpPr/>
          <p:nvPr/>
        </p:nvSpPr>
        <p:spPr>
          <a:xfrm>
            <a:off x="457200" y="1325880"/>
            <a:ext cx="5532120" cy="457200"/>
          </a:xfrm>
          <a:prstGeom prst="rect">
            <a:avLst/>
          </a:prstGeom>
          <a:solidFill>
            <a:srgbClr val="2C5F2D"/>
          </a:solidFill>
          <a:ln/>
        </p:spPr>
        <p:txBody>
          <a:bodyPr/>
          <a:lstStyle/>
          <a:p>
            <a:endParaRPr lang="en-US"/>
          </a:p>
        </p:txBody>
      </p:sp>
      <p:sp>
        <p:nvSpPr>
          <p:cNvPr id="6" name="Text 4"/>
          <p:cNvSpPr/>
          <p:nvPr/>
        </p:nvSpPr>
        <p:spPr>
          <a:xfrm>
            <a:off x="594360" y="1325880"/>
            <a:ext cx="5303520" cy="45720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USDA food-access data</a:t>
            </a:r>
            <a:endParaRPr lang="en-US" sz="1500" dirty="0"/>
          </a:p>
        </p:txBody>
      </p:sp>
      <p:sp>
        <p:nvSpPr>
          <p:cNvPr id="7" name="Text 5"/>
          <p:cNvSpPr/>
          <p:nvPr/>
        </p:nvSpPr>
        <p:spPr>
          <a:xfrm>
            <a:off x="594360" y="1874520"/>
            <a:ext cx="5257800" cy="4206240"/>
          </a:xfrm>
          <a:prstGeom prst="rect">
            <a:avLst/>
          </a:prstGeom>
          <a:noFill/>
          <a:ln/>
        </p:spPr>
        <p:txBody>
          <a:bodyPr wrap="square" rtlCol="0" anchor="t"/>
          <a:lstStyle/>
          <a:p>
            <a:pPr marL="342900" indent="-342900">
              <a:spcAft>
                <a:spcPts val="800"/>
              </a:spcAft>
              <a:buSzPct val="100000"/>
              <a:buChar char="•"/>
            </a:pPr>
            <a:r>
              <a:rPr lang="en-US" sz="1200" dirty="0">
                <a:solidFill>
                  <a:srgbClr val="2E2E2E"/>
                </a:solidFill>
                <a:latin typeface="Calibri" pitchFamily="34" charset="0"/>
                <a:ea typeface="Calibri" pitchFamily="34" charset="-122"/>
                <a:cs typeface="Calibri" pitchFamily="34" charset="-120"/>
              </a:rPr>
              <a:t>The 2019 Atlas rests on older source geography and reference data, including a 2019 supermarket list and 2010 Census information.</a:t>
            </a:r>
            <a:endParaRPr lang="en-US" sz="1200" dirty="0"/>
          </a:p>
          <a:p>
            <a:pPr marL="342900" indent="-342900">
              <a:spcAft>
                <a:spcPts val="800"/>
              </a:spcAft>
              <a:buSzPct val="100000"/>
              <a:buChar char="•"/>
            </a:pPr>
            <a:r>
              <a:rPr lang="en-US" sz="1200" dirty="0">
                <a:solidFill>
                  <a:srgbClr val="2E2E2E"/>
                </a:solidFill>
                <a:latin typeface="Calibri" pitchFamily="34" charset="0"/>
                <a:ea typeface="Calibri" pitchFamily="34" charset="-122"/>
                <a:cs typeface="Calibri" pitchFamily="34" charset="-120"/>
              </a:rPr>
              <a:t>Crosswalk: 958 relationship rows covering 532 older tracts, all passing the overlap-share check; population allocation still needs a suitable method. No one-to-one mapping is claimed.</a:t>
            </a:r>
            <a:endParaRPr lang="en-US" sz="1200" dirty="0"/>
          </a:p>
          <a:p>
            <a:pPr marL="342900" indent="-342900">
              <a:spcAft>
                <a:spcPts val="800"/>
              </a:spcAft>
              <a:buSzPct val="100000"/>
              <a:buChar char="•"/>
            </a:pPr>
            <a:r>
              <a:rPr lang="en-US" sz="1200" dirty="0">
                <a:solidFill>
                  <a:srgbClr val="2E2E2E"/>
                </a:solidFill>
                <a:latin typeface="Calibri" pitchFamily="34" charset="0"/>
                <a:ea typeface="Calibri" pitchFamily="34" charset="-122"/>
                <a:cs typeface="Calibri" pitchFamily="34" charset="-120"/>
              </a:rPr>
              <a:t>Alternative indicators are incomplete (101 and 162 tracts missing); missing values are not zeros.</a:t>
            </a:r>
            <a:endParaRPr lang="en-US" sz="1200" dirty="0"/>
          </a:p>
          <a:p>
            <a:pPr marL="342900" indent="-342900">
              <a:spcAft>
                <a:spcPts val="800"/>
              </a:spcAft>
              <a:buSzPct val="100000"/>
              <a:buChar char="•"/>
            </a:pPr>
            <a:r>
              <a:rPr lang="en-US" sz="1200" dirty="0">
                <a:solidFill>
                  <a:srgbClr val="2E2E2E"/>
                </a:solidFill>
                <a:latin typeface="Calibri" pitchFamily="34" charset="0"/>
                <a:ea typeface="Calibri" pitchFamily="34" charset="-122"/>
                <a:cs typeface="Calibri" pitchFamily="34" charset="-120"/>
              </a:rPr>
              <a:t>LA1and10 is a binary tract-level flag, not a population share.</a:t>
            </a:r>
            <a:endParaRPr lang="en-US" sz="1200" dirty="0"/>
          </a:p>
          <a:p>
            <a:pPr marL="342900" indent="-342900">
              <a:spcAft>
                <a:spcPts val="800"/>
              </a:spcAft>
              <a:buSzPct val="100000"/>
              <a:buChar char="•"/>
            </a:pPr>
            <a:r>
              <a:rPr lang="en-US" sz="1200" dirty="0">
                <a:solidFill>
                  <a:srgbClr val="2E2E2E"/>
                </a:solidFill>
                <a:latin typeface="Calibri" pitchFamily="34" charset="0"/>
                <a:ea typeface="Calibri" pitchFamily="34" charset="-122"/>
                <a:cs typeface="Calibri" pitchFamily="34" charset="-120"/>
              </a:rPr>
              <a:t>Validation covered specific checks on the 2025 workbook; not every field is confirmed complete.</a:t>
            </a:r>
            <a:endParaRPr lang="en-US" sz="1200" dirty="0"/>
          </a:p>
        </p:txBody>
      </p:sp>
      <p:sp>
        <p:nvSpPr>
          <p:cNvPr id="8" name="Shape 6"/>
          <p:cNvSpPr/>
          <p:nvPr/>
        </p:nvSpPr>
        <p:spPr>
          <a:xfrm>
            <a:off x="6172200" y="1325880"/>
            <a:ext cx="5532120" cy="4846320"/>
          </a:xfrm>
          <a:prstGeom prst="rect">
            <a:avLst/>
          </a:prstGeom>
          <a:solidFill>
            <a:srgbClr val="FFFFFF"/>
          </a:solidFill>
          <a:ln w="12700">
            <a:solidFill>
              <a:srgbClr val="DDDDDD"/>
            </a:solidFill>
            <a:prstDash val="solid"/>
          </a:ln>
        </p:spPr>
        <p:txBody>
          <a:bodyPr/>
          <a:lstStyle/>
          <a:p>
            <a:endParaRPr lang="en-US"/>
          </a:p>
        </p:txBody>
      </p:sp>
      <p:sp>
        <p:nvSpPr>
          <p:cNvPr id="9" name="Shape 7"/>
          <p:cNvSpPr/>
          <p:nvPr/>
        </p:nvSpPr>
        <p:spPr>
          <a:xfrm>
            <a:off x="6172200" y="1325880"/>
            <a:ext cx="5532120" cy="457200"/>
          </a:xfrm>
          <a:prstGeom prst="rect">
            <a:avLst/>
          </a:prstGeom>
          <a:solidFill>
            <a:srgbClr val="C98A2B"/>
          </a:solidFill>
          <a:ln/>
        </p:spPr>
        <p:txBody>
          <a:bodyPr/>
          <a:lstStyle/>
          <a:p>
            <a:endParaRPr lang="en-US"/>
          </a:p>
        </p:txBody>
      </p:sp>
      <p:sp>
        <p:nvSpPr>
          <p:cNvPr id="10" name="Text 8"/>
          <p:cNvSpPr/>
          <p:nvPr/>
        </p:nvSpPr>
        <p:spPr>
          <a:xfrm>
            <a:off x="6309360" y="1325880"/>
            <a:ext cx="5303520" cy="45720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KCMO parcel data</a:t>
            </a:r>
            <a:endParaRPr lang="en-US" sz="1500" dirty="0"/>
          </a:p>
        </p:txBody>
      </p:sp>
      <p:sp>
        <p:nvSpPr>
          <p:cNvPr id="11" name="Text 9"/>
          <p:cNvSpPr/>
          <p:nvPr/>
        </p:nvSpPr>
        <p:spPr>
          <a:xfrm>
            <a:off x="6309360" y="1874520"/>
            <a:ext cx="5257800" cy="4206240"/>
          </a:xfrm>
          <a:prstGeom prst="rect">
            <a:avLst/>
          </a:prstGeom>
          <a:noFill/>
          <a:ln/>
        </p:spPr>
        <p:txBody>
          <a:bodyPr wrap="square" rtlCol="0" anchor="t"/>
          <a:lstStyle/>
          <a:p>
            <a:pPr marL="342900" indent="-342900">
              <a:spcAft>
                <a:spcPts val="800"/>
              </a:spcAft>
              <a:buSzPct val="100000"/>
              <a:buChar char="•"/>
            </a:pPr>
            <a:r>
              <a:rPr lang="en-US" sz="1200" dirty="0">
                <a:solidFill>
                  <a:srgbClr val="2E2E2E"/>
                </a:solidFill>
                <a:latin typeface="Calibri" pitchFamily="34" charset="0"/>
                <a:ea typeface="Calibri" pitchFamily="34" charset="-122"/>
                <a:cs typeface="Calibri" pitchFamily="34" charset="-120"/>
              </a:rPr>
              <a:t>Source covers Kansas City, Missouri only — not the whole 14-county metro area. Kansas data is still needed.</a:t>
            </a:r>
            <a:endParaRPr lang="en-US" sz="1200" dirty="0"/>
          </a:p>
          <a:p>
            <a:pPr marL="342900" indent="-342900">
              <a:spcAft>
                <a:spcPts val="800"/>
              </a:spcAft>
              <a:buSzPct val="100000"/>
              <a:buChar char="•"/>
            </a:pPr>
            <a:r>
              <a:rPr lang="en-US" sz="1200" dirty="0">
                <a:solidFill>
                  <a:srgbClr val="2E2E2E"/>
                </a:solidFill>
                <a:latin typeface="Calibri" pitchFamily="34" charset="0"/>
                <a:ea typeface="Calibri" pitchFamily="34" charset="-122"/>
                <a:cs typeface="Calibri" pitchFamily="34" charset="-120"/>
              </a:rPr>
              <a:t>Zero recorded candidates (345 tracts) means none under codes 9500 and 9600 in this source, not no vacant land.</a:t>
            </a:r>
            <a:endParaRPr lang="en-US" sz="1200" dirty="0"/>
          </a:p>
          <a:p>
            <a:pPr marL="342900" indent="-342900">
              <a:spcAft>
                <a:spcPts val="800"/>
              </a:spcAft>
              <a:buSzPct val="100000"/>
              <a:buChar char="•"/>
            </a:pPr>
            <a:r>
              <a:rPr lang="en-US" sz="1200" dirty="0">
                <a:solidFill>
                  <a:srgbClr val="2E2E2E"/>
                </a:solidFill>
                <a:latin typeface="Calibri" pitchFamily="34" charset="0"/>
                <a:ea typeface="Calibri" pitchFamily="34" charset="-122"/>
                <a:cs typeface="Calibri" pitchFamily="34" charset="-120"/>
              </a:rPr>
              <a:t>Land-use codes are an initial screen; availability, ownership, zoning, and suitability are unchecked.</a:t>
            </a:r>
            <a:endParaRPr lang="en-US" sz="1200" dirty="0"/>
          </a:p>
          <a:p>
            <a:pPr marL="342900" indent="-342900">
              <a:spcAft>
                <a:spcPts val="800"/>
              </a:spcAft>
              <a:buSzPct val="100000"/>
              <a:buChar char="•"/>
            </a:pPr>
            <a:r>
              <a:rPr lang="en-US" sz="1200" dirty="0">
                <a:solidFill>
                  <a:srgbClr val="2E2E2E"/>
                </a:solidFill>
                <a:latin typeface="Calibri" pitchFamily="34" charset="0"/>
                <a:ea typeface="Calibri" pitchFamily="34" charset="-122"/>
                <a:cs typeface="Calibri" pitchFamily="34" charset="-120"/>
              </a:rPr>
              <a:t>Each parcel is assigned to one tract by a representative point; 2 unassigned, 6 rows with repeated parcel IDs.</a:t>
            </a:r>
            <a:endParaRPr lang="en-US" sz="1200" dirty="0"/>
          </a:p>
          <a:p>
            <a:pPr marL="342900" indent="-342900">
              <a:spcAft>
                <a:spcPts val="800"/>
              </a:spcAft>
              <a:buSzPct val="100000"/>
              <a:buChar char="•"/>
            </a:pPr>
            <a:r>
              <a:rPr lang="en-US" sz="1200" dirty="0">
                <a:solidFill>
                  <a:srgbClr val="2E2E2E"/>
                </a:solidFill>
                <a:latin typeface="Calibri" pitchFamily="34" charset="0"/>
                <a:ea typeface="Calibri" pitchFamily="34" charset="-122"/>
                <a:cs typeface="Calibri" pitchFamily="34" charset="-120"/>
              </a:rPr>
              <a:t>69,150 parcels have no land-use code; parcel size is skewed by a few large parcels.</a:t>
            </a:r>
            <a:endParaRPr lang="en-US" sz="1200" dirty="0"/>
          </a:p>
        </p:txBody>
      </p:sp>
      <p:sp>
        <p:nvSpPr>
          <p:cNvPr id="12" name="Text 10"/>
          <p:cNvSpPr/>
          <p:nvPr/>
        </p:nvSpPr>
        <p:spPr>
          <a:xfrm>
            <a:off x="365760" y="6537960"/>
            <a:ext cx="7315200" cy="274320"/>
          </a:xfrm>
          <a:prstGeom prst="rect">
            <a:avLst/>
          </a:prstGeom>
          <a:noFill/>
          <a:ln/>
        </p:spPr>
        <p:txBody>
          <a:bodyPr wrap="square"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Decision Dashboard for Urban Food Production — Weekly Progress</a:t>
            </a:r>
            <a:endParaRPr lang="en-US" sz="1000" dirty="0"/>
          </a:p>
        </p:txBody>
      </p:sp>
      <p:sp>
        <p:nvSpPr>
          <p:cNvPr id="13" name="Text 11"/>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9144000" cy="640080"/>
          </a:xfrm>
          <a:prstGeom prst="rect">
            <a:avLst/>
          </a:prstGeom>
          <a:noFill/>
          <a:ln/>
        </p:spPr>
        <p:txBody>
          <a:bodyPr wrap="square" rtlCol="0" anchor="ctr"/>
          <a:lstStyle/>
          <a:p>
            <a:pPr marL="0" indent="0">
              <a:buNone/>
            </a:pPr>
            <a:r>
              <a:rPr lang="en-US" sz="3000" dirty="0">
                <a:solidFill>
                  <a:srgbClr val="2E2E2E"/>
                </a:solidFill>
                <a:latin typeface="Cambria" pitchFamily="34" charset="0"/>
                <a:ea typeface="Cambria" pitchFamily="34" charset="-122"/>
                <a:cs typeface="Cambria" pitchFamily="34" charset="-120"/>
              </a:rPr>
              <a:t>Next Week Plans (10/28/2026)</a:t>
            </a:r>
            <a:endParaRPr lang="en-US" sz="3000" dirty="0"/>
          </a:p>
        </p:txBody>
      </p:sp>
      <p:sp>
        <p:nvSpPr>
          <p:cNvPr id="3" name="Text 1"/>
          <p:cNvSpPr/>
          <p:nvPr/>
        </p:nvSpPr>
        <p:spPr>
          <a:xfrm>
            <a:off x="457200" y="1097280"/>
            <a:ext cx="9144000" cy="365760"/>
          </a:xfrm>
          <a:prstGeom prst="rect">
            <a:avLst/>
          </a:prstGeom>
          <a:noFill/>
          <a:ln/>
        </p:spPr>
        <p:txBody>
          <a:bodyPr wrap="square" rtlCol="0" anchor="ctr"/>
          <a:lstStyle/>
          <a:p>
            <a:pPr marL="0" indent="0">
              <a:buNone/>
            </a:pPr>
            <a:r>
              <a:rPr lang="en-US" sz="1800" dirty="0">
                <a:solidFill>
                  <a:srgbClr val="2E2E2E"/>
                </a:solidFill>
                <a:latin typeface="Calibri" pitchFamily="34" charset="0"/>
                <a:ea typeface="Calibri" pitchFamily="34" charset="-122"/>
                <a:cs typeface="Calibri" pitchFamily="34" charset="-120"/>
              </a:rPr>
              <a:t>Activities/Tasks</a:t>
            </a:r>
            <a:endParaRPr lang="en-US" sz="1800" dirty="0"/>
          </a:p>
        </p:txBody>
      </p:sp>
      <p:sp>
        <p:nvSpPr>
          <p:cNvPr id="4" name="Text 2"/>
          <p:cNvSpPr/>
          <p:nvPr/>
        </p:nvSpPr>
        <p:spPr>
          <a:xfrm>
            <a:off x="502920" y="1508760"/>
            <a:ext cx="11155680" cy="2560320"/>
          </a:xfrm>
          <a:prstGeom prst="rect">
            <a:avLst/>
          </a:prstGeom>
          <a:noFill/>
          <a:ln/>
        </p:spPr>
        <p:txBody>
          <a:bodyPr wrap="square" rtlCol="0" anchor="t"/>
          <a:lstStyle/>
          <a:p>
            <a:pPr marL="342900" indent="-342900">
              <a:spcAft>
                <a:spcPts val="700"/>
              </a:spcAft>
              <a:buSzPct val="100000"/>
              <a:buChar char="•"/>
            </a:pPr>
            <a:r>
              <a:rPr lang="en-US" sz="1400" dirty="0">
                <a:solidFill>
                  <a:srgbClr val="2E2E2E"/>
                </a:solidFill>
                <a:latin typeface="Calibri" pitchFamily="34" charset="0"/>
                <a:ea typeface="Calibri" pitchFamily="34" charset="-122"/>
                <a:cs typeface="Calibri" pitchFamily="34" charset="-120"/>
              </a:rPr>
              <a:t>Continue the crosswalk investigation and document which geographic matches are verified and which are not</a:t>
            </a:r>
            <a:endParaRPr lang="en-US" sz="1400" dirty="0"/>
          </a:p>
          <a:p>
            <a:pPr marL="342900" indent="-342900">
              <a:spcAft>
                <a:spcPts val="700"/>
              </a:spcAft>
              <a:buSzPct val="100000"/>
              <a:buChar char="•"/>
            </a:pPr>
            <a:r>
              <a:rPr lang="en-US" sz="1400" dirty="0">
                <a:solidFill>
                  <a:srgbClr val="2E2E2E"/>
                </a:solidFill>
                <a:latin typeface="Calibri" pitchFamily="34" charset="0"/>
                <a:ea typeface="Calibri" pitchFamily="34" charset="-122"/>
                <a:cs typeface="Calibri" pitchFamily="34" charset="-120"/>
              </a:rPr>
              <a:t>Confirm the seven USDA candidate indicators and compare their definitions and completeness before choosing one</a:t>
            </a:r>
            <a:endParaRPr lang="en-US" sz="1400" dirty="0"/>
          </a:p>
          <a:p>
            <a:pPr marL="342900" indent="-342900">
              <a:spcAft>
                <a:spcPts val="700"/>
              </a:spcAft>
              <a:buSzPct val="100000"/>
              <a:buChar char="•"/>
            </a:pPr>
            <a:r>
              <a:rPr lang="en-US" sz="1400" dirty="0">
                <a:solidFill>
                  <a:srgbClr val="2E2E2E"/>
                </a:solidFill>
                <a:latin typeface="Calibri" pitchFamily="34" charset="0"/>
                <a:ea typeface="Calibri" pitchFamily="34" charset="-122"/>
                <a:cs typeface="Calibri" pitchFamily="34" charset="-120"/>
              </a:rPr>
              <a:t>Investigate repeated parcel IDs and the 2 unassigned parcel records</a:t>
            </a:r>
            <a:endParaRPr lang="en-US" sz="1400" dirty="0"/>
          </a:p>
          <a:p>
            <a:pPr marL="342900" indent="-342900">
              <a:spcAft>
                <a:spcPts val="700"/>
              </a:spcAft>
              <a:buSzPct val="100000"/>
              <a:buChar char="•"/>
            </a:pPr>
            <a:r>
              <a:rPr lang="en-US" sz="1400" dirty="0">
                <a:solidFill>
                  <a:srgbClr val="2E2E2E"/>
                </a:solidFill>
                <a:latin typeface="Calibri" pitchFamily="34" charset="0"/>
                <a:ea typeface="Calibri" pitchFamily="34" charset="-122"/>
                <a:cs typeface="Calibri" pitchFamily="34" charset="-120"/>
              </a:rPr>
              <a:t>Obtain and inspect Kansas parcel data (Kansas ORKA); document the coverage of both parcel sources</a:t>
            </a:r>
            <a:endParaRPr lang="en-US" sz="1400" dirty="0"/>
          </a:p>
          <a:p>
            <a:pPr marL="342900" indent="-342900">
              <a:spcAft>
                <a:spcPts val="700"/>
              </a:spcAft>
              <a:buSzPct val="100000"/>
              <a:buChar char="•"/>
            </a:pPr>
            <a:r>
              <a:rPr lang="en-US" sz="1400" dirty="0">
                <a:solidFill>
                  <a:srgbClr val="2E2E2E"/>
                </a:solidFill>
                <a:latin typeface="Calibri" pitchFamily="34" charset="0"/>
                <a:ea typeface="Calibri" pitchFamily="34" charset="-122"/>
                <a:cs typeface="Calibri" pitchFamily="34" charset="-120"/>
              </a:rPr>
              <a:t>Carried forward: transit-source validation, variable shortlist, and data inventory</a:t>
            </a:r>
            <a:endParaRPr lang="en-US" sz="1400" dirty="0"/>
          </a:p>
        </p:txBody>
      </p:sp>
      <p:sp>
        <p:nvSpPr>
          <p:cNvPr id="5" name="Text 3"/>
          <p:cNvSpPr/>
          <p:nvPr/>
        </p:nvSpPr>
        <p:spPr>
          <a:xfrm>
            <a:off x="457200" y="4023360"/>
            <a:ext cx="9144000" cy="365760"/>
          </a:xfrm>
          <a:prstGeom prst="rect">
            <a:avLst/>
          </a:prstGeom>
          <a:noFill/>
          <a:ln/>
        </p:spPr>
        <p:txBody>
          <a:bodyPr wrap="square" rtlCol="0" anchor="ctr"/>
          <a:lstStyle/>
          <a:p>
            <a:pPr marL="0" indent="0">
              <a:buNone/>
            </a:pPr>
            <a:r>
              <a:rPr lang="en-US" sz="1800" dirty="0">
                <a:solidFill>
                  <a:srgbClr val="2E2E2E"/>
                </a:solidFill>
                <a:latin typeface="Calibri" pitchFamily="34" charset="0"/>
                <a:ea typeface="Calibri" pitchFamily="34" charset="-122"/>
                <a:cs typeface="Calibri" pitchFamily="34" charset="-120"/>
              </a:rPr>
              <a:t>Expected Outcomes</a:t>
            </a:r>
            <a:endParaRPr lang="en-US" sz="1800" dirty="0"/>
          </a:p>
        </p:txBody>
      </p:sp>
      <p:sp>
        <p:nvSpPr>
          <p:cNvPr id="6" name="Text 4"/>
          <p:cNvSpPr/>
          <p:nvPr/>
        </p:nvSpPr>
        <p:spPr>
          <a:xfrm>
            <a:off x="502920" y="4434840"/>
            <a:ext cx="11155680" cy="1097280"/>
          </a:xfrm>
          <a:prstGeom prst="rect">
            <a:avLst/>
          </a:prstGeom>
          <a:noFill/>
          <a:ln/>
        </p:spPr>
        <p:txBody>
          <a:bodyPr wrap="square" rtlCol="0" anchor="t"/>
          <a:lstStyle/>
          <a:p>
            <a:pPr marL="342900" indent="-342900">
              <a:spcAft>
                <a:spcPts val="700"/>
              </a:spcAft>
              <a:buSzPct val="100000"/>
              <a:buChar char="•"/>
            </a:pPr>
            <a:r>
              <a:rPr lang="en-US" sz="1400" dirty="0">
                <a:solidFill>
                  <a:srgbClr val="2E2E2E"/>
                </a:solidFill>
                <a:latin typeface="Calibri" pitchFamily="34" charset="0"/>
                <a:ea typeface="Calibri" pitchFamily="34" charset="-122"/>
                <a:cs typeface="Calibri" pitchFamily="34" charset="-120"/>
              </a:rPr>
              <a:t>A documented geography approach separating verified matches from crosswalk-based work</a:t>
            </a:r>
            <a:endParaRPr lang="en-US" sz="1400" dirty="0"/>
          </a:p>
          <a:p>
            <a:pPr marL="342900" indent="-342900">
              <a:spcAft>
                <a:spcPts val="700"/>
              </a:spcAft>
              <a:buSzPct val="100000"/>
              <a:buChar char="•"/>
            </a:pPr>
            <a:r>
              <a:rPr lang="en-US" sz="1400" dirty="0">
                <a:solidFill>
                  <a:srgbClr val="2E2E2E"/>
                </a:solidFill>
                <a:latin typeface="Calibri" pitchFamily="34" charset="0"/>
                <a:ea typeface="Calibri" pitchFamily="34" charset="-122"/>
                <a:cs typeface="Calibri" pitchFamily="34" charset="-120"/>
              </a:rPr>
              <a:t>A better-supported food-access indicator choice</a:t>
            </a:r>
            <a:endParaRPr lang="en-US" sz="1400" dirty="0"/>
          </a:p>
          <a:p>
            <a:pPr marL="342900" indent="-342900">
              <a:spcAft>
                <a:spcPts val="700"/>
              </a:spcAft>
              <a:buSzPct val="100000"/>
              <a:buChar char="•"/>
            </a:pPr>
            <a:r>
              <a:rPr lang="en-US" sz="1400" dirty="0">
                <a:solidFill>
                  <a:srgbClr val="2E2E2E"/>
                </a:solidFill>
                <a:latin typeface="Calibri" pitchFamily="34" charset="0"/>
                <a:ea typeface="Calibri" pitchFamily="34" charset="-122"/>
                <a:cs typeface="Calibri" pitchFamily="34" charset="-120"/>
              </a:rPr>
              <a:t>Kansas parcel data inspected, with coverage and quality documented</a:t>
            </a:r>
            <a:endParaRPr lang="en-US" sz="1400" dirty="0"/>
          </a:p>
        </p:txBody>
      </p:sp>
      <p:sp>
        <p:nvSpPr>
          <p:cNvPr id="7" name="Text 5"/>
          <p:cNvSpPr/>
          <p:nvPr/>
        </p:nvSpPr>
        <p:spPr>
          <a:xfrm>
            <a:off x="457200" y="5394960"/>
            <a:ext cx="9144000" cy="365760"/>
          </a:xfrm>
          <a:prstGeom prst="rect">
            <a:avLst/>
          </a:prstGeom>
          <a:noFill/>
          <a:ln/>
        </p:spPr>
        <p:txBody>
          <a:bodyPr wrap="square" rtlCol="0" anchor="ctr"/>
          <a:lstStyle/>
          <a:p>
            <a:pPr marL="0" indent="0">
              <a:buNone/>
            </a:pPr>
            <a:r>
              <a:rPr lang="en-US" sz="1800" dirty="0">
                <a:solidFill>
                  <a:srgbClr val="2E2E2E"/>
                </a:solidFill>
                <a:latin typeface="Calibri" pitchFamily="34" charset="0"/>
                <a:ea typeface="Calibri" pitchFamily="34" charset="-122"/>
                <a:cs typeface="Calibri" pitchFamily="34" charset="-120"/>
              </a:rPr>
              <a:t>Deliverable</a:t>
            </a:r>
            <a:endParaRPr lang="en-US" sz="1800" dirty="0"/>
          </a:p>
        </p:txBody>
      </p:sp>
      <p:sp>
        <p:nvSpPr>
          <p:cNvPr id="8" name="Text 6"/>
          <p:cNvSpPr/>
          <p:nvPr/>
        </p:nvSpPr>
        <p:spPr>
          <a:xfrm>
            <a:off x="502920" y="5760720"/>
            <a:ext cx="11155680" cy="502920"/>
          </a:xfrm>
          <a:prstGeom prst="rect">
            <a:avLst/>
          </a:prstGeom>
          <a:noFill/>
          <a:ln/>
        </p:spPr>
        <p:txBody>
          <a:bodyPr wrap="square" rtlCol="0" anchor="t"/>
          <a:lstStyle/>
          <a:p>
            <a:pPr marL="342900" indent="-342900">
              <a:buSzPct val="100000"/>
              <a:buChar char="•"/>
            </a:pPr>
            <a:r>
              <a:rPr lang="en-US" sz="1400" dirty="0">
                <a:solidFill>
                  <a:srgbClr val="2E2E2E"/>
                </a:solidFill>
                <a:latin typeface="Calibri" pitchFamily="34" charset="0"/>
                <a:ea typeface="Calibri" pitchFamily="34" charset="-122"/>
                <a:cs typeface="Calibri" pitchFamily="34" charset="-120"/>
              </a:rPr>
              <a:t>Geography and indicator documentation, parcel coverage notes, updated dataset (if Kansas data is available), and progress presentation</a:t>
            </a:r>
            <a:endParaRPr lang="en-US" sz="1400" dirty="0"/>
          </a:p>
        </p:txBody>
      </p:sp>
      <p:sp>
        <p:nvSpPr>
          <p:cNvPr id="9" name="Text 7"/>
          <p:cNvSpPr/>
          <p:nvPr/>
        </p:nvSpPr>
        <p:spPr>
          <a:xfrm>
            <a:off x="365760" y="6537960"/>
            <a:ext cx="7315200" cy="274320"/>
          </a:xfrm>
          <a:prstGeom prst="rect">
            <a:avLst/>
          </a:prstGeom>
          <a:noFill/>
          <a:ln/>
        </p:spPr>
        <p:txBody>
          <a:bodyPr wrap="square"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Decision Dashboard for Urban Food Production — Weekly Progress</a:t>
            </a:r>
            <a:endParaRPr lang="en-US" sz="1000" dirty="0"/>
          </a:p>
        </p:txBody>
      </p:sp>
      <p:sp>
        <p:nvSpPr>
          <p:cNvPr id="10" name="Text 8"/>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0884B9E2-15BA-71DA-DBBC-8E1F38C89DF6}"/>
              </a:ext>
            </a:extLst>
          </p:cNvPr>
          <p:cNvSpPr/>
          <p:nvPr/>
        </p:nvSpPr>
        <p:spPr>
          <a:xfrm>
            <a:off x="457200" y="274320"/>
            <a:ext cx="11247120" cy="640080"/>
          </a:xfrm>
          <a:prstGeom prst="rect">
            <a:avLst/>
          </a:prstGeom>
          <a:noFill/>
          <a:ln/>
        </p:spPr>
        <p:txBody>
          <a:bodyPr wrap="square" rtlCol="0" anchor="ctr"/>
          <a:lstStyle/>
          <a:p>
            <a:r>
              <a:rPr lang="en-US" sz="2800" dirty="0">
                <a:solidFill>
                  <a:srgbClr val="2E2E2E"/>
                </a:solidFill>
                <a:latin typeface="Cambria" pitchFamily="34" charset="0"/>
                <a:ea typeface="Cambria" pitchFamily="34" charset="-122"/>
                <a:cs typeface="Cambria" pitchFamily="34" charset="-120"/>
              </a:rPr>
              <a:t>Appendix — </a:t>
            </a:r>
            <a:r>
              <a:rPr lang="en-US" sz="2800" dirty="0">
                <a:latin typeface="Cambria" panose="02040503050406030204" pitchFamily="18" charset="0"/>
                <a:ea typeface="Cambria" panose="02040503050406030204" pitchFamily="18" charset="0"/>
              </a:rPr>
              <a:t>Python Implementation: USDA Data Validation</a:t>
            </a:r>
            <a:r>
              <a:rPr lang="en-US" sz="2800" dirty="0"/>
              <a:t>.</a:t>
            </a:r>
          </a:p>
        </p:txBody>
      </p:sp>
      <p:pic>
        <p:nvPicPr>
          <p:cNvPr id="6" name="Picture 5">
            <a:extLst>
              <a:ext uri="{FF2B5EF4-FFF2-40B4-BE49-F238E27FC236}">
                <a16:creationId xmlns:a16="http://schemas.microsoft.com/office/drawing/2014/main" id="{2FFD4D84-3CA9-36B6-A7A4-E7DE1D4CCED9}"/>
              </a:ext>
            </a:extLst>
          </p:cNvPr>
          <p:cNvPicPr>
            <a:picLocks noChangeAspect="1"/>
          </p:cNvPicPr>
          <p:nvPr/>
        </p:nvPicPr>
        <p:blipFill>
          <a:blip r:embed="rId2"/>
          <a:stretch>
            <a:fillRect/>
          </a:stretch>
        </p:blipFill>
        <p:spPr>
          <a:xfrm>
            <a:off x="457200" y="977879"/>
            <a:ext cx="5704438" cy="5711857"/>
          </a:xfrm>
          <a:prstGeom prst="rect">
            <a:avLst/>
          </a:prstGeom>
        </p:spPr>
      </p:pic>
      <p:pic>
        <p:nvPicPr>
          <p:cNvPr id="8" name="Picture 7">
            <a:extLst>
              <a:ext uri="{FF2B5EF4-FFF2-40B4-BE49-F238E27FC236}">
                <a16:creationId xmlns:a16="http://schemas.microsoft.com/office/drawing/2014/main" id="{F6FB33C6-7E75-C048-91B7-C435EFA8F2C9}"/>
              </a:ext>
            </a:extLst>
          </p:cNvPr>
          <p:cNvPicPr>
            <a:picLocks noChangeAspect="1"/>
          </p:cNvPicPr>
          <p:nvPr/>
        </p:nvPicPr>
        <p:blipFill>
          <a:blip r:embed="rId3"/>
          <a:stretch>
            <a:fillRect/>
          </a:stretch>
        </p:blipFill>
        <p:spPr>
          <a:xfrm>
            <a:off x="6299179" y="977879"/>
            <a:ext cx="5610266" cy="2921021"/>
          </a:xfrm>
          <a:prstGeom prst="rect">
            <a:avLst/>
          </a:prstGeom>
        </p:spPr>
      </p:pic>
      <p:pic>
        <p:nvPicPr>
          <p:cNvPr id="10" name="Picture 9">
            <a:extLst>
              <a:ext uri="{FF2B5EF4-FFF2-40B4-BE49-F238E27FC236}">
                <a16:creationId xmlns:a16="http://schemas.microsoft.com/office/drawing/2014/main" id="{D466C823-F5BC-5737-5397-CB20DA55363C}"/>
              </a:ext>
            </a:extLst>
          </p:cNvPr>
          <p:cNvPicPr>
            <a:picLocks noChangeAspect="1"/>
          </p:cNvPicPr>
          <p:nvPr/>
        </p:nvPicPr>
        <p:blipFill>
          <a:blip r:embed="rId4"/>
          <a:stretch>
            <a:fillRect/>
          </a:stretch>
        </p:blipFill>
        <p:spPr>
          <a:xfrm>
            <a:off x="6299178" y="3962380"/>
            <a:ext cx="5610265" cy="2727356"/>
          </a:xfrm>
          <a:prstGeom prst="rect">
            <a:avLst/>
          </a:prstGeom>
        </p:spPr>
      </p:pic>
    </p:spTree>
    <p:extLst>
      <p:ext uri="{BB962C8B-B14F-4D97-AF65-F5344CB8AC3E}">
        <p14:creationId xmlns:p14="http://schemas.microsoft.com/office/powerpoint/2010/main" val="25171748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4F9C938-301C-B92B-5AF0-FAC126801FB0}"/>
              </a:ext>
            </a:extLst>
          </p:cNvPr>
          <p:cNvPicPr>
            <a:picLocks noChangeAspect="1"/>
          </p:cNvPicPr>
          <p:nvPr/>
        </p:nvPicPr>
        <p:blipFill>
          <a:blip r:embed="rId2"/>
          <a:stretch>
            <a:fillRect/>
          </a:stretch>
        </p:blipFill>
        <p:spPr>
          <a:xfrm>
            <a:off x="457200" y="1063622"/>
            <a:ext cx="5637212" cy="819156"/>
          </a:xfrm>
          <a:prstGeom prst="rect">
            <a:avLst/>
          </a:prstGeom>
        </p:spPr>
      </p:pic>
      <p:sp>
        <p:nvSpPr>
          <p:cNvPr id="5" name="Text 0">
            <a:extLst>
              <a:ext uri="{FF2B5EF4-FFF2-40B4-BE49-F238E27FC236}">
                <a16:creationId xmlns:a16="http://schemas.microsoft.com/office/drawing/2014/main" id="{FA605FD0-8503-B887-E8EA-A98D9761D593}"/>
              </a:ext>
            </a:extLst>
          </p:cNvPr>
          <p:cNvSpPr/>
          <p:nvPr/>
        </p:nvSpPr>
        <p:spPr>
          <a:xfrm>
            <a:off x="457200" y="274320"/>
            <a:ext cx="11247120" cy="640080"/>
          </a:xfrm>
          <a:prstGeom prst="rect">
            <a:avLst/>
          </a:prstGeom>
          <a:noFill/>
          <a:ln/>
        </p:spPr>
        <p:txBody>
          <a:bodyPr wrap="square" rtlCol="0" anchor="ctr"/>
          <a:lstStyle/>
          <a:p>
            <a:r>
              <a:rPr lang="en-US" sz="2800" dirty="0">
                <a:solidFill>
                  <a:srgbClr val="2E2E2E"/>
                </a:solidFill>
                <a:latin typeface="Cambria" pitchFamily="34" charset="0"/>
                <a:ea typeface="Cambria" pitchFamily="34" charset="-122"/>
                <a:cs typeface="Cambria" pitchFamily="34" charset="-120"/>
              </a:rPr>
              <a:t>Appendix — </a:t>
            </a:r>
            <a:r>
              <a:rPr lang="en-US" sz="2800" dirty="0">
                <a:latin typeface="Cambria" panose="02040503050406030204" pitchFamily="18" charset="0"/>
                <a:ea typeface="Cambria" panose="02040503050406030204" pitchFamily="18" charset="0"/>
              </a:rPr>
              <a:t>Python Implementation: Parcel-to-Tract Assignment</a:t>
            </a:r>
          </a:p>
        </p:txBody>
      </p:sp>
      <p:pic>
        <p:nvPicPr>
          <p:cNvPr id="7" name="Picture 6">
            <a:extLst>
              <a:ext uri="{FF2B5EF4-FFF2-40B4-BE49-F238E27FC236}">
                <a16:creationId xmlns:a16="http://schemas.microsoft.com/office/drawing/2014/main" id="{7DCC17C7-96EF-2D40-98C5-089F5A9E14B9}"/>
              </a:ext>
            </a:extLst>
          </p:cNvPr>
          <p:cNvPicPr>
            <a:picLocks noChangeAspect="1"/>
          </p:cNvPicPr>
          <p:nvPr/>
        </p:nvPicPr>
        <p:blipFill>
          <a:blip r:embed="rId3"/>
          <a:stretch>
            <a:fillRect/>
          </a:stretch>
        </p:blipFill>
        <p:spPr>
          <a:xfrm>
            <a:off x="457200" y="1956926"/>
            <a:ext cx="5637212" cy="1371610"/>
          </a:xfrm>
          <a:prstGeom prst="rect">
            <a:avLst/>
          </a:prstGeom>
        </p:spPr>
      </p:pic>
      <p:pic>
        <p:nvPicPr>
          <p:cNvPr id="9" name="Picture 8">
            <a:extLst>
              <a:ext uri="{FF2B5EF4-FFF2-40B4-BE49-F238E27FC236}">
                <a16:creationId xmlns:a16="http://schemas.microsoft.com/office/drawing/2014/main" id="{058449B3-390D-4E21-50E5-CADD0F74A9C3}"/>
              </a:ext>
            </a:extLst>
          </p:cNvPr>
          <p:cNvPicPr>
            <a:picLocks noChangeAspect="1"/>
          </p:cNvPicPr>
          <p:nvPr/>
        </p:nvPicPr>
        <p:blipFill>
          <a:blip r:embed="rId4"/>
          <a:stretch>
            <a:fillRect/>
          </a:stretch>
        </p:blipFill>
        <p:spPr>
          <a:xfrm>
            <a:off x="457199" y="3402684"/>
            <a:ext cx="5637213" cy="3180996"/>
          </a:xfrm>
          <a:prstGeom prst="rect">
            <a:avLst/>
          </a:prstGeom>
        </p:spPr>
      </p:pic>
      <p:pic>
        <p:nvPicPr>
          <p:cNvPr id="11" name="Picture 10">
            <a:extLst>
              <a:ext uri="{FF2B5EF4-FFF2-40B4-BE49-F238E27FC236}">
                <a16:creationId xmlns:a16="http://schemas.microsoft.com/office/drawing/2014/main" id="{3AB0E300-E846-0F6C-AED2-548F82B242A7}"/>
              </a:ext>
            </a:extLst>
          </p:cNvPr>
          <p:cNvPicPr>
            <a:picLocks noChangeAspect="1"/>
          </p:cNvPicPr>
          <p:nvPr/>
        </p:nvPicPr>
        <p:blipFill>
          <a:blip r:embed="rId5"/>
          <a:stretch>
            <a:fillRect/>
          </a:stretch>
        </p:blipFill>
        <p:spPr>
          <a:xfrm>
            <a:off x="6260001" y="1063622"/>
            <a:ext cx="5112546" cy="1849511"/>
          </a:xfrm>
          <a:prstGeom prst="rect">
            <a:avLst/>
          </a:prstGeom>
        </p:spPr>
      </p:pic>
      <p:sp>
        <p:nvSpPr>
          <p:cNvPr id="13" name="TextBox 12">
            <a:extLst>
              <a:ext uri="{FF2B5EF4-FFF2-40B4-BE49-F238E27FC236}">
                <a16:creationId xmlns:a16="http://schemas.microsoft.com/office/drawing/2014/main" id="{8240F9BD-71BB-3D40-614B-4D2607E39C7A}"/>
              </a:ext>
            </a:extLst>
          </p:cNvPr>
          <p:cNvSpPr txBox="1"/>
          <p:nvPr/>
        </p:nvSpPr>
        <p:spPr>
          <a:xfrm>
            <a:off x="6172200" y="2913133"/>
            <a:ext cx="6096000" cy="276999"/>
          </a:xfrm>
          <a:prstGeom prst="rect">
            <a:avLst/>
          </a:prstGeom>
          <a:noFill/>
        </p:spPr>
        <p:txBody>
          <a:bodyPr wrap="square">
            <a:spAutoFit/>
          </a:bodyPr>
          <a:lstStyle/>
          <a:p>
            <a:r>
              <a:rPr lang="en-US" sz="1200" i="1" dirty="0">
                <a:latin typeface="Cambria" panose="02040503050406030204" pitchFamily="18" charset="0"/>
                <a:ea typeface="Cambria" panose="02040503050406030204" pitchFamily="18" charset="0"/>
              </a:rPr>
              <a:t>Repeated-ID rows flagged for investigation; not all are confirmed duplicate parcels.</a:t>
            </a:r>
          </a:p>
        </p:txBody>
      </p:sp>
    </p:spTree>
    <p:extLst>
      <p:ext uri="{BB962C8B-B14F-4D97-AF65-F5344CB8AC3E}">
        <p14:creationId xmlns:p14="http://schemas.microsoft.com/office/powerpoint/2010/main" val="34205028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TotalTime>
  <Words>3295</Words>
  <Application>Microsoft Office PowerPoint</Application>
  <PresentationFormat>Custom</PresentationFormat>
  <Paragraphs>268</Paragraphs>
  <Slides>13</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Savaram Chiranjeevi Venkata Shiva Ruthvik</cp:lastModifiedBy>
  <cp:revision>3</cp:revision>
  <dcterms:created xsi:type="dcterms:W3CDTF">2026-10-21T03:54:49Z</dcterms:created>
  <dcterms:modified xsi:type="dcterms:W3CDTF">2026-10-21T04:23:47Z</dcterms:modified>
</cp:coreProperties>
</file>